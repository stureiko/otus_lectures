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3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24.jpg" ContentType="image/jpeg"/>
  <Override PartName="/ppt/notesSlides/notesSlide6.xml" ContentType="application/vnd.openxmlformats-officedocument.presentationml.notesSlide+xml"/>
  <Override PartName="/ppt/media/image25.jpg" ContentType="image/jpeg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317" r:id="rId3"/>
    <p:sldId id="259" r:id="rId4"/>
    <p:sldId id="404" r:id="rId5"/>
    <p:sldId id="474" r:id="rId6"/>
    <p:sldId id="260" r:id="rId7"/>
    <p:sldId id="261" r:id="rId8"/>
    <p:sldId id="313" r:id="rId9"/>
    <p:sldId id="314" r:id="rId10"/>
    <p:sldId id="301" r:id="rId11"/>
    <p:sldId id="315" r:id="rId12"/>
    <p:sldId id="316" r:id="rId13"/>
    <p:sldId id="304" r:id="rId14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30"/>
    <p:restoredTop sz="97030"/>
  </p:normalViewPr>
  <p:slideViewPr>
    <p:cSldViewPr>
      <p:cViewPr varScale="1">
        <p:scale>
          <a:sx n="297" d="100"/>
          <a:sy n="297" d="100"/>
        </p:scale>
        <p:origin x="904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D1C788-56A1-2E45-A024-5C42A74F7F0E}" type="datetimeFigureOut">
              <a:rPr lang="en-US" smtClean="0"/>
              <a:t>10/2/25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012F9F-468F-E040-8F6D-DB6B5D3707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438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de823becd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de823becd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05733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46904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01322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666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1634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9274" y="383031"/>
            <a:ext cx="385508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87699" y="1397762"/>
            <a:ext cx="1944370" cy="3142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FF9900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22787" y="1120140"/>
            <a:ext cx="1875790" cy="3541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19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ТИТУЛЬНЫЙ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73275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Белый слайд + заголовок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9578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680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48488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9247" y="4876800"/>
            <a:ext cx="1298448" cy="14630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9274" y="383031"/>
            <a:ext cx="4399915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61125" y="2344927"/>
            <a:ext cx="4507230" cy="2405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jp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8.jpe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igor-stureiko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ru-RU" dirty="0"/>
            </a:br>
            <a:r>
              <a:rPr lang="en-US" sz="3600" dirty="0"/>
              <a:t>Course project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7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Проверить, идет ли запись</a:t>
            </a:r>
            <a:endParaRPr sz="2100"/>
          </a:p>
        </p:txBody>
      </p:sp>
      <p:sp>
        <p:nvSpPr>
          <p:cNvPr id="196" name="Google Shape;196;p47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/>
              <a:t>Меня хорошо видно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&amp;&amp; слышно?</a:t>
            </a:r>
            <a:endParaRPr sz="4000"/>
          </a:p>
        </p:txBody>
      </p:sp>
      <p:pic>
        <p:nvPicPr>
          <p:cNvPr id="197" name="Google Shape;197;p47"/>
          <p:cNvPicPr preferRelativeResize="0"/>
          <p:nvPr/>
        </p:nvPicPr>
        <p:blipFill rotWithShape="1">
          <a:blip r:embed="rId3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47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"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200" b="1"/>
              <a:t>Правила вебинара</a:t>
            </a:r>
            <a:endParaRPr sz="3200" b="1"/>
          </a:p>
        </p:txBody>
      </p:sp>
      <p:pic>
        <p:nvPicPr>
          <p:cNvPr id="215" name="Google Shape;215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9512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281613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4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3061406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9"/>
          <p:cNvSpPr txBox="1"/>
          <p:nvPr/>
        </p:nvSpPr>
        <p:spPr>
          <a:xfrm>
            <a:off x="1654525" y="12522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9"/>
          <p:cNvSpPr txBox="1"/>
          <p:nvPr/>
        </p:nvSpPr>
        <p:spPr>
          <a:xfrm>
            <a:off x="1654525" y="306641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0" name="Google Shape;220;p49"/>
          <p:cNvSpPr txBox="1"/>
          <p:nvPr/>
        </p:nvSpPr>
        <p:spPr>
          <a:xfrm>
            <a:off x="1654525" y="39750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1" name="Google Shape;221;p49"/>
          <p:cNvSpPr txBox="1"/>
          <p:nvPr/>
        </p:nvSpPr>
        <p:spPr>
          <a:xfrm>
            <a:off x="1654525" y="2049300"/>
            <a:ext cx="24753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Off-topic обсуждаем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latin typeface="Roboto"/>
                <a:ea typeface="Roboto"/>
                <a:cs typeface="Roboto"/>
                <a:sym typeface="Roboto"/>
              </a:rPr>
              <a:t>в учебной группе </a:t>
            </a:r>
            <a:endParaRPr sz="1500" dirty="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2" name="Google Shape;222;p49"/>
          <p:cNvSpPr/>
          <p:nvPr/>
        </p:nvSpPr>
        <p:spPr>
          <a:xfrm>
            <a:off x="6046275" y="-8050"/>
            <a:ext cx="30975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49"/>
          <p:cNvSpPr txBox="1"/>
          <p:nvPr/>
        </p:nvSpPr>
        <p:spPr>
          <a:xfrm>
            <a:off x="6344063" y="1052963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4" name="Google Shape;224;p4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19120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9"/>
          <p:cNvSpPr txBox="1"/>
          <p:nvPr/>
        </p:nvSpPr>
        <p:spPr>
          <a:xfrm>
            <a:off x="6829363" y="18987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6" name="Google Shape;226;p4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392126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9"/>
          <p:cNvSpPr txBox="1"/>
          <p:nvPr/>
        </p:nvSpPr>
        <p:spPr>
          <a:xfrm>
            <a:off x="6829363" y="2291099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Время, необходимое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 активность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8" name="Google Shape;228;p4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2872220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9"/>
          <p:cNvSpPr txBox="1"/>
          <p:nvPr/>
        </p:nvSpPr>
        <p:spPr>
          <a:xfrm>
            <a:off x="6829363" y="2873300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Пишем в чат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0" name="Google Shape;230;p4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38593" y="3352314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/>
          <p:nvPr/>
        </p:nvSpPr>
        <p:spPr>
          <a:xfrm>
            <a:off x="6829363" y="3359347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Говорим голосом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2" name="Google Shape;232;p49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38593" y="38324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9"/>
          <p:cNvSpPr txBox="1"/>
          <p:nvPr/>
        </p:nvSpPr>
        <p:spPr>
          <a:xfrm>
            <a:off x="6829363" y="38275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4" name="Google Shape;234;p4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38593" y="43125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9"/>
          <p:cNvSpPr txBox="1"/>
          <p:nvPr/>
        </p:nvSpPr>
        <p:spPr>
          <a:xfrm>
            <a:off x="6829363" y="42230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7" name="Google Shape;237;p49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7650" y="2171500"/>
            <a:ext cx="692625" cy="69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</a:t>
            </a:r>
            <a:r>
              <a:rPr lang="ru-RU" dirty="0"/>
              <a:t>для финансового анализа</a:t>
            </a:r>
            <a:br>
              <a:rPr lang="en-US" dirty="0"/>
            </a:br>
            <a:r>
              <a:rPr lang="en-US" sz="2400" dirty="0"/>
              <a:t>Course project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ABBDF15B-866B-E64C-AF21-19F358C4E05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3082400" y="2701811"/>
            <a:ext cx="5095500" cy="21336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379538" indent="-1379538"/>
            <a:r>
              <a:rPr lang="ru-RU" sz="1150" b="1" dirty="0"/>
              <a:t>Руководитель курсов: </a:t>
            </a:r>
            <a:r>
              <a:rPr lang="en-US" sz="1150" b="1" dirty="0"/>
              <a:t>Reinforcement Learning</a:t>
            </a:r>
            <a:r>
              <a:rPr lang="ru-RU" sz="1150" b="1" dirty="0"/>
              <a:t>, </a:t>
            </a:r>
            <a:r>
              <a:rPr lang="en-US" sz="1150" b="1" dirty="0"/>
              <a:t>ML Professional, ML Basic</a:t>
            </a:r>
            <a:r>
              <a:rPr lang="ru-RU" sz="1150" b="1" dirty="0"/>
              <a:t>, </a:t>
            </a:r>
            <a:br>
              <a:rPr lang="en-US" sz="1150" b="1" dirty="0"/>
            </a:br>
            <a:r>
              <a:rPr lang="en-US" sz="1150" b="1" dirty="0" err="1"/>
              <a:t>MLOps</a:t>
            </a:r>
            <a:r>
              <a:rPr lang="en-US" sz="1150" b="1" dirty="0"/>
              <a:t>, </a:t>
            </a:r>
            <a:r>
              <a:rPr lang="en-US" sz="1150" b="1" dirty="0" err="1"/>
              <a:t>FinML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 err="1"/>
              <a:t>Teamlead</a:t>
            </a:r>
            <a:r>
              <a:rPr lang="ru-RU" sz="1150" b="1" dirty="0"/>
              <a:t>, главный инженер проекта</a:t>
            </a:r>
            <a:r>
              <a:rPr lang="en-US" sz="1150" b="1" dirty="0"/>
              <a:t>, 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b="1" dirty="0"/>
              <a:t>Физический факультет МГУ, </a:t>
            </a:r>
            <a:r>
              <a:rPr lang="en-US" sz="1150" b="1" dirty="0"/>
              <a:t>PhD </a:t>
            </a:r>
            <a:r>
              <a:rPr lang="ru-RU" sz="1150" b="1" dirty="0"/>
              <a:t>теоретическая физика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b="1" dirty="0"/>
              <a:t>Опыт: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50" dirty="0"/>
              <a:t>Б</a:t>
            </a:r>
            <a:r>
              <a:rPr lang="ru" sz="1150" dirty="0"/>
              <a:t>олее 20 лет занимался прикладной математикой и мат моделированием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50" dirty="0"/>
              <a:t>(Data Scientist) (Python, С++)</a:t>
            </a: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@</a:t>
            </a:r>
            <a:r>
              <a:rPr lang="en-US" sz="1150" b="1" dirty="0" err="1"/>
              <a:t>stureiko</a:t>
            </a:r>
            <a:r>
              <a:rPr lang="en-US" sz="1150" b="1" dirty="0"/>
              <a:t> (TG)</a:t>
            </a: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 dirty="0"/>
              <a:t>LinkedIn: </a:t>
            </a:r>
            <a:r>
              <a:rPr lang="en-US" sz="1150" dirty="0">
                <a:hlinkClick r:id="rId3"/>
              </a:rPr>
              <a:t>igor-stureiko</a:t>
            </a:r>
            <a:r>
              <a:rPr lang="en-US" sz="1150" dirty="0"/>
              <a:t>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/>
              <a:t>@</a:t>
            </a:r>
            <a:r>
              <a:rPr lang="en-US" sz="1200" b="1" dirty="0" err="1"/>
              <a:t>rl_fintech</a:t>
            </a:r>
            <a:r>
              <a:rPr lang="ru-RU" sz="1200" b="1" dirty="0"/>
              <a:t> </a:t>
            </a:r>
            <a:r>
              <a:rPr lang="ru-RU" sz="1200" dirty="0"/>
              <a:t>(Мой канал посвященный финансовым моделям)</a:t>
            </a:r>
            <a:endParaRPr sz="1200" dirty="0"/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5FB241E0-F341-2D41-BAEF-2356ACCC2AE6}"/>
              </a:ext>
            </a:extLst>
          </p:cNvPr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A28AFFA3-12F1-9041-95E0-BC0FB0458F12}"/>
                </a:ext>
              </a:extLst>
            </p:cNvPr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6">
              <a:extLst>
                <a:ext uri="{FF2B5EF4-FFF2-40B4-BE49-F238E27FC236}">
                  <a16:creationId xmlns:a16="http://schemas.microsoft.com/office/drawing/2014/main" id="{DD64BE99-88DD-9742-BA44-436464CD28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 dirty="0"/>
              <a:t>Карта курса</a:t>
            </a:r>
            <a:endParaRPr dirty="0"/>
          </a:p>
        </p:txBody>
      </p:sp>
      <p:sp>
        <p:nvSpPr>
          <p:cNvPr id="179" name="Google Shape;179;p34"/>
          <p:cNvSpPr/>
          <p:nvPr/>
        </p:nvSpPr>
        <p:spPr>
          <a:xfrm>
            <a:off x="3042000" y="769970"/>
            <a:ext cx="3193103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1.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Введение в финансовые рынки и машинное обучение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0" name="Google Shape;180;p34"/>
          <p:cNvSpPr/>
          <p:nvPr/>
        </p:nvSpPr>
        <p:spPr>
          <a:xfrm>
            <a:off x="65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2.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Технический анализ финансовых рынков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1" name="Google Shape;181;p34"/>
          <p:cNvSpPr/>
          <p:nvPr/>
        </p:nvSpPr>
        <p:spPr>
          <a:xfrm>
            <a:off x="5074342" y="2505600"/>
            <a:ext cx="3229663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4.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Моделирование и стратегии на финансовых рынках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182" name="Google Shape;182;p34"/>
          <p:cNvSpPr/>
          <p:nvPr/>
        </p:nvSpPr>
        <p:spPr>
          <a:xfrm>
            <a:off x="5244005" y="1664080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3.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Подготовка данных и признаковая инженерия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cxnSp>
        <p:nvCxnSpPr>
          <p:cNvPr id="183" name="Google Shape;183;p34"/>
          <p:cNvCxnSpPr>
            <a:cxnSpLocks/>
            <a:stCxn id="179" idx="1"/>
            <a:endCxn id="180" idx="0"/>
          </p:cNvCxnSpPr>
          <p:nvPr/>
        </p:nvCxnSpPr>
        <p:spPr>
          <a:xfrm rot="10800000" flipV="1">
            <a:off x="2184006" y="1059620"/>
            <a:ext cx="857995" cy="60446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5" name="Google Shape;185;p34"/>
          <p:cNvSpPr/>
          <p:nvPr/>
        </p:nvSpPr>
        <p:spPr>
          <a:xfrm>
            <a:off x="654005" y="2511737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5.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Глубокое обучение и практические аспекты</a:t>
            </a:r>
          </a:p>
        </p:txBody>
      </p:sp>
      <p:cxnSp>
        <p:nvCxnSpPr>
          <p:cNvPr id="186" name="Google Shape;186;p34"/>
          <p:cNvCxnSpPr>
            <a:cxnSpLocks/>
            <a:stCxn id="180" idx="3"/>
            <a:endCxn id="182" idx="1"/>
          </p:cNvCxnSpPr>
          <p:nvPr/>
        </p:nvCxnSpPr>
        <p:spPr>
          <a:xfrm>
            <a:off x="3714005" y="1953730"/>
            <a:ext cx="1530000" cy="12700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7" name="Google Shape;187;p34"/>
          <p:cNvCxnSpPr>
            <a:cxnSpLocks/>
            <a:stCxn id="182" idx="3"/>
            <a:endCxn id="181" idx="3"/>
          </p:cNvCxnSpPr>
          <p:nvPr/>
        </p:nvCxnSpPr>
        <p:spPr>
          <a:xfrm>
            <a:off x="8304005" y="1953730"/>
            <a:ext cx="12700" cy="841520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cxnSp>
        <p:nvCxnSpPr>
          <p:cNvPr id="188" name="Google Shape;188;p34"/>
          <p:cNvCxnSpPr>
            <a:cxnSpLocks/>
            <a:stCxn id="181" idx="1"/>
            <a:endCxn id="185" idx="3"/>
          </p:cNvCxnSpPr>
          <p:nvPr/>
        </p:nvCxnSpPr>
        <p:spPr>
          <a:xfrm rot="10800000" flipV="1">
            <a:off x="3714006" y="2795249"/>
            <a:ext cx="1360337" cy="6137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</p:cxnSp>
      <p:sp>
        <p:nvSpPr>
          <p:cNvPr id="189" name="Google Shape;189;p34"/>
          <p:cNvSpPr/>
          <p:nvPr/>
        </p:nvSpPr>
        <p:spPr>
          <a:xfrm>
            <a:off x="654005" y="3365815"/>
            <a:ext cx="3060000" cy="5793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/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6. </a:t>
            </a:r>
            <a:r>
              <a:rPr lang="ru-RU" sz="1050" dirty="0">
                <a:solidFill>
                  <a:srgbClr val="1F1F1F"/>
                </a:solidFill>
                <a:latin typeface="+mn-lt"/>
                <a:sym typeface="Roboto"/>
              </a:rPr>
              <a:t>Сложные модели торгового агента и перенос обучения в </a:t>
            </a:r>
            <a:r>
              <a:rPr lang="en-US" sz="1050" dirty="0">
                <a:solidFill>
                  <a:srgbClr val="1F1F1F"/>
                </a:solidFill>
                <a:latin typeface="+mn-lt"/>
                <a:sym typeface="Roboto"/>
              </a:rPr>
              <a:t>production</a:t>
            </a:r>
            <a:endParaRPr sz="1050" dirty="0">
              <a:solidFill>
                <a:srgbClr val="1F1F1F"/>
              </a:solidFill>
              <a:latin typeface="+mn-lt"/>
              <a:sym typeface="Roboto"/>
            </a:endParaRPr>
          </a:p>
        </p:txBody>
      </p:sp>
      <p:sp>
        <p:nvSpPr>
          <p:cNvPr id="34" name="Google Shape;189;p34">
            <a:extLst>
              <a:ext uri="{FF2B5EF4-FFF2-40B4-BE49-F238E27FC236}">
                <a16:creationId xmlns:a16="http://schemas.microsoft.com/office/drawing/2014/main" id="{1205F190-94C2-4A4C-B9ED-91A1F73E4D34}"/>
              </a:ext>
            </a:extLst>
          </p:cNvPr>
          <p:cNvSpPr/>
          <p:nvPr/>
        </p:nvSpPr>
        <p:spPr>
          <a:xfrm>
            <a:off x="3042000" y="4234765"/>
            <a:ext cx="3060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432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7. </a:t>
            </a:r>
            <a:r>
              <a:rPr lang="ru-RU" sz="105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Финальный проект и практическое применение</a:t>
            </a:r>
            <a:endParaRPr sz="1050" b="0" i="0" u="none" strike="noStrike" cap="none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cxnSp>
        <p:nvCxnSpPr>
          <p:cNvPr id="35" name="Google Shape;188;p34">
            <a:extLst>
              <a:ext uri="{FF2B5EF4-FFF2-40B4-BE49-F238E27FC236}">
                <a16:creationId xmlns:a16="http://schemas.microsoft.com/office/drawing/2014/main" id="{EB8517B5-119A-7442-825D-C15261576413}"/>
              </a:ext>
            </a:extLst>
          </p:cNvPr>
          <p:cNvCxnSpPr>
            <a:cxnSpLocks/>
            <a:stCxn id="189" idx="1"/>
            <a:endCxn id="185" idx="1"/>
          </p:cNvCxnSpPr>
          <p:nvPr/>
        </p:nvCxnSpPr>
        <p:spPr>
          <a:xfrm rot="10800000">
            <a:off x="654005" y="2801387"/>
            <a:ext cx="12700" cy="854078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cxnSp>
        <p:nvCxnSpPr>
          <p:cNvPr id="38" name="Google Shape;188;p34">
            <a:extLst>
              <a:ext uri="{FF2B5EF4-FFF2-40B4-BE49-F238E27FC236}">
                <a16:creationId xmlns:a16="http://schemas.microsoft.com/office/drawing/2014/main" id="{F7B38074-28CA-DC44-8191-7A278B3DB050}"/>
              </a:ext>
            </a:extLst>
          </p:cNvPr>
          <p:cNvCxnSpPr>
            <a:cxnSpLocks/>
            <a:stCxn id="34" idx="0"/>
            <a:endCxn id="189" idx="3"/>
          </p:cNvCxnSpPr>
          <p:nvPr/>
        </p:nvCxnSpPr>
        <p:spPr>
          <a:xfrm rot="16200000" flipV="1">
            <a:off x="3853353" y="3516117"/>
            <a:ext cx="579300" cy="857995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arrow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D6F8E5B-8E72-9642-AA4C-A3D19C97E5E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5120894" y="1338234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0447CBAF-C51E-AF4A-9C35-3B92661ED5B4}"/>
              </a:ext>
            </a:extLst>
          </p:cNvPr>
          <p:cNvSpPr txBox="1"/>
          <p:nvPr/>
        </p:nvSpPr>
        <p:spPr>
          <a:xfrm>
            <a:off x="5367116" y="1338235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1A85A128-207E-674E-8856-DD7B530737C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95778" y="2238233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55E1EFF6-15B2-384F-BCB0-C1C52F4D548B}"/>
              </a:ext>
            </a:extLst>
          </p:cNvPr>
          <p:cNvSpPr txBox="1"/>
          <p:nvPr/>
        </p:nvSpPr>
        <p:spPr>
          <a:xfrm>
            <a:off x="3042000" y="2238234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0" name="Google Shape;530;p82">
            <a:extLst>
              <a:ext uri="{FF2B5EF4-FFF2-40B4-BE49-F238E27FC236}">
                <a16:creationId xmlns:a16="http://schemas.microsoft.com/office/drawing/2014/main" id="{5CFAE274-29AE-C64A-BF63-F1789CC1D217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2232180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495D51D4-1014-904E-B98B-1180866B6EA9}"/>
              </a:ext>
            </a:extLst>
          </p:cNvPr>
          <p:cNvSpPr txBox="1"/>
          <p:nvPr/>
        </p:nvSpPr>
        <p:spPr>
          <a:xfrm>
            <a:off x="7555206" y="2232181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3" name="Google Shape;530;p82">
            <a:extLst>
              <a:ext uri="{FF2B5EF4-FFF2-40B4-BE49-F238E27FC236}">
                <a16:creationId xmlns:a16="http://schemas.microsoft.com/office/drawing/2014/main" id="{6016A700-1ED8-3F49-9B85-B41B9D0E7D4E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308984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DB3247B-A3F0-8046-BAAC-3C02B58CC273}"/>
              </a:ext>
            </a:extLst>
          </p:cNvPr>
          <p:cNvSpPr txBox="1"/>
          <p:nvPr/>
        </p:nvSpPr>
        <p:spPr>
          <a:xfrm>
            <a:off x="7555206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5" name="Google Shape;530;p82">
            <a:extLst>
              <a:ext uri="{FF2B5EF4-FFF2-40B4-BE49-F238E27FC236}">
                <a16:creationId xmlns:a16="http://schemas.microsoft.com/office/drawing/2014/main" id="{4772A2BC-247A-A74E-9DD6-82B153D02F21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091037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1D7CD912-58CB-7049-A55E-A067EF213E43}"/>
              </a:ext>
            </a:extLst>
          </p:cNvPr>
          <p:cNvSpPr txBox="1"/>
          <p:nvPr/>
        </p:nvSpPr>
        <p:spPr>
          <a:xfrm>
            <a:off x="2993635" y="3091038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47" name="Google Shape;530;p82">
            <a:extLst>
              <a:ext uri="{FF2B5EF4-FFF2-40B4-BE49-F238E27FC236}">
                <a16:creationId xmlns:a16="http://schemas.microsoft.com/office/drawing/2014/main" id="{C44CB1B9-3F0C-B640-9B91-7E329BDB5ABD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747413" y="3945115"/>
            <a:ext cx="246222" cy="24622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6F2CEF8E-768B-2A42-AE60-B91443CA1636}"/>
              </a:ext>
            </a:extLst>
          </p:cNvPr>
          <p:cNvSpPr txBox="1"/>
          <p:nvPr/>
        </p:nvSpPr>
        <p:spPr>
          <a:xfrm>
            <a:off x="2993635" y="3945116"/>
            <a:ext cx="7649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pple Chancery" panose="03020702040506060504" pitchFamily="66" charset="-79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</p:txBody>
      </p:sp>
      <p:pic>
        <p:nvPicPr>
          <p:cNvPr id="51" name="Google Shape;225;p40">
            <a:extLst>
              <a:ext uri="{FF2B5EF4-FFF2-40B4-BE49-F238E27FC236}">
                <a16:creationId xmlns:a16="http://schemas.microsoft.com/office/drawing/2014/main" id="{144C3652-C501-1346-B7AB-83586BA2F636}"/>
              </a:ext>
            </a:extLst>
          </p:cNvPr>
          <p:cNvPicPr preferRelativeResize="0"/>
          <p:nvPr/>
        </p:nvPicPr>
        <p:blipFill>
          <a:blip r:embed="rId4"/>
          <a:srcRect l="18187" r="18187"/>
          <a:stretch/>
        </p:blipFill>
        <p:spPr>
          <a:xfrm>
            <a:off x="3165384" y="878379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" name="Google Shape;225;p40">
            <a:extLst>
              <a:ext uri="{FF2B5EF4-FFF2-40B4-BE49-F238E27FC236}">
                <a16:creationId xmlns:a16="http://schemas.microsoft.com/office/drawing/2014/main" id="{2E53F201-6B1A-E248-8C85-AE31C0183E3A}"/>
              </a:ext>
            </a:extLst>
          </p:cNvPr>
          <p:cNvPicPr preferRelativeResize="0"/>
          <p:nvPr/>
        </p:nvPicPr>
        <p:blipFill>
          <a:blip r:embed="rId5"/>
          <a:srcRect t="2849" b="2849"/>
          <a:stretch/>
        </p:blipFill>
        <p:spPr>
          <a:xfrm>
            <a:off x="761508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" name="Google Shape;225;p40">
            <a:extLst>
              <a:ext uri="{FF2B5EF4-FFF2-40B4-BE49-F238E27FC236}">
                <a16:creationId xmlns:a16="http://schemas.microsoft.com/office/drawing/2014/main" id="{67D6B569-9B1F-6D43-841D-442FF92691E3}"/>
              </a:ext>
            </a:extLst>
          </p:cNvPr>
          <p:cNvPicPr preferRelativeResize="0"/>
          <p:nvPr/>
        </p:nvPicPr>
        <p:blipFill>
          <a:blip r:embed="rId6"/>
          <a:srcRect t="2849" b="2849"/>
          <a:stretch/>
        </p:blipFill>
        <p:spPr>
          <a:xfrm>
            <a:off x="5379110" y="177069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4" name="Google Shape;225;p40">
            <a:extLst>
              <a:ext uri="{FF2B5EF4-FFF2-40B4-BE49-F238E27FC236}">
                <a16:creationId xmlns:a16="http://schemas.microsoft.com/office/drawing/2014/main" id="{9503C9EF-9A4D-F741-957E-D9787DBAAD39}"/>
              </a:ext>
            </a:extLst>
          </p:cNvPr>
          <p:cNvPicPr preferRelativeResize="0"/>
          <p:nvPr/>
        </p:nvPicPr>
        <p:blipFill>
          <a:blip r:embed="rId7"/>
          <a:srcRect t="2849" b="2849"/>
          <a:stretch/>
        </p:blipFill>
        <p:spPr>
          <a:xfrm>
            <a:off x="5169145" y="2616086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6" name="Google Shape;225;p40">
            <a:extLst>
              <a:ext uri="{FF2B5EF4-FFF2-40B4-BE49-F238E27FC236}">
                <a16:creationId xmlns:a16="http://schemas.microsoft.com/office/drawing/2014/main" id="{961AE516-CE39-C146-B04E-6F9CCFC749A3}"/>
              </a:ext>
            </a:extLst>
          </p:cNvPr>
          <p:cNvPicPr preferRelativeResize="0"/>
          <p:nvPr/>
        </p:nvPicPr>
        <p:blipFill>
          <a:blip r:embed="rId8"/>
          <a:srcRect t="2849" b="2849"/>
          <a:stretch/>
        </p:blipFill>
        <p:spPr>
          <a:xfrm>
            <a:off x="787457" y="343670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7" name="Google Shape;225;p40">
            <a:extLst>
              <a:ext uri="{FF2B5EF4-FFF2-40B4-BE49-F238E27FC236}">
                <a16:creationId xmlns:a16="http://schemas.microsoft.com/office/drawing/2014/main" id="{AF4E17D5-3459-B545-8950-6FD1DC61D95F}"/>
              </a:ext>
            </a:extLst>
          </p:cNvPr>
          <p:cNvPicPr preferRelativeResize="0"/>
          <p:nvPr/>
        </p:nvPicPr>
        <p:blipFill>
          <a:blip r:embed="rId9"/>
          <a:srcRect t="2849" b="2849"/>
          <a:stretch/>
        </p:blipFill>
        <p:spPr>
          <a:xfrm>
            <a:off x="787457" y="1770693"/>
            <a:ext cx="419930" cy="396001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8" name="Google Shape;225;p40">
            <a:extLst>
              <a:ext uri="{FF2B5EF4-FFF2-40B4-BE49-F238E27FC236}">
                <a16:creationId xmlns:a16="http://schemas.microsoft.com/office/drawing/2014/main" id="{5D9B9C18-2AFF-6F45-91A9-E24FAB89A0AE}"/>
              </a:ext>
            </a:extLst>
          </p:cNvPr>
          <p:cNvPicPr preferRelativeResize="0"/>
          <p:nvPr/>
        </p:nvPicPr>
        <p:blipFill>
          <a:blip r:embed="rId10"/>
          <a:srcRect t="2849" b="2849"/>
          <a:stretch/>
        </p:blipFill>
        <p:spPr>
          <a:xfrm>
            <a:off x="3165384" y="4326414"/>
            <a:ext cx="419930" cy="396001"/>
          </a:xfrm>
          <a:prstGeom prst="ellipse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5720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50" y="1521159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такое курсовая работа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50" y="2066557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 выбрать тему проекта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50" y="2611955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Расписание</a:t>
            </a:r>
            <a:endParaRPr sz="15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50" y="3157353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Рекомендации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" name="Google Shape;288;p65">
            <a:extLst>
              <a:ext uri="{FF2B5EF4-FFF2-40B4-BE49-F238E27FC236}">
                <a16:creationId xmlns:a16="http://schemas.microsoft.com/office/drawing/2014/main" id="{E70A6281-3704-B54B-BD03-7CD165FF9994}"/>
              </a:ext>
            </a:extLst>
          </p:cNvPr>
          <p:cNvSpPr/>
          <p:nvPr/>
        </p:nvSpPr>
        <p:spPr>
          <a:xfrm>
            <a:off x="680150" y="4248150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Пожелания и напутствие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288;p65">
            <a:extLst>
              <a:ext uri="{FF2B5EF4-FFF2-40B4-BE49-F238E27FC236}">
                <a16:creationId xmlns:a16="http://schemas.microsoft.com/office/drawing/2014/main" id="{BE39A353-0113-CB40-A790-4710AD049C32}"/>
              </a:ext>
            </a:extLst>
          </p:cNvPr>
          <p:cNvSpPr/>
          <p:nvPr/>
        </p:nvSpPr>
        <p:spPr>
          <a:xfrm>
            <a:off x="680150" y="3702751"/>
            <a:ext cx="33849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Защита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9CA1A-DD74-9F4E-8CE8-F20F5098D2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5800" y="1809750"/>
            <a:ext cx="4238012" cy="25428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Проектная работа – это просто еще одно ДЗ, просто немного большего объема;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-RU" sz="1800" dirty="0">
                <a:solidFill>
                  <a:srgbClr val="1E1F21"/>
                </a:solidFill>
              </a:rPr>
              <a:t>В рамках этапа «Проектная работа» можно и нужно </a:t>
            </a:r>
            <a:r>
              <a:rPr lang="ru-RU" sz="1800" dirty="0" err="1">
                <a:solidFill>
                  <a:srgbClr val="1E1F21"/>
                </a:solidFill>
              </a:rPr>
              <a:t>досдавать</a:t>
            </a:r>
            <a:r>
              <a:rPr lang="ru-RU" sz="1800" dirty="0">
                <a:solidFill>
                  <a:srgbClr val="1E1F21"/>
                </a:solidFill>
              </a:rPr>
              <a:t> ДЗ курса;</a:t>
            </a:r>
            <a:endParaRPr sz="180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  <a:buChar char="●"/>
            </a:pPr>
            <a:r>
              <a:rPr lang="ru" sz="1800" dirty="0">
                <a:solidFill>
                  <a:srgbClr val="1E1F21"/>
                </a:solidFill>
              </a:rPr>
              <a:t>Выполненный проект может дополнить ваше портфолио.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Проектная работа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492367" y="127393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r>
              <a:rPr lang="ru" sz="1800" dirty="0">
                <a:solidFill>
                  <a:srgbClr val="1E1F21"/>
                </a:solidFill>
              </a:rPr>
              <a:t>Взять проект на работе;</a:t>
            </a: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sz="1800" dirty="0">
              <a:solidFill>
                <a:srgbClr val="1E1F21"/>
              </a:solidFill>
            </a:endParaRPr>
          </a:p>
          <a:p>
            <a:pPr marL="114300" lvl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r>
              <a:rPr lang="ru-RU" sz="1800" dirty="0">
                <a:solidFill>
                  <a:srgbClr val="1E1F21"/>
                </a:solidFill>
              </a:rPr>
              <a:t>Собственный домашний проект;</a:t>
            </a:r>
            <a:endParaRPr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endParaRPr lang="en-US" sz="1800" dirty="0">
              <a:solidFill>
                <a:srgbClr val="1E1F21"/>
              </a:solidFill>
            </a:endParaRPr>
          </a:p>
          <a:p>
            <a:pPr marL="114300"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rgbClr val="FF7700"/>
              </a:buClr>
              <a:buSzPts val="1800"/>
            </a:pPr>
            <a:r>
              <a:rPr lang="ru-RU" sz="1800" dirty="0">
                <a:solidFill>
                  <a:srgbClr val="1E1F21"/>
                </a:solidFill>
              </a:rPr>
              <a:t>Взять </a:t>
            </a:r>
            <a:r>
              <a:rPr lang="ru" sz="1800" dirty="0">
                <a:solidFill>
                  <a:srgbClr val="1E1F21"/>
                </a:solidFill>
              </a:rPr>
              <a:t>интересный вам проект </a:t>
            </a:r>
            <a:br>
              <a:rPr lang="en-US" sz="1800" dirty="0">
                <a:solidFill>
                  <a:srgbClr val="1E1F21"/>
                </a:solidFill>
              </a:rPr>
            </a:br>
            <a:r>
              <a:rPr lang="ru" sz="1800" dirty="0">
                <a:solidFill>
                  <a:srgbClr val="1E1F21"/>
                </a:solidFill>
              </a:rPr>
              <a:t>с </a:t>
            </a:r>
            <a:r>
              <a:rPr lang="en-US" sz="1800" dirty="0">
                <a:solidFill>
                  <a:srgbClr val="1E1F21"/>
                </a:solidFill>
                <a:hlinkClick r:id="rId3"/>
              </a:rPr>
              <a:t>https://www.kaggle.com</a:t>
            </a:r>
            <a:r>
              <a:rPr lang="ru" sz="1800" dirty="0">
                <a:solidFill>
                  <a:srgbClr val="1E1F21"/>
                </a:solidFill>
              </a:rPr>
              <a:t>.</a:t>
            </a:r>
            <a:endParaRPr sz="180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Как выбрать тему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4AD93-E7B9-8048-B3D1-0E5F2356AD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089" y="1027296"/>
            <a:ext cx="2316681" cy="1544454"/>
          </a:xfrm>
          <a:prstGeom prst="rect">
            <a:avLst/>
          </a:prstGeom>
        </p:spPr>
      </p:pic>
      <p:pic>
        <p:nvPicPr>
          <p:cNvPr id="1026" name="Picture 2" descr="How to find data science talent on Kaggle">
            <a:extLst>
              <a:ext uri="{FF2B5EF4-FFF2-40B4-BE49-F238E27FC236}">
                <a16:creationId xmlns:a16="http://schemas.microsoft.com/office/drawing/2014/main" id="{4548062E-BE80-8D45-AD3F-2D149240E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2127" y="3333750"/>
            <a:ext cx="2486025" cy="165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Beginner's Python Financial Analysis Walk-through— Part 1 | by Keith Chan |  Analytics Vidhya | Medium">
            <a:extLst>
              <a:ext uri="{FF2B5EF4-FFF2-40B4-BE49-F238E27FC236}">
                <a16:creationId xmlns:a16="http://schemas.microsoft.com/office/drawing/2014/main" id="{EADC1BD0-2E07-034B-AFDC-CD035D082B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57349"/>
            <a:ext cx="2699403" cy="162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511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03793" y="1200150"/>
            <a:ext cx="7723800" cy="36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Сбор данных;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Очистка и предобработка данных;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Технический анализ;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Обратное тестирование;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Обогащение модели - ансамбль;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Результаты итогового ансамбля;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Формат сдачи – презентация</a:t>
            </a:r>
            <a:r>
              <a:rPr lang="en-US" sz="1400" b="0" dirty="0">
                <a:solidFill>
                  <a:srgbClr val="1E1F21"/>
                </a:solidFill>
              </a:rPr>
              <a:t>;</a:t>
            </a:r>
            <a:br>
              <a:rPr lang="en-US" sz="1400" b="0" dirty="0">
                <a:solidFill>
                  <a:srgbClr val="1E1F21"/>
                </a:solidFill>
              </a:rPr>
            </a:br>
            <a:r>
              <a:rPr lang="ru-RU" sz="1400" b="0" dirty="0">
                <a:solidFill>
                  <a:srgbClr val="1E1F21"/>
                </a:solidFill>
              </a:rPr>
              <a:t>ссылка на </a:t>
            </a:r>
            <a:r>
              <a:rPr lang="en-US" sz="1400" b="0" dirty="0">
                <a:solidFill>
                  <a:srgbClr val="1E1F21"/>
                </a:solidFill>
              </a:rPr>
              <a:t>git </a:t>
            </a:r>
            <a:r>
              <a:rPr lang="ru-RU" sz="1400" b="0" dirty="0">
                <a:solidFill>
                  <a:srgbClr val="1E1F21"/>
                </a:solidFill>
              </a:rPr>
              <a:t>репозиторий – опционально.</a:t>
            </a:r>
            <a:endParaRPr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Стандартный проект – торговый робот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316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/>
              <a:t>Программа</a:t>
            </a:r>
            <a:endParaRPr lang="ru-RU" spc="-10"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0" y="3140594"/>
            <a:ext cx="3051175" cy="175244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233720" y="1780267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</a:t>
            </a:r>
            <a:r>
              <a:rPr lang="en-US" sz="1400" dirty="0">
                <a:latin typeface="Calibri"/>
                <a:cs typeface="Calibri"/>
              </a:rPr>
              <a:t>0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3" name="object 22">
            <a:extLst>
              <a:ext uri="{FF2B5EF4-FFF2-40B4-BE49-F238E27FC236}">
                <a16:creationId xmlns:a16="http://schemas.microsoft.com/office/drawing/2014/main" id="{6D51FBD1-EE22-BB4C-B22B-62B217530E17}"/>
              </a:ext>
            </a:extLst>
          </p:cNvPr>
          <p:cNvSpPr txBox="1"/>
          <p:nvPr/>
        </p:nvSpPr>
        <p:spPr>
          <a:xfrm>
            <a:off x="1233720" y="3943986"/>
            <a:ext cx="5264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dirty="0">
                <a:latin typeface="Calibri"/>
                <a:cs typeface="Calibri"/>
              </a:rPr>
              <a:t>02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lang="ru-RU" sz="1400" dirty="0">
                <a:latin typeface="Calibri"/>
                <a:cs typeface="Calibri"/>
              </a:rPr>
              <a:t>12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50" dirty="0">
                <a:latin typeface="Calibri"/>
                <a:cs typeface="Calibri"/>
              </a:rPr>
              <a:t>-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7915779-E234-3C4D-BA4F-EE25401C044E}"/>
              </a:ext>
            </a:extLst>
          </p:cNvPr>
          <p:cNvSpPr/>
          <p:nvPr/>
        </p:nvSpPr>
        <p:spPr>
          <a:xfrm>
            <a:off x="579274" y="1051909"/>
            <a:ext cx="2613025" cy="57975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Курсовой проект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3799" y="1160272"/>
            <a:ext cx="419929" cy="396000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DFC3E53-6FFD-6D45-903D-08C54E65F5DB}"/>
              </a:ext>
            </a:extLst>
          </p:cNvPr>
          <p:cNvSpPr/>
          <p:nvPr/>
        </p:nvSpPr>
        <p:spPr>
          <a:xfrm>
            <a:off x="2225090" y="3860000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Завершение курса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A6298207-2573-9240-B60B-F5E23F446C25}"/>
              </a:ext>
            </a:extLst>
          </p:cNvPr>
          <p:cNvSpPr/>
          <p:nvPr/>
        </p:nvSpPr>
        <p:spPr>
          <a:xfrm>
            <a:off x="2225087" y="3140594"/>
            <a:ext cx="305117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Защита проектных работ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12C9734-FC8F-C24C-940E-4BD2B5FA68F3}"/>
              </a:ext>
            </a:extLst>
          </p:cNvPr>
          <p:cNvSpPr/>
          <p:nvPr/>
        </p:nvSpPr>
        <p:spPr>
          <a:xfrm>
            <a:off x="2225089" y="1701782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Планирование и разработка проекта</a:t>
            </a:r>
          </a:p>
        </p:txBody>
      </p:sp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63630A9D-7233-354A-9488-10021EC04EFB}"/>
              </a:ext>
            </a:extLst>
          </p:cNvPr>
          <p:cNvCxnSpPr>
            <a:stCxn id="14" idx="2"/>
            <a:endCxn id="27" idx="1"/>
          </p:cNvCxnSpPr>
          <p:nvPr/>
        </p:nvCxnSpPr>
        <p:spPr>
          <a:xfrm rot="16200000" flipH="1">
            <a:off x="1921319" y="1596132"/>
            <a:ext cx="268238" cy="3393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>
            <a:extLst>
              <a:ext uri="{FF2B5EF4-FFF2-40B4-BE49-F238E27FC236}">
                <a16:creationId xmlns:a16="http://schemas.microsoft.com/office/drawing/2014/main" id="{0DED9A16-3DDE-E148-A5A8-8B84FD095158}"/>
              </a:ext>
            </a:extLst>
          </p:cNvPr>
          <p:cNvCxnSpPr>
            <a:cxnSpLocks/>
            <a:stCxn id="14" idx="2"/>
            <a:endCxn id="25" idx="1"/>
          </p:cNvCxnSpPr>
          <p:nvPr/>
        </p:nvCxnSpPr>
        <p:spPr>
          <a:xfrm rot="16200000" flipH="1">
            <a:off x="1201912" y="2315539"/>
            <a:ext cx="1707050" cy="33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29D8802E-3943-C54F-8F3F-8B24A3DD8DE1}"/>
              </a:ext>
            </a:extLst>
          </p:cNvPr>
          <p:cNvCxnSpPr>
            <a:cxnSpLocks/>
            <a:stCxn id="14" idx="2"/>
            <a:endCxn id="15" idx="1"/>
          </p:cNvCxnSpPr>
          <p:nvPr/>
        </p:nvCxnSpPr>
        <p:spPr>
          <a:xfrm rot="16200000" flipH="1">
            <a:off x="842210" y="2675240"/>
            <a:ext cx="2426456" cy="33930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ECA9C855-8405-1042-A7A3-03DDDAF8EC9D}"/>
              </a:ext>
            </a:extLst>
          </p:cNvPr>
          <p:cNvSpPr/>
          <p:nvPr/>
        </p:nvSpPr>
        <p:spPr>
          <a:xfrm>
            <a:off x="2225087" y="2421188"/>
            <a:ext cx="5356225" cy="396240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ru-RU" sz="1400" dirty="0">
                <a:solidFill>
                  <a:schemeClr val="tx1"/>
                </a:solidFill>
              </a:rPr>
              <a:t>Консультация - Оценка результатов и практическое внедрение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48D2B90B-95B9-2D45-9468-A9C29C9DE3B3}"/>
              </a:ext>
            </a:extLst>
          </p:cNvPr>
          <p:cNvCxnSpPr>
            <a:cxnSpLocks/>
            <a:stCxn id="14" idx="2"/>
            <a:endCxn id="30" idx="1"/>
          </p:cNvCxnSpPr>
          <p:nvPr/>
        </p:nvCxnSpPr>
        <p:spPr>
          <a:xfrm rot="16200000" flipH="1">
            <a:off x="1561615" y="1955836"/>
            <a:ext cx="987644" cy="33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bject 20">
            <a:extLst>
              <a:ext uri="{FF2B5EF4-FFF2-40B4-BE49-F238E27FC236}">
                <a16:creationId xmlns:a16="http://schemas.microsoft.com/office/drawing/2014/main" id="{553DAF47-5CB3-5746-BEF8-F576501F4A23}"/>
              </a:ext>
            </a:extLst>
          </p:cNvPr>
          <p:cNvSpPr txBox="1"/>
          <p:nvPr/>
        </p:nvSpPr>
        <p:spPr>
          <a:xfrm>
            <a:off x="1233717" y="2485188"/>
            <a:ext cx="652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11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11</a:t>
            </a:r>
            <a:r>
              <a:rPr sz="1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lang="ru-RU" sz="1400" b="1" spc="-50" dirty="0">
                <a:solidFill>
                  <a:srgbClr val="FF0000"/>
                </a:solidFill>
                <a:latin typeface="Calibri"/>
                <a:cs typeface="Calibri"/>
              </a:rPr>
              <a:t> ?</a:t>
            </a:r>
            <a:endParaRPr sz="14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84A34ED1-CCAE-B34E-9C32-8CF19829437D}"/>
              </a:ext>
            </a:extLst>
          </p:cNvPr>
          <p:cNvSpPr txBox="1"/>
          <p:nvPr/>
        </p:nvSpPr>
        <p:spPr>
          <a:xfrm>
            <a:off x="1233717" y="3204594"/>
            <a:ext cx="652066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rgbClr val="FF0000"/>
                </a:solidFill>
                <a:latin typeface="Calibri"/>
                <a:cs typeface="Calibri"/>
              </a:rPr>
              <a:t>2</a:t>
            </a: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5</a:t>
            </a:r>
            <a:r>
              <a:rPr sz="1400" b="1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lang="ru-RU" sz="1400" b="1" dirty="0">
                <a:solidFill>
                  <a:srgbClr val="FF0000"/>
                </a:solidFill>
                <a:latin typeface="Calibri"/>
                <a:cs typeface="Calibri"/>
              </a:rPr>
              <a:t>11</a:t>
            </a:r>
            <a:r>
              <a:rPr sz="14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b="1" spc="-50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lang="ru-RU" sz="1400" b="1" spc="-50" dirty="0">
                <a:solidFill>
                  <a:srgbClr val="FF0000"/>
                </a:solidFill>
                <a:latin typeface="Calibri"/>
                <a:cs typeface="Calibri"/>
              </a:rPr>
              <a:t> ?</a:t>
            </a:r>
            <a:endParaRPr sz="14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Постановка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задачи;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Сбор, очистка и предобработка данных;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Предварительная оценка идеи (для торгового робота – технический анализ);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Ансамбль – архитектура, модели;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Полученные результаты;</a:t>
            </a:r>
            <a:endParaRPr lang="en-US" sz="1400" b="0" dirty="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Что планировалось на этапе выбора проекта и что получилось. Причины отклонений.</a:t>
            </a: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Защита проекта - презентация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8050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34597" y="1504950"/>
            <a:ext cx="77238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Используйте облачные технологии – даже бесплатный </a:t>
            </a:r>
            <a:r>
              <a:rPr lang="en-US" sz="1400" b="0" dirty="0">
                <a:solidFill>
                  <a:srgbClr val="1E1F21"/>
                </a:solidFill>
              </a:rPr>
              <a:t>google </a:t>
            </a:r>
            <a:r>
              <a:rPr lang="en-US" sz="1400" b="0" dirty="0" err="1">
                <a:solidFill>
                  <a:srgbClr val="1E1F21"/>
                </a:solidFill>
              </a:rPr>
              <a:t>colab</a:t>
            </a:r>
            <a:r>
              <a:rPr lang="en-US" sz="1400" b="0" dirty="0">
                <a:solidFill>
                  <a:srgbClr val="1E1F21"/>
                </a:solidFill>
              </a:rPr>
              <a:t> </a:t>
            </a:r>
            <a:r>
              <a:rPr lang="ru-RU" sz="1400" b="0" dirty="0">
                <a:solidFill>
                  <a:srgbClr val="1E1F21"/>
                </a:solidFill>
              </a:rPr>
              <a:t>позволяет учить модели эффективнее, чем личный ноутбук.</a:t>
            </a:r>
          </a:p>
          <a:p>
            <a:pPr marL="457200" indent="-342900" algn="l" rtl="0">
              <a:lnSpc>
                <a:spcPct val="115000"/>
              </a:lnSpc>
              <a:spcAft>
                <a:spcPts val="600"/>
              </a:spcAft>
              <a:buClr>
                <a:srgbClr val="FF7700"/>
              </a:buClr>
              <a:buSzPts val="1800"/>
              <a:buFontTx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Помните про </a:t>
            </a:r>
            <a:r>
              <a:rPr lang="en-US" sz="1400" b="0" dirty="0">
                <a:solidFill>
                  <a:srgbClr val="1E1F21"/>
                </a:solidFill>
              </a:rPr>
              <a:t>AGILE. </a:t>
            </a:r>
            <a:r>
              <a:rPr lang="ru-RU" sz="1400" b="0" dirty="0">
                <a:solidFill>
                  <a:srgbClr val="1E1F21"/>
                </a:solidFill>
              </a:rPr>
              <a:t>Начните с </a:t>
            </a:r>
            <a:r>
              <a:rPr lang="en-US" sz="1400" b="0" dirty="0">
                <a:solidFill>
                  <a:srgbClr val="1E1F21"/>
                </a:solidFill>
              </a:rPr>
              <a:t>MVP </a:t>
            </a:r>
            <a:r>
              <a:rPr lang="ru-RU" sz="1400" b="0" dirty="0">
                <a:solidFill>
                  <a:srgbClr val="1E1F21"/>
                </a:solidFill>
              </a:rPr>
              <a:t>и наращивайте функциональность.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Все решения оформляйте в репозитории. 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r>
              <a:rPr lang="ru-RU" sz="1400" b="0" dirty="0">
                <a:solidFill>
                  <a:srgbClr val="1E1F21"/>
                </a:solidFill>
              </a:rPr>
              <a:t>Для каждого этапа открывайте ветку, добивайтесь стабильной работы и потом сливайте ее в основную ветку. Формируйте метки релизов для каждого этапа.</a:t>
            </a: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FF7700"/>
              </a:buClr>
              <a:buSzPts val="1800"/>
              <a:buChar char="●"/>
            </a:pPr>
            <a:endParaRPr lang="ru-RU" sz="1400" b="0" dirty="0">
              <a:solidFill>
                <a:srgbClr val="1E1F21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Курсовой проект - рекомендации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2958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79274" y="873252"/>
            <a:ext cx="7068184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3200" b="1" spc="-50">
                <a:latin typeface="Trebuchet MS"/>
                <a:cs typeface="Trebuchet MS"/>
              </a:rPr>
              <a:t>Приходите</a:t>
            </a:r>
            <a:r>
              <a:rPr lang="ru-RU" sz="3200" b="1" spc="-190">
                <a:latin typeface="Trebuchet MS"/>
                <a:cs typeface="Trebuchet MS"/>
              </a:rPr>
              <a:t> </a:t>
            </a:r>
            <a:r>
              <a:rPr lang="ru-RU" sz="3200" b="1" spc="-20">
                <a:latin typeface="Trebuchet MS"/>
                <a:cs typeface="Trebuchet MS"/>
              </a:rPr>
              <a:t>на</a:t>
            </a:r>
            <a:r>
              <a:rPr lang="ru-RU" sz="3200" b="1" spc="-180">
                <a:latin typeface="Trebuchet MS"/>
                <a:cs typeface="Trebuchet MS"/>
              </a:rPr>
              <a:t> </a:t>
            </a:r>
            <a:r>
              <a:rPr lang="ru-RU" sz="3200" b="1" spc="-30">
                <a:latin typeface="Trebuchet MS"/>
                <a:cs typeface="Trebuchet MS"/>
              </a:rPr>
              <a:t>следующие</a:t>
            </a:r>
            <a:r>
              <a:rPr lang="ru-RU" sz="3200" b="1" spc="-185">
                <a:latin typeface="Trebuchet MS"/>
                <a:cs typeface="Trebuchet MS"/>
              </a:rPr>
              <a:t> </a:t>
            </a:r>
            <a:r>
              <a:rPr lang="ru-RU" sz="3200" b="1" spc="-10">
                <a:latin typeface="Trebuchet MS"/>
                <a:cs typeface="Trebuchet MS"/>
              </a:rPr>
              <a:t>вебинары</a:t>
            </a:r>
            <a:endParaRPr lang="ru-RU" sz="3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274" y="522223"/>
            <a:ext cx="20231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0" dirty="0">
                <a:solidFill>
                  <a:srgbClr val="FF9900"/>
                </a:solidFill>
                <a:latin typeface="Trebuchet MS"/>
                <a:cs typeface="Trebuchet MS"/>
              </a:rPr>
              <a:t>Спасибо</a:t>
            </a:r>
            <a:r>
              <a:rPr sz="1500" b="0" spc="20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55" dirty="0">
                <a:solidFill>
                  <a:srgbClr val="FF9900"/>
                </a:solidFill>
                <a:latin typeface="Trebuchet MS"/>
                <a:cs typeface="Trebuchet MS"/>
              </a:rPr>
              <a:t>за</a:t>
            </a:r>
            <a:r>
              <a:rPr sz="1500" b="0" spc="35" dirty="0">
                <a:solidFill>
                  <a:srgbClr val="FF9900"/>
                </a:solidFill>
                <a:latin typeface="Trebuchet MS"/>
                <a:cs typeface="Trebuchet MS"/>
              </a:rPr>
              <a:t> </a:t>
            </a:r>
            <a:r>
              <a:rPr sz="1500" b="0" spc="-10" dirty="0">
                <a:solidFill>
                  <a:srgbClr val="FF9900"/>
                </a:solidFill>
                <a:latin typeface="Trebuchet MS"/>
                <a:cs typeface="Trebuchet MS"/>
              </a:rPr>
              <a:t>внимание!</a:t>
            </a:r>
            <a:endParaRPr sz="15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6551" y="2703050"/>
            <a:ext cx="2115820" cy="2439035"/>
            <a:chOff x="606551" y="2703050"/>
            <a:chExt cx="2115820" cy="2439035"/>
          </a:xfrm>
        </p:grpSpPr>
        <p:sp>
          <p:nvSpPr>
            <p:cNvPr id="5" name="object 5"/>
            <p:cNvSpPr/>
            <p:nvPr/>
          </p:nvSpPr>
          <p:spPr>
            <a:xfrm>
              <a:off x="629999" y="2703050"/>
              <a:ext cx="1034415" cy="1983739"/>
            </a:xfrm>
            <a:custGeom>
              <a:avLst/>
              <a:gdLst/>
              <a:ahLst/>
              <a:cxnLst/>
              <a:rect l="l" t="t" r="r" b="b"/>
              <a:pathLst>
                <a:path w="1034414" h="1983739">
                  <a:moveTo>
                    <a:pt x="1033800" y="0"/>
                  </a:moveTo>
                  <a:lnTo>
                    <a:pt x="0" y="0"/>
                  </a:lnTo>
                  <a:lnTo>
                    <a:pt x="0" y="1983599"/>
                  </a:lnTo>
                  <a:lnTo>
                    <a:pt x="1033800" y="1983599"/>
                  </a:lnTo>
                  <a:lnTo>
                    <a:pt x="1033800" y="0"/>
                  </a:lnTo>
                  <a:close/>
                </a:path>
              </a:pathLst>
            </a:custGeom>
            <a:solidFill>
              <a:srgbClr val="FFAB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6551" y="2846831"/>
              <a:ext cx="2115312" cy="2295144"/>
            </a:xfrm>
            <a:prstGeom prst="rect">
              <a:avLst/>
            </a:prstGeom>
          </p:spPr>
        </p:pic>
      </p:grpSp>
      <p:sp>
        <p:nvSpPr>
          <p:cNvPr id="10" name="Google Shape;208;p48">
            <a:extLst>
              <a:ext uri="{FF2B5EF4-FFF2-40B4-BE49-F238E27FC236}">
                <a16:creationId xmlns:a16="http://schemas.microsoft.com/office/drawing/2014/main" id="{F45B4F46-1E82-E94D-A2CF-50DA3C5B7EC6}"/>
              </a:ext>
            </a:extLst>
          </p:cNvPr>
          <p:cNvSpPr txBox="1">
            <a:spLocks/>
          </p:cNvSpPr>
          <p:nvPr/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ru-RU" b="1" dirty="0"/>
              <a:t>Игорь Стурейко</a:t>
            </a:r>
          </a:p>
        </p:txBody>
      </p:sp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D033A29A-5C61-8440-A7AA-1A792E6BB82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20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3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</TotalTime>
  <Words>563</Words>
  <Application>Microsoft Macintosh PowerPoint</Application>
  <PresentationFormat>On-screen Show (16:9)</PresentationFormat>
  <Paragraphs>129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Apple Chancery</vt:lpstr>
      <vt:lpstr>Arial</vt:lpstr>
      <vt:lpstr>Calibri</vt:lpstr>
      <vt:lpstr>Roboto</vt:lpstr>
      <vt:lpstr>Trebuchet MS</vt:lpstr>
      <vt:lpstr>Office Theme</vt:lpstr>
      <vt:lpstr>ML для финансового анализа Course project</vt:lpstr>
      <vt:lpstr>Проверить, идет ли запись</vt:lpstr>
      <vt:lpstr>Правила вебинара</vt:lpstr>
      <vt:lpstr>ML для финансового анализа Course project</vt:lpstr>
      <vt:lpstr>Карта курса</vt:lpstr>
      <vt:lpstr>Маршрут вебинара</vt:lpstr>
      <vt:lpstr>Проектная работа</vt:lpstr>
      <vt:lpstr>Как выбрать тему</vt:lpstr>
      <vt:lpstr>Стандартный проект – торговый робот</vt:lpstr>
      <vt:lpstr>Программа</vt:lpstr>
      <vt:lpstr>Защита проекта - презентация</vt:lpstr>
      <vt:lpstr>Курсовой проект - рекомендации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Ops</dc:title>
  <cp:lastModifiedBy>Стурейко Игорь Олегович</cp:lastModifiedBy>
  <cp:revision>19</cp:revision>
  <dcterms:created xsi:type="dcterms:W3CDTF">2024-07-23T07:20:56Z</dcterms:created>
  <dcterms:modified xsi:type="dcterms:W3CDTF">2025-10-02T10:05:15Z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2024-05-22T00:00:00Z</vt:filetime>
  </property>
  <property fmtid="{D5CDD505-2E9C-101B-9397-08002B2CF9AE}" pid="3" name="LastSaved">
    <vt:filetime>2024-07-23T00:00:00Z</vt:filetime>
  </property>
  <property fmtid="{D5CDD505-2E9C-101B-9397-08002B2CF9AE}" pid="4" name="Producer">
    <vt:lpwstr>macOS Version 14.2.1 (Build 23C71) Quartz PDFContext</vt:lpwstr>
  </property>
</Properties>
</file>