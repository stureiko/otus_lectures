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media/image3.jpg" ContentType="image/jpeg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media/image24.jpg" ContentType="image/jpeg"/>
  <Override PartName="/ppt/notesSlides/notesSlide6.xml" ContentType="application/vnd.openxmlformats-officedocument.presentationml.notesSlide+xml"/>
  <Override PartName="/ppt/media/image25.jpg" ContentType="image/jpeg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317" r:id="rId3"/>
    <p:sldId id="259" r:id="rId4"/>
    <p:sldId id="404" r:id="rId5"/>
    <p:sldId id="474" r:id="rId6"/>
    <p:sldId id="260" r:id="rId7"/>
    <p:sldId id="261" r:id="rId8"/>
    <p:sldId id="313" r:id="rId9"/>
    <p:sldId id="314" r:id="rId10"/>
    <p:sldId id="301" r:id="rId11"/>
    <p:sldId id="315" r:id="rId12"/>
    <p:sldId id="316" r:id="rId13"/>
    <p:sldId id="304" r:id="rId14"/>
  </p:sldIdLst>
  <p:sldSz cx="9144000" cy="5143500" type="screen16x9"/>
  <p:notesSz cx="9144000" cy="51435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243"/>
    <p:restoredTop sz="97030"/>
  </p:normalViewPr>
  <p:slideViewPr>
    <p:cSldViewPr>
      <p:cViewPr varScale="1">
        <p:scale>
          <a:sx n="165" d="100"/>
          <a:sy n="165" d="100"/>
        </p:scale>
        <p:origin x="768" y="184"/>
      </p:cViewPr>
      <p:guideLst>
        <p:guide orient="horz" pos="2880"/>
        <p:guide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D1C788-56A1-2E45-A024-5C42A74F7F0E}" type="datetimeFigureOut">
              <a:rPr lang="en-US" smtClean="0"/>
              <a:t>2/12/26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642938"/>
            <a:ext cx="3086100" cy="1736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2474913"/>
            <a:ext cx="7315200" cy="20256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012F9F-468F-E040-8F6D-DB6B5D3707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4389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de823becd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de823becd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de823becd0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de823becd0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5" name="Google Shape;175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005733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de823becd0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de823becd0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446904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013228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476664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316349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79274" y="383031"/>
            <a:ext cx="3855085" cy="4978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2/12/26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2/12/26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787699" y="1397762"/>
            <a:ext cx="1944370" cy="314261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1" i="0">
                <a:solidFill>
                  <a:srgbClr val="FF9900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422787" y="1120140"/>
            <a:ext cx="1875790" cy="35413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2/12/26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514197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2/12/26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2/12/26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ТИТУЛЬНЫЙ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8" y="-10075"/>
            <a:ext cx="9161923" cy="516365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7710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194"/>
            <a:ext cx="8183100" cy="218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732753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Белый слайд + заголовок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940306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59578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Тема вебинара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None/>
              <a:defRPr sz="1500">
                <a:solidFill>
                  <a:srgbClr val="FF99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0505"/>
              </a:buClr>
              <a:buSzPts val="1500"/>
              <a:buNone/>
              <a:defRPr sz="1500" b="1">
                <a:solidFill>
                  <a:srgbClr val="05050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166807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Заголовок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484883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7699247" y="4876800"/>
            <a:ext cx="1298448" cy="146303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79274" y="383031"/>
            <a:ext cx="4399915" cy="4978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161125" y="2344927"/>
            <a:ext cx="4507230" cy="24053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2/12/26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://www.linkedin.com/in/igor-stureiko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10" Type="http://schemas.openxmlformats.org/officeDocument/2006/relationships/image" Target="../media/image24.jp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28.jpe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://www.linkedin.com/in/igor-stureiko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46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otus.ru</a:t>
            </a:r>
            <a:endParaRPr dirty="0"/>
          </a:p>
        </p:txBody>
      </p:sp>
      <p:sp>
        <p:nvSpPr>
          <p:cNvPr id="190" name="Google Shape;190;p46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ML </a:t>
            </a:r>
            <a:r>
              <a:rPr lang="ru-RU" dirty="0"/>
              <a:t>для финансового анализа</a:t>
            </a:r>
            <a:br>
              <a:rPr lang="ru-RU" dirty="0"/>
            </a:br>
            <a:r>
              <a:rPr lang="en-US" sz="3600" dirty="0"/>
              <a:t>Course project</a:t>
            </a:r>
            <a:endParaRPr lang="ru-RU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47"/>
          <p:cNvSpPr txBox="1">
            <a:spLocks noGrp="1"/>
          </p:cNvSpPr>
          <p:nvPr>
            <p:ph type="title"/>
          </p:nvPr>
        </p:nvSpPr>
        <p:spPr>
          <a:xfrm>
            <a:off x="1635875" y="772125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100"/>
              <a:t>Проверить, идет ли запись</a:t>
            </a:r>
            <a:endParaRPr sz="2100"/>
          </a:p>
        </p:txBody>
      </p:sp>
      <p:sp>
        <p:nvSpPr>
          <p:cNvPr id="196" name="Google Shape;196;p47"/>
          <p:cNvSpPr txBox="1">
            <a:spLocks noGrp="1"/>
          </p:cNvSpPr>
          <p:nvPr>
            <p:ph type="title"/>
          </p:nvPr>
        </p:nvSpPr>
        <p:spPr>
          <a:xfrm>
            <a:off x="766725" y="1805199"/>
            <a:ext cx="7935300" cy="129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000"/>
              <a:t>Меня хорошо видно</a:t>
            </a:r>
            <a:endParaRPr sz="4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/>
              <a:t>&amp;&amp; слышно?</a:t>
            </a:r>
            <a:endParaRPr sz="4000"/>
          </a:p>
        </p:txBody>
      </p:sp>
      <p:pic>
        <p:nvPicPr>
          <p:cNvPr id="197" name="Google Shape;197;p47"/>
          <p:cNvPicPr preferRelativeResize="0"/>
          <p:nvPr/>
        </p:nvPicPr>
        <p:blipFill rotWithShape="1">
          <a:blip r:embed="rId3">
            <a:alphaModFix/>
          </a:blip>
          <a:srcRect l="99" r="99"/>
          <a:stretch/>
        </p:blipFill>
        <p:spPr>
          <a:xfrm>
            <a:off x="880825" y="1032408"/>
            <a:ext cx="642317" cy="32115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4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72375" y="3520050"/>
            <a:ext cx="525600" cy="525600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47"/>
          <p:cNvSpPr txBox="1"/>
          <p:nvPr/>
        </p:nvSpPr>
        <p:spPr>
          <a:xfrm>
            <a:off x="1514225" y="3459600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Ставим “+”, если все хорошо</a:t>
            </a:r>
            <a:b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“-”, если есть проблемы</a:t>
            </a:r>
            <a:endParaRPr sz="15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200" b="1"/>
              <a:t>Правила вебинара</a:t>
            </a:r>
            <a:endParaRPr sz="3200" b="1"/>
          </a:p>
        </p:txBody>
      </p:sp>
      <p:pic>
        <p:nvPicPr>
          <p:cNvPr id="215" name="Google Shape;215;p4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650" y="3951281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4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37650" y="1281613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p4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37651" y="3061406"/>
            <a:ext cx="692621" cy="692599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49"/>
          <p:cNvSpPr txBox="1"/>
          <p:nvPr/>
        </p:nvSpPr>
        <p:spPr>
          <a:xfrm>
            <a:off x="1654525" y="1252250"/>
            <a:ext cx="2475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Активно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участвуем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9" name="Google Shape;219;p49"/>
          <p:cNvSpPr txBox="1"/>
          <p:nvPr/>
        </p:nvSpPr>
        <p:spPr>
          <a:xfrm>
            <a:off x="1654525" y="306641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Задаем вопрос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в чат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0" name="Google Shape;220;p49"/>
          <p:cNvSpPr txBox="1"/>
          <p:nvPr/>
        </p:nvSpPr>
        <p:spPr>
          <a:xfrm>
            <a:off x="1654525" y="397505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Вопросы вижу в чате,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могу ответить не сразу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1" name="Google Shape;221;p49"/>
          <p:cNvSpPr txBox="1"/>
          <p:nvPr/>
        </p:nvSpPr>
        <p:spPr>
          <a:xfrm>
            <a:off x="1654525" y="2049300"/>
            <a:ext cx="24753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Off-topic обсуждаем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в учебной группе 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2" name="Google Shape;222;p49"/>
          <p:cNvSpPr/>
          <p:nvPr/>
        </p:nvSpPr>
        <p:spPr>
          <a:xfrm>
            <a:off x="6046275" y="-8050"/>
            <a:ext cx="3097500" cy="514350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49"/>
          <p:cNvSpPr txBox="1"/>
          <p:nvPr/>
        </p:nvSpPr>
        <p:spPr>
          <a:xfrm>
            <a:off x="6344063" y="1052963"/>
            <a:ext cx="2044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Условные 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обозначения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24" name="Google Shape;224;p49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38593" y="1912032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49"/>
          <p:cNvSpPr txBox="1"/>
          <p:nvPr/>
        </p:nvSpPr>
        <p:spPr>
          <a:xfrm>
            <a:off x="6829363" y="1898744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Индивидуально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26" name="Google Shape;226;p49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38593" y="2392126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49"/>
          <p:cNvSpPr txBox="1"/>
          <p:nvPr/>
        </p:nvSpPr>
        <p:spPr>
          <a:xfrm>
            <a:off x="6829363" y="2291099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Время, необходимое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на активность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28" name="Google Shape;228;p49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38593" y="2872220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49"/>
          <p:cNvSpPr txBox="1"/>
          <p:nvPr/>
        </p:nvSpPr>
        <p:spPr>
          <a:xfrm>
            <a:off x="6829363" y="2873300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Пишем в чат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0" name="Google Shape;230;p49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438593" y="3352314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/>
        </p:nvSpPr>
        <p:spPr>
          <a:xfrm>
            <a:off x="6829363" y="3359347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Говорим голосом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2" name="Google Shape;232;p49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438593" y="3832409"/>
            <a:ext cx="330301" cy="330301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49"/>
          <p:cNvSpPr txBox="1"/>
          <p:nvPr/>
        </p:nvSpPr>
        <p:spPr>
          <a:xfrm>
            <a:off x="6829363" y="3827568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Документ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4" name="Google Shape;234;p49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6438593" y="4312503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49"/>
          <p:cNvSpPr txBox="1"/>
          <p:nvPr/>
        </p:nvSpPr>
        <p:spPr>
          <a:xfrm>
            <a:off x="6829363" y="4223086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Ответьте себе или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задайте вопрос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7" name="Google Shape;237;p49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837650" y="2171500"/>
            <a:ext cx="692625" cy="692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48"/>
          <p:cNvSpPr txBox="1">
            <a:spLocks noGrp="1"/>
          </p:cNvSpPr>
          <p:nvPr>
            <p:ph type="title"/>
          </p:nvPr>
        </p:nvSpPr>
        <p:spPr>
          <a:xfrm>
            <a:off x="500550" y="821219"/>
            <a:ext cx="85206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ML </a:t>
            </a:r>
            <a:r>
              <a:rPr lang="ru-RU" dirty="0"/>
              <a:t>для финансового анализа</a:t>
            </a:r>
            <a:br>
              <a:rPr lang="en-US" dirty="0"/>
            </a:br>
            <a:r>
              <a:rPr lang="en-US" sz="2400" dirty="0"/>
              <a:t>Course project</a:t>
            </a:r>
            <a:endParaRPr dirty="0"/>
          </a:p>
        </p:txBody>
      </p:sp>
      <p:sp>
        <p:nvSpPr>
          <p:cNvPr id="207" name="Google Shape;207;p48"/>
          <p:cNvSpPr txBox="1">
            <a:spLocks noGrp="1"/>
          </p:cNvSpPr>
          <p:nvPr>
            <p:ph type="subTitle" idx="1"/>
          </p:nvPr>
        </p:nvSpPr>
        <p:spPr>
          <a:xfrm>
            <a:off x="500550" y="520133"/>
            <a:ext cx="7796700" cy="35692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Тема вебинара</a:t>
            </a:r>
            <a:endParaRPr dirty="0"/>
          </a:p>
        </p:txBody>
      </p:sp>
      <p:sp>
        <p:nvSpPr>
          <p:cNvPr id="208" name="Google Shape;208;p48"/>
          <p:cNvSpPr txBox="1">
            <a:spLocks noGrp="1"/>
          </p:cNvSpPr>
          <p:nvPr>
            <p:ph type="subTitle" idx="2"/>
          </p:nvPr>
        </p:nvSpPr>
        <p:spPr>
          <a:xfrm>
            <a:off x="3082400" y="2304911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Игорь Стурейко</a:t>
            </a:r>
            <a:endParaRPr dirty="0"/>
          </a:p>
        </p:txBody>
      </p:sp>
      <p:sp>
        <p:nvSpPr>
          <p:cNvPr id="10" name="Google Shape;209;p48">
            <a:extLst>
              <a:ext uri="{FF2B5EF4-FFF2-40B4-BE49-F238E27FC236}">
                <a16:creationId xmlns:a16="http://schemas.microsoft.com/office/drawing/2014/main" id="{ABBDF15B-866B-E64C-AF21-19F358C4E052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082400" y="2701811"/>
            <a:ext cx="5095500" cy="21336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1379538" indent="-1379538"/>
            <a:r>
              <a:rPr lang="ru-RU" sz="1150" b="1" dirty="0"/>
              <a:t>Руководитель курсов: </a:t>
            </a:r>
            <a:r>
              <a:rPr lang="en-US" sz="1150" b="1" dirty="0"/>
              <a:t>Reinforcement Learning</a:t>
            </a:r>
            <a:r>
              <a:rPr lang="ru-RU" sz="1150" b="1" dirty="0"/>
              <a:t>, </a:t>
            </a:r>
            <a:r>
              <a:rPr lang="en-US" sz="1150" b="1" dirty="0"/>
              <a:t>ML Professional, ML Basic</a:t>
            </a:r>
            <a:r>
              <a:rPr lang="ru-RU" sz="1150" b="1" dirty="0"/>
              <a:t>, </a:t>
            </a:r>
            <a:br>
              <a:rPr lang="en-US" sz="1150" b="1" dirty="0"/>
            </a:br>
            <a:r>
              <a:rPr lang="en-US" sz="1150" b="1" dirty="0" err="1"/>
              <a:t>MLOps</a:t>
            </a:r>
            <a:r>
              <a:rPr lang="en-US" sz="1150" b="1" dirty="0"/>
              <a:t>, </a:t>
            </a:r>
            <a:r>
              <a:rPr lang="en-US" sz="1150" b="1" dirty="0" err="1"/>
              <a:t>FinML</a:t>
            </a: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 err="1"/>
              <a:t>Teamlead</a:t>
            </a:r>
            <a:r>
              <a:rPr lang="ru-RU" sz="1150" b="1" dirty="0"/>
              <a:t>, главный инженер проекта</a:t>
            </a:r>
            <a:r>
              <a:rPr lang="en-US" sz="1150" b="1" dirty="0"/>
              <a:t>, </a:t>
            </a: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b="1" dirty="0"/>
              <a:t>Физический факультет МГУ, </a:t>
            </a:r>
            <a:r>
              <a:rPr lang="en-US" sz="1150" b="1" dirty="0"/>
              <a:t>PhD </a:t>
            </a:r>
            <a:r>
              <a:rPr lang="ru-RU" sz="1150" b="1" dirty="0"/>
              <a:t>теоретическая физика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50" b="1" dirty="0"/>
              <a:t>Опыт:</a:t>
            </a: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dirty="0"/>
              <a:t>Б</a:t>
            </a:r>
            <a:r>
              <a:rPr lang="ru" sz="1150" dirty="0"/>
              <a:t>олее 20 лет занимался прикладной математикой и мат моделированием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50" dirty="0"/>
              <a:t>(Data Scientist) (Python, С++)</a:t>
            </a: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/>
              <a:t>@</a:t>
            </a:r>
            <a:r>
              <a:rPr lang="en-US" sz="1150" b="1" dirty="0" err="1"/>
              <a:t>stureiko</a:t>
            </a:r>
            <a:r>
              <a:rPr lang="en-US" sz="1150" b="1" dirty="0"/>
              <a:t> (TG)</a:t>
            </a: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/>
              <a:t>LinkedIn: </a:t>
            </a:r>
            <a:r>
              <a:rPr lang="en-US" sz="1150" dirty="0">
                <a:hlinkClick r:id="rId3"/>
              </a:rPr>
              <a:t>igor-stureiko</a:t>
            </a:r>
            <a:r>
              <a:rPr lang="en-US" sz="1150" dirty="0"/>
              <a:t>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/>
              <a:t>@</a:t>
            </a:r>
            <a:r>
              <a:rPr lang="en-US" sz="1200" b="1" dirty="0" err="1"/>
              <a:t>rl_fintech</a:t>
            </a:r>
            <a:r>
              <a:rPr lang="ru-RU" sz="1200" b="1" dirty="0"/>
              <a:t> </a:t>
            </a:r>
            <a:r>
              <a:rPr lang="ru-RU" sz="1200" dirty="0"/>
              <a:t>(Мой канал посвященный финансовым моделям)</a:t>
            </a:r>
            <a:endParaRPr sz="1200" dirty="0"/>
          </a:p>
        </p:txBody>
      </p:sp>
      <p:grpSp>
        <p:nvGrpSpPr>
          <p:cNvPr id="8" name="object 4">
            <a:extLst>
              <a:ext uri="{FF2B5EF4-FFF2-40B4-BE49-F238E27FC236}">
                <a16:creationId xmlns:a16="http://schemas.microsoft.com/office/drawing/2014/main" id="{5FB241E0-F341-2D41-BAEF-2356ACCC2AE6}"/>
              </a:ext>
            </a:extLst>
          </p:cNvPr>
          <p:cNvGrpSpPr/>
          <p:nvPr/>
        </p:nvGrpSpPr>
        <p:grpSpPr>
          <a:xfrm>
            <a:off x="606551" y="2703050"/>
            <a:ext cx="2115820" cy="2439035"/>
            <a:chOff x="606551" y="2703050"/>
            <a:chExt cx="2115820" cy="2439035"/>
          </a:xfrm>
        </p:grpSpPr>
        <p:sp>
          <p:nvSpPr>
            <p:cNvPr id="9" name="object 5">
              <a:extLst>
                <a:ext uri="{FF2B5EF4-FFF2-40B4-BE49-F238E27FC236}">
                  <a16:creationId xmlns:a16="http://schemas.microsoft.com/office/drawing/2014/main" id="{A28AFFA3-12F1-9041-95E0-BC0FB0458F12}"/>
                </a:ext>
              </a:extLst>
            </p:cNvPr>
            <p:cNvSpPr/>
            <p:nvPr/>
          </p:nvSpPr>
          <p:spPr>
            <a:xfrm>
              <a:off x="629999" y="2703050"/>
              <a:ext cx="1034415" cy="1983739"/>
            </a:xfrm>
            <a:custGeom>
              <a:avLst/>
              <a:gdLst/>
              <a:ahLst/>
              <a:cxnLst/>
              <a:rect l="l" t="t" r="r" b="b"/>
              <a:pathLst>
                <a:path w="1034414" h="1983739">
                  <a:moveTo>
                    <a:pt x="1033800" y="0"/>
                  </a:moveTo>
                  <a:lnTo>
                    <a:pt x="0" y="0"/>
                  </a:lnTo>
                  <a:lnTo>
                    <a:pt x="0" y="1983599"/>
                  </a:lnTo>
                  <a:lnTo>
                    <a:pt x="1033800" y="1983599"/>
                  </a:lnTo>
                  <a:lnTo>
                    <a:pt x="1033800" y="0"/>
                  </a:lnTo>
                  <a:close/>
                </a:path>
              </a:pathLst>
            </a:custGeom>
            <a:solidFill>
              <a:srgbClr val="FFAB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6">
              <a:extLst>
                <a:ext uri="{FF2B5EF4-FFF2-40B4-BE49-F238E27FC236}">
                  <a16:creationId xmlns:a16="http://schemas.microsoft.com/office/drawing/2014/main" id="{DD64BE99-88DD-9742-BA44-436464CD2814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06551" y="2846831"/>
              <a:ext cx="2115312" cy="2295144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 dirty="0"/>
              <a:t>Карта курса</a:t>
            </a:r>
            <a:endParaRPr dirty="0"/>
          </a:p>
        </p:txBody>
      </p:sp>
      <p:sp>
        <p:nvSpPr>
          <p:cNvPr id="179" name="Google Shape;179;p34"/>
          <p:cNvSpPr/>
          <p:nvPr/>
        </p:nvSpPr>
        <p:spPr>
          <a:xfrm>
            <a:off x="3042000" y="769970"/>
            <a:ext cx="3193103" cy="5793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050" dirty="0">
                <a:solidFill>
                  <a:srgbClr val="1F1F1F"/>
                </a:solidFill>
                <a:latin typeface="+mn-lt"/>
                <a:sym typeface="Roboto"/>
              </a:rPr>
              <a:t>1. </a:t>
            </a:r>
            <a:r>
              <a:rPr lang="ru-RU" sz="1050" dirty="0">
                <a:solidFill>
                  <a:srgbClr val="1F1F1F"/>
                </a:solidFill>
                <a:latin typeface="+mn-lt"/>
                <a:sym typeface="Roboto"/>
              </a:rPr>
              <a:t>Введение в финансовые рынки и машинное обучение</a:t>
            </a:r>
            <a:endParaRPr sz="105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sp>
        <p:nvSpPr>
          <p:cNvPr id="180" name="Google Shape;180;p34"/>
          <p:cNvSpPr/>
          <p:nvPr/>
        </p:nvSpPr>
        <p:spPr>
          <a:xfrm>
            <a:off x="654005" y="1664080"/>
            <a:ext cx="3060000" cy="5793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050" dirty="0">
                <a:solidFill>
                  <a:srgbClr val="1F1F1F"/>
                </a:solidFill>
                <a:latin typeface="+mn-lt"/>
                <a:sym typeface="Roboto"/>
              </a:rPr>
              <a:t>2. </a:t>
            </a:r>
            <a:r>
              <a:rPr lang="ru-RU" sz="1050" dirty="0">
                <a:solidFill>
                  <a:srgbClr val="1F1F1F"/>
                </a:solidFill>
                <a:latin typeface="+mn-lt"/>
                <a:sym typeface="Roboto"/>
              </a:rPr>
              <a:t>Технический анализ финансовых рынков</a:t>
            </a:r>
            <a:endParaRPr sz="105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sp>
        <p:nvSpPr>
          <p:cNvPr id="181" name="Google Shape;181;p34"/>
          <p:cNvSpPr/>
          <p:nvPr/>
        </p:nvSpPr>
        <p:spPr>
          <a:xfrm>
            <a:off x="5074342" y="2505600"/>
            <a:ext cx="3229663" cy="5793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050" dirty="0">
                <a:solidFill>
                  <a:srgbClr val="1F1F1F"/>
                </a:solidFill>
                <a:latin typeface="+mn-lt"/>
                <a:sym typeface="Roboto"/>
              </a:rPr>
              <a:t>4. </a:t>
            </a:r>
            <a:r>
              <a:rPr lang="ru-RU" sz="1050" dirty="0">
                <a:solidFill>
                  <a:srgbClr val="1F1F1F"/>
                </a:solidFill>
                <a:latin typeface="+mn-lt"/>
                <a:sym typeface="Roboto"/>
              </a:rPr>
              <a:t>Моделирование и стратегии на финансовых рынках</a:t>
            </a:r>
            <a:endParaRPr sz="105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sp>
        <p:nvSpPr>
          <p:cNvPr id="182" name="Google Shape;182;p34"/>
          <p:cNvSpPr/>
          <p:nvPr/>
        </p:nvSpPr>
        <p:spPr>
          <a:xfrm>
            <a:off x="5244005" y="1664080"/>
            <a:ext cx="3060000" cy="5793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050" dirty="0">
                <a:solidFill>
                  <a:srgbClr val="1F1F1F"/>
                </a:solidFill>
                <a:latin typeface="+mn-lt"/>
                <a:sym typeface="Roboto"/>
              </a:rPr>
              <a:t>3. </a:t>
            </a:r>
            <a:r>
              <a:rPr lang="ru-RU" sz="1050" dirty="0">
                <a:solidFill>
                  <a:srgbClr val="1F1F1F"/>
                </a:solidFill>
                <a:latin typeface="+mn-lt"/>
                <a:sym typeface="Roboto"/>
              </a:rPr>
              <a:t>Подготовка данных и признаковая инженерия</a:t>
            </a:r>
            <a:endParaRPr sz="105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cxnSp>
        <p:nvCxnSpPr>
          <p:cNvPr id="183" name="Google Shape;183;p34"/>
          <p:cNvCxnSpPr>
            <a:cxnSpLocks/>
            <a:stCxn id="179" idx="1"/>
            <a:endCxn id="180" idx="0"/>
          </p:cNvCxnSpPr>
          <p:nvPr/>
        </p:nvCxnSpPr>
        <p:spPr>
          <a:xfrm rot="10800000" flipV="1">
            <a:off x="2184006" y="1059620"/>
            <a:ext cx="857995" cy="604460"/>
          </a:xfrm>
          <a:prstGeom prst="curvedConnector2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sp>
        <p:nvSpPr>
          <p:cNvPr id="185" name="Google Shape;185;p34"/>
          <p:cNvSpPr/>
          <p:nvPr/>
        </p:nvSpPr>
        <p:spPr>
          <a:xfrm>
            <a:off x="654005" y="2511737"/>
            <a:ext cx="3060000" cy="5793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050" dirty="0">
                <a:solidFill>
                  <a:srgbClr val="1F1F1F"/>
                </a:solidFill>
                <a:latin typeface="+mn-lt"/>
                <a:sym typeface="Roboto"/>
              </a:rPr>
              <a:t>5. </a:t>
            </a:r>
            <a:r>
              <a:rPr lang="ru-RU" sz="1050" dirty="0">
                <a:solidFill>
                  <a:srgbClr val="1F1F1F"/>
                </a:solidFill>
                <a:latin typeface="+mn-lt"/>
                <a:sym typeface="Roboto"/>
              </a:rPr>
              <a:t>Глубокое обучение и практические аспекты</a:t>
            </a:r>
          </a:p>
        </p:txBody>
      </p:sp>
      <p:cxnSp>
        <p:nvCxnSpPr>
          <p:cNvPr id="186" name="Google Shape;186;p34"/>
          <p:cNvCxnSpPr>
            <a:cxnSpLocks/>
            <a:stCxn id="180" idx="3"/>
            <a:endCxn id="182" idx="1"/>
          </p:cNvCxnSpPr>
          <p:nvPr/>
        </p:nvCxnSpPr>
        <p:spPr>
          <a:xfrm>
            <a:off x="3714005" y="1953730"/>
            <a:ext cx="1530000" cy="12700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cxnSp>
        <p:nvCxnSpPr>
          <p:cNvPr id="187" name="Google Shape;187;p34"/>
          <p:cNvCxnSpPr>
            <a:cxnSpLocks/>
            <a:stCxn id="182" idx="3"/>
            <a:endCxn id="181" idx="3"/>
          </p:cNvCxnSpPr>
          <p:nvPr/>
        </p:nvCxnSpPr>
        <p:spPr>
          <a:xfrm>
            <a:off x="8304005" y="1953730"/>
            <a:ext cx="12700" cy="841520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cxnSp>
        <p:nvCxnSpPr>
          <p:cNvPr id="188" name="Google Shape;188;p34"/>
          <p:cNvCxnSpPr>
            <a:cxnSpLocks/>
            <a:stCxn id="181" idx="1"/>
            <a:endCxn id="185" idx="3"/>
          </p:cNvCxnSpPr>
          <p:nvPr/>
        </p:nvCxnSpPr>
        <p:spPr>
          <a:xfrm rot="10800000" flipV="1">
            <a:off x="3714006" y="2795249"/>
            <a:ext cx="1360337" cy="6137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sp>
        <p:nvSpPr>
          <p:cNvPr id="189" name="Google Shape;189;p34"/>
          <p:cNvSpPr/>
          <p:nvPr/>
        </p:nvSpPr>
        <p:spPr>
          <a:xfrm>
            <a:off x="654005" y="3365815"/>
            <a:ext cx="3060000" cy="5793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050" dirty="0">
                <a:solidFill>
                  <a:srgbClr val="1F1F1F"/>
                </a:solidFill>
                <a:latin typeface="+mn-lt"/>
                <a:sym typeface="Roboto"/>
              </a:rPr>
              <a:t>6. </a:t>
            </a:r>
            <a:r>
              <a:rPr lang="ru-RU" sz="1050" dirty="0">
                <a:solidFill>
                  <a:srgbClr val="1F1F1F"/>
                </a:solidFill>
                <a:latin typeface="+mn-lt"/>
                <a:sym typeface="Roboto"/>
              </a:rPr>
              <a:t>Сложные модели торгового агента и перенос обучения в </a:t>
            </a:r>
            <a:r>
              <a:rPr lang="en-US" sz="1050" dirty="0">
                <a:solidFill>
                  <a:srgbClr val="1F1F1F"/>
                </a:solidFill>
                <a:latin typeface="+mn-lt"/>
                <a:sym typeface="Roboto"/>
              </a:rPr>
              <a:t>production</a:t>
            </a:r>
            <a:endParaRPr sz="1050" dirty="0">
              <a:solidFill>
                <a:srgbClr val="1F1F1F"/>
              </a:solidFill>
              <a:latin typeface="+mn-lt"/>
              <a:sym typeface="Roboto"/>
            </a:endParaRPr>
          </a:p>
        </p:txBody>
      </p:sp>
      <p:sp>
        <p:nvSpPr>
          <p:cNvPr id="34" name="Google Shape;189;p34">
            <a:extLst>
              <a:ext uri="{FF2B5EF4-FFF2-40B4-BE49-F238E27FC236}">
                <a16:creationId xmlns:a16="http://schemas.microsoft.com/office/drawing/2014/main" id="{1205F190-94C2-4A4C-B9ED-91A1F73E4D34}"/>
              </a:ext>
            </a:extLst>
          </p:cNvPr>
          <p:cNvSpPr/>
          <p:nvPr/>
        </p:nvSpPr>
        <p:spPr>
          <a:xfrm>
            <a:off x="3042000" y="4234765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050" dirty="0">
                <a:solidFill>
                  <a:schemeClr val="dk1"/>
                </a:solidFill>
                <a:latin typeface="+mn-lt"/>
                <a:ea typeface="Roboto"/>
                <a:cs typeface="Roboto"/>
                <a:sym typeface="Roboto"/>
              </a:rPr>
              <a:t>7. </a:t>
            </a:r>
            <a:r>
              <a:rPr lang="ru-RU" sz="1050" dirty="0">
                <a:solidFill>
                  <a:schemeClr val="dk1"/>
                </a:solidFill>
                <a:latin typeface="+mn-lt"/>
                <a:ea typeface="Roboto"/>
                <a:cs typeface="Roboto"/>
                <a:sym typeface="Roboto"/>
              </a:rPr>
              <a:t>Финальный проект и практическое применение</a:t>
            </a:r>
            <a:endParaRPr sz="1050" b="0" i="0" u="none" strike="noStrike" cap="none" dirty="0">
              <a:solidFill>
                <a:schemeClr val="dk1"/>
              </a:solidFill>
              <a:latin typeface="+mn-lt"/>
              <a:ea typeface="Roboto"/>
              <a:cs typeface="Roboto"/>
              <a:sym typeface="Roboto"/>
            </a:endParaRPr>
          </a:p>
        </p:txBody>
      </p:sp>
      <p:cxnSp>
        <p:nvCxnSpPr>
          <p:cNvPr id="35" name="Google Shape;188;p34">
            <a:extLst>
              <a:ext uri="{FF2B5EF4-FFF2-40B4-BE49-F238E27FC236}">
                <a16:creationId xmlns:a16="http://schemas.microsoft.com/office/drawing/2014/main" id="{EB8517B5-119A-7442-825D-C15261576413}"/>
              </a:ext>
            </a:extLst>
          </p:cNvPr>
          <p:cNvCxnSpPr>
            <a:cxnSpLocks/>
            <a:stCxn id="189" idx="1"/>
            <a:endCxn id="185" idx="1"/>
          </p:cNvCxnSpPr>
          <p:nvPr/>
        </p:nvCxnSpPr>
        <p:spPr>
          <a:xfrm rot="10800000">
            <a:off x="654005" y="2801387"/>
            <a:ext cx="12700" cy="854078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arrow" w="med" len="med"/>
            <a:tailEnd type="none" w="med" len="med"/>
          </a:ln>
        </p:spPr>
      </p:cxnSp>
      <p:cxnSp>
        <p:nvCxnSpPr>
          <p:cNvPr id="38" name="Google Shape;188;p34">
            <a:extLst>
              <a:ext uri="{FF2B5EF4-FFF2-40B4-BE49-F238E27FC236}">
                <a16:creationId xmlns:a16="http://schemas.microsoft.com/office/drawing/2014/main" id="{F7B38074-28CA-DC44-8191-7A278B3DB050}"/>
              </a:ext>
            </a:extLst>
          </p:cNvPr>
          <p:cNvCxnSpPr>
            <a:cxnSpLocks/>
            <a:stCxn id="34" idx="0"/>
            <a:endCxn id="189" idx="3"/>
          </p:cNvCxnSpPr>
          <p:nvPr/>
        </p:nvCxnSpPr>
        <p:spPr>
          <a:xfrm rot="16200000" flipV="1">
            <a:off x="3853353" y="3516117"/>
            <a:ext cx="579300" cy="857995"/>
          </a:xfrm>
          <a:prstGeom prst="curvedConnector2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arrow" w="med" len="med"/>
            <a:tailEnd type="none" w="med" len="med"/>
          </a:ln>
        </p:spPr>
      </p:cxnSp>
      <p:pic>
        <p:nvPicPr>
          <p:cNvPr id="33" name="Google Shape;530;p82">
            <a:extLst>
              <a:ext uri="{FF2B5EF4-FFF2-40B4-BE49-F238E27FC236}">
                <a16:creationId xmlns:a16="http://schemas.microsoft.com/office/drawing/2014/main" id="{3D6F8E5B-8E72-9642-AA4C-A3D19C97E5E5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120894" y="1338234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0447CBAF-C51E-AF4A-9C35-3B92661ED5B4}"/>
              </a:ext>
            </a:extLst>
          </p:cNvPr>
          <p:cNvSpPr txBox="1"/>
          <p:nvPr/>
        </p:nvSpPr>
        <p:spPr>
          <a:xfrm>
            <a:off x="5367116" y="1338235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37" name="Google Shape;530;p82">
            <a:extLst>
              <a:ext uri="{FF2B5EF4-FFF2-40B4-BE49-F238E27FC236}">
                <a16:creationId xmlns:a16="http://schemas.microsoft.com/office/drawing/2014/main" id="{1A85A128-207E-674E-8856-DD7B530737CD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795778" y="2238233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55E1EFF6-15B2-384F-BCB0-C1C52F4D548B}"/>
              </a:ext>
            </a:extLst>
          </p:cNvPr>
          <p:cNvSpPr txBox="1"/>
          <p:nvPr/>
        </p:nvSpPr>
        <p:spPr>
          <a:xfrm>
            <a:off x="3042000" y="2238234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0" name="Google Shape;530;p82">
            <a:extLst>
              <a:ext uri="{FF2B5EF4-FFF2-40B4-BE49-F238E27FC236}">
                <a16:creationId xmlns:a16="http://schemas.microsoft.com/office/drawing/2014/main" id="{5CFAE274-29AE-C64A-BF63-F1789CC1D217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308984" y="2232180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495D51D4-1014-904E-B98B-1180866B6EA9}"/>
              </a:ext>
            </a:extLst>
          </p:cNvPr>
          <p:cNvSpPr txBox="1"/>
          <p:nvPr/>
        </p:nvSpPr>
        <p:spPr>
          <a:xfrm>
            <a:off x="7555206" y="2232181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3" name="Google Shape;530;p82">
            <a:extLst>
              <a:ext uri="{FF2B5EF4-FFF2-40B4-BE49-F238E27FC236}">
                <a16:creationId xmlns:a16="http://schemas.microsoft.com/office/drawing/2014/main" id="{6016A700-1ED8-3F49-9B85-B41B9D0E7D4E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308984" y="3091037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4DB3247B-A3F0-8046-BAAC-3C02B58CC273}"/>
              </a:ext>
            </a:extLst>
          </p:cNvPr>
          <p:cNvSpPr txBox="1"/>
          <p:nvPr/>
        </p:nvSpPr>
        <p:spPr>
          <a:xfrm>
            <a:off x="7555206" y="3091038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5" name="Google Shape;530;p82">
            <a:extLst>
              <a:ext uri="{FF2B5EF4-FFF2-40B4-BE49-F238E27FC236}">
                <a16:creationId xmlns:a16="http://schemas.microsoft.com/office/drawing/2014/main" id="{4772A2BC-247A-A74E-9DD6-82B153D02F21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747413" y="3091037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1D7CD912-58CB-7049-A55E-A067EF213E43}"/>
              </a:ext>
            </a:extLst>
          </p:cNvPr>
          <p:cNvSpPr txBox="1"/>
          <p:nvPr/>
        </p:nvSpPr>
        <p:spPr>
          <a:xfrm>
            <a:off x="2993635" y="3091038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7" name="Google Shape;530;p82">
            <a:extLst>
              <a:ext uri="{FF2B5EF4-FFF2-40B4-BE49-F238E27FC236}">
                <a16:creationId xmlns:a16="http://schemas.microsoft.com/office/drawing/2014/main" id="{C44CB1B9-3F0C-B640-9B91-7E329BDB5ABD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747413" y="3945115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6F2CEF8E-768B-2A42-AE60-B91443CA1636}"/>
              </a:ext>
            </a:extLst>
          </p:cNvPr>
          <p:cNvSpPr txBox="1"/>
          <p:nvPr/>
        </p:nvSpPr>
        <p:spPr>
          <a:xfrm>
            <a:off x="2993635" y="3945116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51" name="Google Shape;225;p40">
            <a:extLst>
              <a:ext uri="{FF2B5EF4-FFF2-40B4-BE49-F238E27FC236}">
                <a16:creationId xmlns:a16="http://schemas.microsoft.com/office/drawing/2014/main" id="{144C3652-C501-1346-B7AB-83586BA2F636}"/>
              </a:ext>
            </a:extLst>
          </p:cNvPr>
          <p:cNvPicPr preferRelativeResize="0"/>
          <p:nvPr/>
        </p:nvPicPr>
        <p:blipFill>
          <a:blip r:embed="rId4"/>
          <a:srcRect l="18187" r="18187"/>
          <a:stretch/>
        </p:blipFill>
        <p:spPr>
          <a:xfrm>
            <a:off x="3165384" y="878379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2" name="Google Shape;225;p40">
            <a:extLst>
              <a:ext uri="{FF2B5EF4-FFF2-40B4-BE49-F238E27FC236}">
                <a16:creationId xmlns:a16="http://schemas.microsoft.com/office/drawing/2014/main" id="{2E53F201-6B1A-E248-8C85-AE31C0183E3A}"/>
              </a:ext>
            </a:extLst>
          </p:cNvPr>
          <p:cNvPicPr preferRelativeResize="0"/>
          <p:nvPr/>
        </p:nvPicPr>
        <p:blipFill>
          <a:blip r:embed="rId5"/>
          <a:srcRect t="2849" b="2849"/>
          <a:stretch/>
        </p:blipFill>
        <p:spPr>
          <a:xfrm>
            <a:off x="761508" y="2616086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3" name="Google Shape;225;p40">
            <a:extLst>
              <a:ext uri="{FF2B5EF4-FFF2-40B4-BE49-F238E27FC236}">
                <a16:creationId xmlns:a16="http://schemas.microsoft.com/office/drawing/2014/main" id="{67D6B569-9B1F-6D43-841D-442FF92691E3}"/>
              </a:ext>
            </a:extLst>
          </p:cNvPr>
          <p:cNvPicPr preferRelativeResize="0"/>
          <p:nvPr/>
        </p:nvPicPr>
        <p:blipFill>
          <a:blip r:embed="rId6"/>
          <a:srcRect t="2849" b="2849"/>
          <a:stretch/>
        </p:blipFill>
        <p:spPr>
          <a:xfrm>
            <a:off x="5379110" y="1770693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4" name="Google Shape;225;p40">
            <a:extLst>
              <a:ext uri="{FF2B5EF4-FFF2-40B4-BE49-F238E27FC236}">
                <a16:creationId xmlns:a16="http://schemas.microsoft.com/office/drawing/2014/main" id="{9503C9EF-9A4D-F741-957E-D9787DBAAD39}"/>
              </a:ext>
            </a:extLst>
          </p:cNvPr>
          <p:cNvPicPr preferRelativeResize="0"/>
          <p:nvPr/>
        </p:nvPicPr>
        <p:blipFill>
          <a:blip r:embed="rId7"/>
          <a:srcRect t="2849" b="2849"/>
          <a:stretch/>
        </p:blipFill>
        <p:spPr>
          <a:xfrm>
            <a:off x="5169145" y="2616086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6" name="Google Shape;225;p40">
            <a:extLst>
              <a:ext uri="{FF2B5EF4-FFF2-40B4-BE49-F238E27FC236}">
                <a16:creationId xmlns:a16="http://schemas.microsoft.com/office/drawing/2014/main" id="{961AE516-CE39-C146-B04E-6F9CCFC749A3}"/>
              </a:ext>
            </a:extLst>
          </p:cNvPr>
          <p:cNvPicPr preferRelativeResize="0"/>
          <p:nvPr/>
        </p:nvPicPr>
        <p:blipFill>
          <a:blip r:embed="rId8"/>
          <a:srcRect t="2849" b="2849"/>
          <a:stretch/>
        </p:blipFill>
        <p:spPr>
          <a:xfrm>
            <a:off x="787457" y="3436703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7" name="Google Shape;225;p40">
            <a:extLst>
              <a:ext uri="{FF2B5EF4-FFF2-40B4-BE49-F238E27FC236}">
                <a16:creationId xmlns:a16="http://schemas.microsoft.com/office/drawing/2014/main" id="{AF4E17D5-3459-B545-8950-6FD1DC61D95F}"/>
              </a:ext>
            </a:extLst>
          </p:cNvPr>
          <p:cNvPicPr preferRelativeResize="0"/>
          <p:nvPr/>
        </p:nvPicPr>
        <p:blipFill>
          <a:blip r:embed="rId9"/>
          <a:srcRect t="2849" b="2849"/>
          <a:stretch/>
        </p:blipFill>
        <p:spPr>
          <a:xfrm>
            <a:off x="787457" y="1770693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8" name="Google Shape;225;p40">
            <a:extLst>
              <a:ext uri="{FF2B5EF4-FFF2-40B4-BE49-F238E27FC236}">
                <a16:creationId xmlns:a16="http://schemas.microsoft.com/office/drawing/2014/main" id="{5D9B9C18-2AFF-6F45-91A9-E24FAB89A0AE}"/>
              </a:ext>
            </a:extLst>
          </p:cNvPr>
          <p:cNvPicPr preferRelativeResize="0"/>
          <p:nvPr/>
        </p:nvPicPr>
        <p:blipFill>
          <a:blip r:embed="rId10"/>
          <a:srcRect t="2849" b="2849"/>
          <a:stretch/>
        </p:blipFill>
        <p:spPr>
          <a:xfrm>
            <a:off x="3165384" y="4326414"/>
            <a:ext cx="419930" cy="396001"/>
          </a:xfrm>
          <a:prstGeom prst="ellipse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257209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65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Маршрут вебинара</a:t>
            </a:r>
            <a:endParaRPr/>
          </a:p>
        </p:txBody>
      </p:sp>
      <p:sp>
        <p:nvSpPr>
          <p:cNvPr id="284" name="Google Shape;284;p65"/>
          <p:cNvSpPr/>
          <p:nvPr/>
        </p:nvSpPr>
        <p:spPr>
          <a:xfrm>
            <a:off x="680150" y="1521159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такое курсовая работа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5" name="Google Shape;285;p65"/>
          <p:cNvSpPr/>
          <p:nvPr/>
        </p:nvSpPr>
        <p:spPr>
          <a:xfrm>
            <a:off x="680150" y="2066557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 выбрать тему проекта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7" name="Google Shape;287;p65"/>
          <p:cNvSpPr/>
          <p:nvPr/>
        </p:nvSpPr>
        <p:spPr>
          <a:xfrm>
            <a:off x="680150" y="2611955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Расписание</a:t>
            </a:r>
            <a:endParaRPr sz="15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8" name="Google Shape;288;p65"/>
          <p:cNvSpPr/>
          <p:nvPr/>
        </p:nvSpPr>
        <p:spPr>
          <a:xfrm>
            <a:off x="680150" y="3157353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Рекомендации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" name="Google Shape;288;p65">
            <a:extLst>
              <a:ext uri="{FF2B5EF4-FFF2-40B4-BE49-F238E27FC236}">
                <a16:creationId xmlns:a16="http://schemas.microsoft.com/office/drawing/2014/main" id="{E70A6281-3704-B54B-BD03-7CD165FF9994}"/>
              </a:ext>
            </a:extLst>
          </p:cNvPr>
          <p:cNvSpPr/>
          <p:nvPr/>
        </p:nvSpPr>
        <p:spPr>
          <a:xfrm>
            <a:off x="680150" y="4248150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Пожелания и напутствие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" name="Google Shape;288;p65">
            <a:extLst>
              <a:ext uri="{FF2B5EF4-FFF2-40B4-BE49-F238E27FC236}">
                <a16:creationId xmlns:a16="http://schemas.microsoft.com/office/drawing/2014/main" id="{BE39A353-0113-CB40-A790-4710AD049C32}"/>
              </a:ext>
            </a:extLst>
          </p:cNvPr>
          <p:cNvSpPr/>
          <p:nvPr/>
        </p:nvSpPr>
        <p:spPr>
          <a:xfrm>
            <a:off x="680150" y="3702751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Защита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D9CA1A-DD74-9F4E-8CE8-F20F5098D2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5800" y="1809750"/>
            <a:ext cx="4238012" cy="254280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60550" y="1665950"/>
            <a:ext cx="7723800" cy="16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  <a:buChar char="●"/>
            </a:pPr>
            <a:r>
              <a:rPr lang="ru" sz="1800" dirty="0">
                <a:solidFill>
                  <a:srgbClr val="1E1F21"/>
                </a:solidFill>
              </a:rPr>
              <a:t>Проектная работа – это просто еще одно ДЗ, просто немного большего объема;</a:t>
            </a:r>
            <a:endParaRPr sz="180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  <a:buChar char="●"/>
            </a:pPr>
            <a:r>
              <a:rPr lang="ru-RU" sz="1800" dirty="0">
                <a:solidFill>
                  <a:srgbClr val="1E1F21"/>
                </a:solidFill>
              </a:rPr>
              <a:t>В рамках этапа «Проектная работа» можно и нужно </a:t>
            </a:r>
            <a:r>
              <a:rPr lang="ru-RU" sz="1800" dirty="0" err="1">
                <a:solidFill>
                  <a:srgbClr val="1E1F21"/>
                </a:solidFill>
              </a:rPr>
              <a:t>досдавать</a:t>
            </a:r>
            <a:r>
              <a:rPr lang="ru-RU" sz="1800" dirty="0">
                <a:solidFill>
                  <a:srgbClr val="1E1F21"/>
                </a:solidFill>
              </a:rPr>
              <a:t> ДЗ курса;</a:t>
            </a:r>
            <a:endParaRPr sz="180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  <a:buChar char="●"/>
            </a:pPr>
            <a:r>
              <a:rPr lang="ru" sz="1800" dirty="0">
                <a:solidFill>
                  <a:srgbClr val="1E1F21"/>
                </a:solidFill>
              </a:rPr>
              <a:t>Выполненный проект может дополнить ваше портфолио.</a:t>
            </a:r>
            <a:endParaRPr sz="1800" dirty="0">
              <a:solidFill>
                <a:srgbClr val="1E1F21"/>
              </a:solidFill>
            </a:endParaRP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Проектная работа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492367" y="1273930"/>
            <a:ext cx="7723800" cy="16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14300" lvl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</a:pPr>
            <a:r>
              <a:rPr lang="ru" sz="1800" dirty="0">
                <a:solidFill>
                  <a:srgbClr val="1E1F21"/>
                </a:solidFill>
              </a:rPr>
              <a:t>Взять проект на работе;</a:t>
            </a:r>
            <a:endParaRPr lang="en-US" sz="1800" dirty="0">
              <a:solidFill>
                <a:srgbClr val="1E1F21"/>
              </a:solidFill>
            </a:endParaRPr>
          </a:p>
          <a:p>
            <a:pPr marL="114300" lvl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</a:pPr>
            <a:endParaRPr lang="en-US" sz="1800" dirty="0">
              <a:solidFill>
                <a:srgbClr val="1E1F21"/>
              </a:solidFill>
            </a:endParaRPr>
          </a:p>
          <a:p>
            <a:pPr marL="114300" lvl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</a:pPr>
            <a:endParaRPr sz="1800" dirty="0">
              <a:solidFill>
                <a:srgbClr val="1E1F21"/>
              </a:solidFill>
            </a:endParaRPr>
          </a:p>
          <a:p>
            <a:pPr marL="114300" lvl="0" algn="r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</a:pPr>
            <a:r>
              <a:rPr lang="ru-RU" sz="1800" dirty="0">
                <a:solidFill>
                  <a:srgbClr val="1E1F21"/>
                </a:solidFill>
              </a:rPr>
              <a:t>Собственный домашний проект;</a:t>
            </a:r>
            <a:endParaRPr sz="1800" dirty="0">
              <a:solidFill>
                <a:srgbClr val="1E1F21"/>
              </a:solidFill>
            </a:endParaRPr>
          </a:p>
          <a:p>
            <a:pPr marL="114300" lvl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</a:pPr>
            <a:endParaRPr lang="en-US" sz="1800" dirty="0">
              <a:solidFill>
                <a:srgbClr val="1E1F21"/>
              </a:solidFill>
            </a:endParaRPr>
          </a:p>
          <a:p>
            <a:pPr marL="114300" lvl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</a:pPr>
            <a:endParaRPr lang="en-US" sz="1800" dirty="0">
              <a:solidFill>
                <a:srgbClr val="1E1F21"/>
              </a:solidFill>
            </a:endParaRPr>
          </a:p>
          <a:p>
            <a:pPr marL="114300" lvl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</a:pPr>
            <a:r>
              <a:rPr lang="ru-RU" sz="1800" dirty="0">
                <a:solidFill>
                  <a:srgbClr val="1E1F21"/>
                </a:solidFill>
              </a:rPr>
              <a:t>Взять </a:t>
            </a:r>
            <a:r>
              <a:rPr lang="ru" sz="1800" dirty="0">
                <a:solidFill>
                  <a:srgbClr val="1E1F21"/>
                </a:solidFill>
              </a:rPr>
              <a:t>интересный вам проект </a:t>
            </a:r>
            <a:br>
              <a:rPr lang="en-US" sz="1800" dirty="0">
                <a:solidFill>
                  <a:srgbClr val="1E1F21"/>
                </a:solidFill>
              </a:rPr>
            </a:br>
            <a:r>
              <a:rPr lang="ru" sz="1800" dirty="0">
                <a:solidFill>
                  <a:srgbClr val="1E1F21"/>
                </a:solidFill>
              </a:rPr>
              <a:t>с </a:t>
            </a:r>
            <a:r>
              <a:rPr lang="en-US" sz="1800" dirty="0">
                <a:solidFill>
                  <a:srgbClr val="1E1F21"/>
                </a:solidFill>
                <a:hlinkClick r:id="rId3"/>
              </a:rPr>
              <a:t>https://www.kaggle.com</a:t>
            </a:r>
            <a:r>
              <a:rPr lang="ru" sz="1800" dirty="0">
                <a:solidFill>
                  <a:srgbClr val="1E1F21"/>
                </a:solidFill>
              </a:rPr>
              <a:t>.</a:t>
            </a:r>
            <a:endParaRPr sz="1800" dirty="0">
              <a:solidFill>
                <a:srgbClr val="1E1F21"/>
              </a:solidFill>
            </a:endParaRP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Как выбрать тему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574AD93-E7B9-8048-B3D1-0E5F2356AD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19089" y="1027296"/>
            <a:ext cx="2316681" cy="1544454"/>
          </a:xfrm>
          <a:prstGeom prst="rect">
            <a:avLst/>
          </a:prstGeom>
        </p:spPr>
      </p:pic>
      <p:pic>
        <p:nvPicPr>
          <p:cNvPr id="1026" name="Picture 2" descr="How to find data science talent on Kaggle">
            <a:extLst>
              <a:ext uri="{FF2B5EF4-FFF2-40B4-BE49-F238E27FC236}">
                <a16:creationId xmlns:a16="http://schemas.microsoft.com/office/drawing/2014/main" id="{4548062E-BE80-8D45-AD3F-2D149240EE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92127" y="3333750"/>
            <a:ext cx="2486025" cy="1657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Beginner's Python Financial Analysis Walk-through— Part 1 | by Keith Chan |  Analytics Vidhya | Medium">
            <a:extLst>
              <a:ext uri="{FF2B5EF4-FFF2-40B4-BE49-F238E27FC236}">
                <a16:creationId xmlns:a16="http://schemas.microsoft.com/office/drawing/2014/main" id="{EADC1BD0-2E07-034B-AFDC-CD035D082B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" y="1657349"/>
            <a:ext cx="2699403" cy="1629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705110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03793" y="1200150"/>
            <a:ext cx="77238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Сбор данных;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Очистка и предобработка данных;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Технический анализ;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Обратное тестирование;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Обогащение модели - ансамбль;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Результаты итогового ансамбля;</a:t>
            </a:r>
            <a:endParaRPr lang="en-US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Формат сдачи – презентация</a:t>
            </a:r>
            <a:r>
              <a:rPr lang="en-US" sz="1400" b="0" dirty="0">
                <a:solidFill>
                  <a:srgbClr val="1E1F21"/>
                </a:solidFill>
              </a:rPr>
              <a:t>;</a:t>
            </a:r>
            <a:br>
              <a:rPr lang="en-US" sz="1400" b="0" dirty="0">
                <a:solidFill>
                  <a:srgbClr val="1E1F21"/>
                </a:solidFill>
              </a:rPr>
            </a:br>
            <a:r>
              <a:rPr lang="ru-RU" sz="1400" b="0" dirty="0">
                <a:solidFill>
                  <a:srgbClr val="1E1F21"/>
                </a:solidFill>
              </a:rPr>
              <a:t>ссылка на </a:t>
            </a:r>
            <a:r>
              <a:rPr lang="en-US" sz="1400" b="0" dirty="0">
                <a:solidFill>
                  <a:srgbClr val="1E1F21"/>
                </a:solidFill>
              </a:rPr>
              <a:t>git </a:t>
            </a:r>
            <a:r>
              <a:rPr lang="ru-RU" sz="1400" b="0" dirty="0">
                <a:solidFill>
                  <a:srgbClr val="1E1F21"/>
                </a:solidFill>
              </a:rPr>
              <a:t>репозиторий – опционально.</a:t>
            </a:r>
            <a:endParaRPr sz="1400" b="0" dirty="0">
              <a:solidFill>
                <a:srgbClr val="1E1F21"/>
              </a:solidFill>
            </a:endParaRP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Стандартный проект – торговый робот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233164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/>
              <a:t>Программа</a:t>
            </a:r>
            <a:endParaRPr lang="ru-RU" spc="-10"/>
          </a:p>
        </p:txBody>
      </p:sp>
      <p:pic>
        <p:nvPicPr>
          <p:cNvPr id="18" name="object 1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334000" y="3140594"/>
            <a:ext cx="3051175" cy="1752445"/>
          </a:xfrm>
          <a:prstGeom prst="rect">
            <a:avLst/>
          </a:prstGeom>
        </p:spPr>
      </p:pic>
      <p:sp>
        <p:nvSpPr>
          <p:cNvPr id="20" name="object 20"/>
          <p:cNvSpPr txBox="1"/>
          <p:nvPr/>
        </p:nvSpPr>
        <p:spPr>
          <a:xfrm>
            <a:off x="1233720" y="1780267"/>
            <a:ext cx="52641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400" dirty="0">
                <a:latin typeface="Calibri"/>
                <a:cs typeface="Calibri"/>
              </a:rPr>
              <a:t>1</a:t>
            </a:r>
            <a:r>
              <a:rPr lang="ru-RU" sz="1400" dirty="0">
                <a:latin typeface="Calibri"/>
                <a:cs typeface="Calibri"/>
              </a:rPr>
              <a:t>2</a:t>
            </a:r>
            <a:r>
              <a:rPr sz="1400" dirty="0">
                <a:latin typeface="Calibri"/>
                <a:cs typeface="Calibri"/>
              </a:rPr>
              <a:t>.</a:t>
            </a:r>
            <a:r>
              <a:rPr lang="en-US" sz="1400" dirty="0">
                <a:latin typeface="Calibri"/>
                <a:cs typeface="Calibri"/>
              </a:rPr>
              <a:t>02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spc="-50" dirty="0">
                <a:latin typeface="Calibri"/>
                <a:cs typeface="Calibri"/>
              </a:rPr>
              <a:t>-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23" name="object 22">
            <a:extLst>
              <a:ext uri="{FF2B5EF4-FFF2-40B4-BE49-F238E27FC236}">
                <a16:creationId xmlns:a16="http://schemas.microsoft.com/office/drawing/2014/main" id="{6D51FBD1-EE22-BB4C-B22B-62B217530E17}"/>
              </a:ext>
            </a:extLst>
          </p:cNvPr>
          <p:cNvSpPr txBox="1"/>
          <p:nvPr/>
        </p:nvSpPr>
        <p:spPr>
          <a:xfrm>
            <a:off x="1233720" y="3943986"/>
            <a:ext cx="52641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400" dirty="0">
                <a:latin typeface="Calibri"/>
                <a:cs typeface="Calibri"/>
              </a:rPr>
              <a:t>13</a:t>
            </a:r>
            <a:r>
              <a:rPr sz="1400" dirty="0">
                <a:latin typeface="Calibri"/>
                <a:cs typeface="Calibri"/>
              </a:rPr>
              <a:t>.</a:t>
            </a:r>
            <a:r>
              <a:rPr lang="en-US" sz="1400" dirty="0">
                <a:latin typeface="Calibri"/>
                <a:cs typeface="Calibri"/>
              </a:rPr>
              <a:t>04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spc="-50" dirty="0">
                <a:latin typeface="Calibri"/>
                <a:cs typeface="Calibri"/>
              </a:rPr>
              <a:t>-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F7915779-E234-3C4D-BA4F-EE25401C044E}"/>
              </a:ext>
            </a:extLst>
          </p:cNvPr>
          <p:cNvSpPr/>
          <p:nvPr/>
        </p:nvSpPr>
        <p:spPr>
          <a:xfrm>
            <a:off x="579274" y="1051909"/>
            <a:ext cx="2613025" cy="579755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Курсовой проект</a:t>
            </a: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7" name="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13799" y="1160272"/>
            <a:ext cx="419929" cy="396000"/>
          </a:xfrm>
          <a:prstGeom prst="rect">
            <a:avLst/>
          </a:prstGeom>
        </p:spPr>
      </p:pic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6DFC3E53-6FFD-6D45-903D-08C54E65F5DB}"/>
              </a:ext>
            </a:extLst>
          </p:cNvPr>
          <p:cNvSpPr/>
          <p:nvPr/>
        </p:nvSpPr>
        <p:spPr>
          <a:xfrm>
            <a:off x="2225090" y="3860000"/>
            <a:ext cx="3051175" cy="396240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Завершение курса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A6298207-2573-9240-B60B-F5E23F446C25}"/>
              </a:ext>
            </a:extLst>
          </p:cNvPr>
          <p:cNvSpPr/>
          <p:nvPr/>
        </p:nvSpPr>
        <p:spPr>
          <a:xfrm>
            <a:off x="2225087" y="3140594"/>
            <a:ext cx="3051175" cy="396240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Защита проектных работ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612C9734-FC8F-C24C-940E-4BD2B5FA68F3}"/>
              </a:ext>
            </a:extLst>
          </p:cNvPr>
          <p:cNvSpPr/>
          <p:nvPr/>
        </p:nvSpPr>
        <p:spPr>
          <a:xfrm>
            <a:off x="2225089" y="1701782"/>
            <a:ext cx="5356225" cy="396240"/>
          </a:xfrm>
          <a:prstGeom prst="roundRect">
            <a:avLst/>
          </a:prstGeom>
          <a:solidFill>
            <a:srgbClr val="FFD966"/>
          </a:solidFill>
          <a:ln>
            <a:noFill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Планирование и разработка проекта</a:t>
            </a:r>
          </a:p>
        </p:txBody>
      </p: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63630A9D-7233-354A-9488-10021EC04EFB}"/>
              </a:ext>
            </a:extLst>
          </p:cNvPr>
          <p:cNvCxnSpPr>
            <a:stCxn id="14" idx="2"/>
            <a:endCxn id="27" idx="1"/>
          </p:cNvCxnSpPr>
          <p:nvPr/>
        </p:nvCxnSpPr>
        <p:spPr>
          <a:xfrm rot="16200000" flipH="1">
            <a:off x="1921319" y="1596132"/>
            <a:ext cx="268238" cy="33930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Elbow Connector 30">
            <a:extLst>
              <a:ext uri="{FF2B5EF4-FFF2-40B4-BE49-F238E27FC236}">
                <a16:creationId xmlns:a16="http://schemas.microsoft.com/office/drawing/2014/main" id="{0DED9A16-3DDE-E148-A5A8-8B84FD095158}"/>
              </a:ext>
            </a:extLst>
          </p:cNvPr>
          <p:cNvCxnSpPr>
            <a:cxnSpLocks/>
            <a:stCxn id="14" idx="2"/>
            <a:endCxn id="25" idx="1"/>
          </p:cNvCxnSpPr>
          <p:nvPr/>
        </p:nvCxnSpPr>
        <p:spPr>
          <a:xfrm rot="16200000" flipH="1">
            <a:off x="1201912" y="2315539"/>
            <a:ext cx="1707050" cy="3393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Elbow Connector 33">
            <a:extLst>
              <a:ext uri="{FF2B5EF4-FFF2-40B4-BE49-F238E27FC236}">
                <a16:creationId xmlns:a16="http://schemas.microsoft.com/office/drawing/2014/main" id="{29D8802E-3943-C54F-8F3F-8B24A3DD8DE1}"/>
              </a:ext>
            </a:extLst>
          </p:cNvPr>
          <p:cNvCxnSpPr>
            <a:cxnSpLocks/>
            <a:stCxn id="14" idx="2"/>
            <a:endCxn id="15" idx="1"/>
          </p:cNvCxnSpPr>
          <p:nvPr/>
        </p:nvCxnSpPr>
        <p:spPr>
          <a:xfrm rot="16200000" flipH="1">
            <a:off x="842210" y="2675240"/>
            <a:ext cx="2426456" cy="33930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ECA9C855-8405-1042-A7A3-03DDDAF8EC9D}"/>
              </a:ext>
            </a:extLst>
          </p:cNvPr>
          <p:cNvSpPr/>
          <p:nvPr/>
        </p:nvSpPr>
        <p:spPr>
          <a:xfrm>
            <a:off x="2225087" y="2421188"/>
            <a:ext cx="5356225" cy="396240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Консультация - Оценка результатов и практическое внедрение</a:t>
            </a:r>
          </a:p>
        </p:txBody>
      </p:sp>
      <p:cxnSp>
        <p:nvCxnSpPr>
          <p:cNvPr id="32" name="Elbow Connector 31">
            <a:extLst>
              <a:ext uri="{FF2B5EF4-FFF2-40B4-BE49-F238E27FC236}">
                <a16:creationId xmlns:a16="http://schemas.microsoft.com/office/drawing/2014/main" id="{48D2B90B-95B9-2D45-9468-A9C29C9DE3B3}"/>
              </a:ext>
            </a:extLst>
          </p:cNvPr>
          <p:cNvCxnSpPr>
            <a:cxnSpLocks/>
            <a:stCxn id="14" idx="2"/>
            <a:endCxn id="30" idx="1"/>
          </p:cNvCxnSpPr>
          <p:nvPr/>
        </p:nvCxnSpPr>
        <p:spPr>
          <a:xfrm rot="16200000" flipH="1">
            <a:off x="1561615" y="1955836"/>
            <a:ext cx="987644" cy="3393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object 20">
            <a:extLst>
              <a:ext uri="{FF2B5EF4-FFF2-40B4-BE49-F238E27FC236}">
                <a16:creationId xmlns:a16="http://schemas.microsoft.com/office/drawing/2014/main" id="{553DAF47-5CB3-5746-BEF8-F576501F4A23}"/>
              </a:ext>
            </a:extLst>
          </p:cNvPr>
          <p:cNvSpPr txBox="1"/>
          <p:nvPr/>
        </p:nvSpPr>
        <p:spPr>
          <a:xfrm>
            <a:off x="1233717" y="2485188"/>
            <a:ext cx="652066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1400" b="1" dirty="0">
                <a:solidFill>
                  <a:srgbClr val="FF0000"/>
                </a:solidFill>
                <a:latin typeface="Calibri"/>
                <a:cs typeface="Calibri"/>
              </a:rPr>
              <a:t>26</a:t>
            </a:r>
            <a:r>
              <a:rPr sz="1400" b="1" dirty="0">
                <a:solidFill>
                  <a:srgbClr val="FF0000"/>
                </a:solidFill>
                <a:latin typeface="Calibri"/>
                <a:cs typeface="Calibri"/>
              </a:rPr>
              <a:t>.</a:t>
            </a:r>
            <a:r>
              <a:rPr lang="ru-RU" sz="1400" b="1" dirty="0">
                <a:solidFill>
                  <a:srgbClr val="FF0000"/>
                </a:solidFill>
                <a:latin typeface="Calibri"/>
                <a:cs typeface="Calibri"/>
              </a:rPr>
              <a:t>03</a:t>
            </a:r>
            <a:r>
              <a:rPr sz="1400" b="1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400" b="1" spc="-50" dirty="0">
                <a:solidFill>
                  <a:srgbClr val="FF0000"/>
                </a:solidFill>
                <a:latin typeface="Calibri"/>
                <a:cs typeface="Calibri"/>
              </a:rPr>
              <a:t>-</a:t>
            </a:r>
            <a:r>
              <a:rPr lang="ru-RU" sz="1400" b="1" spc="-50" dirty="0">
                <a:solidFill>
                  <a:srgbClr val="FF0000"/>
                </a:solidFill>
                <a:latin typeface="Calibri"/>
                <a:cs typeface="Calibri"/>
              </a:rPr>
              <a:t> ?</a:t>
            </a:r>
            <a:endParaRPr sz="1400" b="1" dirty="0">
              <a:solidFill>
                <a:srgbClr val="FF0000"/>
              </a:solidFill>
              <a:latin typeface="Calibri"/>
              <a:cs typeface="Calibri"/>
            </a:endParaRPr>
          </a:p>
        </p:txBody>
      </p:sp>
      <p:sp>
        <p:nvSpPr>
          <p:cNvPr id="22" name="object 20">
            <a:extLst>
              <a:ext uri="{FF2B5EF4-FFF2-40B4-BE49-F238E27FC236}">
                <a16:creationId xmlns:a16="http://schemas.microsoft.com/office/drawing/2014/main" id="{84A34ED1-CCAE-B34E-9C32-8CF19829437D}"/>
              </a:ext>
            </a:extLst>
          </p:cNvPr>
          <p:cNvSpPr txBox="1"/>
          <p:nvPr/>
        </p:nvSpPr>
        <p:spPr>
          <a:xfrm>
            <a:off x="1233717" y="3204594"/>
            <a:ext cx="652066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400" b="1" dirty="0">
                <a:solidFill>
                  <a:srgbClr val="FF0000"/>
                </a:solidFill>
                <a:latin typeface="Calibri"/>
                <a:cs typeface="Calibri"/>
              </a:rPr>
              <a:t>08</a:t>
            </a:r>
            <a:r>
              <a:rPr sz="1400" b="1" dirty="0">
                <a:solidFill>
                  <a:srgbClr val="FF0000"/>
                </a:solidFill>
                <a:latin typeface="Calibri"/>
                <a:cs typeface="Calibri"/>
              </a:rPr>
              <a:t>.</a:t>
            </a:r>
            <a:r>
              <a:rPr lang="en-US" sz="1400" b="1" dirty="0">
                <a:solidFill>
                  <a:srgbClr val="FF0000"/>
                </a:solidFill>
                <a:latin typeface="Calibri"/>
                <a:cs typeface="Calibri"/>
              </a:rPr>
              <a:t>04</a:t>
            </a:r>
            <a:r>
              <a:rPr sz="1400" b="1" spc="-4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400" b="1" spc="-50" dirty="0">
                <a:solidFill>
                  <a:srgbClr val="FF0000"/>
                </a:solidFill>
                <a:latin typeface="Calibri"/>
                <a:cs typeface="Calibri"/>
              </a:rPr>
              <a:t>-</a:t>
            </a:r>
            <a:r>
              <a:rPr lang="ru-RU" sz="1400" b="1" spc="-50" dirty="0">
                <a:solidFill>
                  <a:srgbClr val="FF0000"/>
                </a:solidFill>
                <a:latin typeface="Calibri"/>
                <a:cs typeface="Calibri"/>
              </a:rPr>
              <a:t> ?</a:t>
            </a:r>
            <a:endParaRPr sz="1400" b="1" dirty="0">
              <a:solidFill>
                <a:srgbClr val="FF0000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34597" y="1504950"/>
            <a:ext cx="77238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Постановка</a:t>
            </a:r>
            <a:r>
              <a:rPr lang="en-US" sz="1400" b="0" dirty="0">
                <a:solidFill>
                  <a:srgbClr val="1E1F21"/>
                </a:solidFill>
              </a:rPr>
              <a:t> </a:t>
            </a:r>
            <a:r>
              <a:rPr lang="ru-RU" sz="1400" b="0" dirty="0">
                <a:solidFill>
                  <a:srgbClr val="1E1F21"/>
                </a:solidFill>
              </a:rPr>
              <a:t>задачи;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Сбор, очистка и предобработка данных;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Предварительная оценка идеи (для торгового робота – технический анализ);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Ансамбль – архитектура, модели;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Полученные результаты;</a:t>
            </a:r>
            <a:endParaRPr lang="en-US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Что планировалось на этапе выбора проекта и что получилось. Причины отклонений.</a:t>
            </a: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Защита проекта - презентация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680503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34597" y="1504950"/>
            <a:ext cx="77238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Используйте облачные технологии – даже бесплатный </a:t>
            </a:r>
            <a:r>
              <a:rPr lang="en-US" sz="1400" b="0" dirty="0">
                <a:solidFill>
                  <a:srgbClr val="1E1F21"/>
                </a:solidFill>
              </a:rPr>
              <a:t>google </a:t>
            </a:r>
            <a:r>
              <a:rPr lang="en-US" sz="1400" b="0" dirty="0" err="1">
                <a:solidFill>
                  <a:srgbClr val="1E1F21"/>
                </a:solidFill>
              </a:rPr>
              <a:t>colab</a:t>
            </a:r>
            <a:r>
              <a:rPr lang="en-US" sz="1400" b="0" dirty="0">
                <a:solidFill>
                  <a:srgbClr val="1E1F21"/>
                </a:solidFill>
              </a:rPr>
              <a:t> </a:t>
            </a:r>
            <a:r>
              <a:rPr lang="ru-RU" sz="1400" b="0" dirty="0">
                <a:solidFill>
                  <a:srgbClr val="1E1F21"/>
                </a:solidFill>
              </a:rPr>
              <a:t>позволяет учить модели эффективнее, чем личный ноутбук.</a:t>
            </a:r>
          </a:p>
          <a:p>
            <a:pPr marL="457200" indent="-342900" algn="l" rtl="0">
              <a:lnSpc>
                <a:spcPct val="115000"/>
              </a:lnSpc>
              <a:spcAft>
                <a:spcPts val="600"/>
              </a:spcAft>
              <a:buClr>
                <a:srgbClr val="FF7700"/>
              </a:buClr>
              <a:buSzPts val="1800"/>
              <a:buFontTx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Помните про </a:t>
            </a:r>
            <a:r>
              <a:rPr lang="en-US" sz="1400" b="0" dirty="0">
                <a:solidFill>
                  <a:srgbClr val="1E1F21"/>
                </a:solidFill>
              </a:rPr>
              <a:t>AGILE. </a:t>
            </a:r>
            <a:r>
              <a:rPr lang="ru-RU" sz="1400" b="0" dirty="0">
                <a:solidFill>
                  <a:srgbClr val="1E1F21"/>
                </a:solidFill>
              </a:rPr>
              <a:t>Начните с </a:t>
            </a:r>
            <a:r>
              <a:rPr lang="en-US" sz="1400" b="0" dirty="0">
                <a:solidFill>
                  <a:srgbClr val="1E1F21"/>
                </a:solidFill>
              </a:rPr>
              <a:t>MVP </a:t>
            </a:r>
            <a:r>
              <a:rPr lang="ru-RU" sz="1400" b="0" dirty="0">
                <a:solidFill>
                  <a:srgbClr val="1E1F21"/>
                </a:solidFill>
              </a:rPr>
              <a:t>и наращивайте функциональность.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Все решения оформляйте в репозитории. 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Для каждого этапа открывайте ветку, добивайтесь стабильной работы и потом сливайте ее в основную ветку. Формируйте метки релизов для каждого этапа.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endParaRPr lang="ru-RU" sz="1400" b="0" dirty="0">
              <a:solidFill>
                <a:srgbClr val="1E1F21"/>
              </a:solidFill>
            </a:endParaRP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Курсовой проект - рекомендации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295819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79274" y="873252"/>
            <a:ext cx="7068184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3200" b="1" spc="-50">
                <a:latin typeface="Trebuchet MS"/>
                <a:cs typeface="Trebuchet MS"/>
              </a:rPr>
              <a:t>Приходите</a:t>
            </a:r>
            <a:r>
              <a:rPr lang="ru-RU" sz="3200" b="1" spc="-190">
                <a:latin typeface="Trebuchet MS"/>
                <a:cs typeface="Trebuchet MS"/>
              </a:rPr>
              <a:t> </a:t>
            </a:r>
            <a:r>
              <a:rPr lang="ru-RU" sz="3200" b="1" spc="-20">
                <a:latin typeface="Trebuchet MS"/>
                <a:cs typeface="Trebuchet MS"/>
              </a:rPr>
              <a:t>на</a:t>
            </a:r>
            <a:r>
              <a:rPr lang="ru-RU" sz="3200" b="1" spc="-180">
                <a:latin typeface="Trebuchet MS"/>
                <a:cs typeface="Trebuchet MS"/>
              </a:rPr>
              <a:t> </a:t>
            </a:r>
            <a:r>
              <a:rPr lang="ru-RU" sz="3200" b="1" spc="-30">
                <a:latin typeface="Trebuchet MS"/>
                <a:cs typeface="Trebuchet MS"/>
              </a:rPr>
              <a:t>следующие</a:t>
            </a:r>
            <a:r>
              <a:rPr lang="ru-RU" sz="3200" b="1" spc="-185">
                <a:latin typeface="Trebuchet MS"/>
                <a:cs typeface="Trebuchet MS"/>
              </a:rPr>
              <a:t> </a:t>
            </a:r>
            <a:r>
              <a:rPr lang="ru-RU" sz="3200" b="1" spc="-10">
                <a:latin typeface="Trebuchet MS"/>
                <a:cs typeface="Trebuchet MS"/>
              </a:rPr>
              <a:t>вебинары</a:t>
            </a:r>
            <a:endParaRPr lang="ru-RU" sz="3200">
              <a:latin typeface="Trebuchet MS"/>
              <a:cs typeface="Trebuchet MS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79274" y="522223"/>
            <a:ext cx="2023110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0" dirty="0">
                <a:solidFill>
                  <a:srgbClr val="FF9900"/>
                </a:solidFill>
                <a:latin typeface="Trebuchet MS"/>
                <a:cs typeface="Trebuchet MS"/>
              </a:rPr>
              <a:t>Спасибо</a:t>
            </a:r>
            <a:r>
              <a:rPr sz="1500" b="0" spc="20" dirty="0">
                <a:solidFill>
                  <a:srgbClr val="FF9900"/>
                </a:solidFill>
                <a:latin typeface="Trebuchet MS"/>
                <a:cs typeface="Trebuchet MS"/>
              </a:rPr>
              <a:t> </a:t>
            </a:r>
            <a:r>
              <a:rPr sz="1500" b="0" spc="55" dirty="0">
                <a:solidFill>
                  <a:srgbClr val="FF9900"/>
                </a:solidFill>
                <a:latin typeface="Trebuchet MS"/>
                <a:cs typeface="Trebuchet MS"/>
              </a:rPr>
              <a:t>за</a:t>
            </a:r>
            <a:r>
              <a:rPr sz="1500" b="0" spc="35" dirty="0">
                <a:solidFill>
                  <a:srgbClr val="FF9900"/>
                </a:solidFill>
                <a:latin typeface="Trebuchet MS"/>
                <a:cs typeface="Trebuchet MS"/>
              </a:rPr>
              <a:t> </a:t>
            </a:r>
            <a:r>
              <a:rPr sz="1500" b="0" spc="-10" dirty="0">
                <a:solidFill>
                  <a:srgbClr val="FF9900"/>
                </a:solidFill>
                <a:latin typeface="Trebuchet MS"/>
                <a:cs typeface="Trebuchet MS"/>
              </a:rPr>
              <a:t>внимание!</a:t>
            </a:r>
            <a:endParaRPr sz="1500">
              <a:latin typeface="Trebuchet MS"/>
              <a:cs typeface="Trebuchet MS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06551" y="2703050"/>
            <a:ext cx="2115820" cy="2439035"/>
            <a:chOff x="606551" y="2703050"/>
            <a:chExt cx="2115820" cy="2439035"/>
          </a:xfrm>
        </p:grpSpPr>
        <p:sp>
          <p:nvSpPr>
            <p:cNvPr id="5" name="object 5"/>
            <p:cNvSpPr/>
            <p:nvPr/>
          </p:nvSpPr>
          <p:spPr>
            <a:xfrm>
              <a:off x="629999" y="2703050"/>
              <a:ext cx="1034415" cy="1983739"/>
            </a:xfrm>
            <a:custGeom>
              <a:avLst/>
              <a:gdLst/>
              <a:ahLst/>
              <a:cxnLst/>
              <a:rect l="l" t="t" r="r" b="b"/>
              <a:pathLst>
                <a:path w="1034414" h="1983739">
                  <a:moveTo>
                    <a:pt x="1033800" y="0"/>
                  </a:moveTo>
                  <a:lnTo>
                    <a:pt x="0" y="0"/>
                  </a:lnTo>
                  <a:lnTo>
                    <a:pt x="0" y="1983599"/>
                  </a:lnTo>
                  <a:lnTo>
                    <a:pt x="1033800" y="1983599"/>
                  </a:lnTo>
                  <a:lnTo>
                    <a:pt x="1033800" y="0"/>
                  </a:lnTo>
                  <a:close/>
                </a:path>
              </a:pathLst>
            </a:custGeom>
            <a:solidFill>
              <a:srgbClr val="FFAB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06551" y="2846831"/>
              <a:ext cx="2115312" cy="2295144"/>
            </a:xfrm>
            <a:prstGeom prst="rect">
              <a:avLst/>
            </a:prstGeom>
          </p:spPr>
        </p:pic>
      </p:grpSp>
      <p:sp>
        <p:nvSpPr>
          <p:cNvPr id="10" name="Google Shape;208;p48">
            <a:extLst>
              <a:ext uri="{FF2B5EF4-FFF2-40B4-BE49-F238E27FC236}">
                <a16:creationId xmlns:a16="http://schemas.microsoft.com/office/drawing/2014/main" id="{F45B4F46-1E82-E94D-A2CF-50DA3C5B7EC6}"/>
              </a:ext>
            </a:extLst>
          </p:cNvPr>
          <p:cNvSpPr txBox="1">
            <a:spLocks/>
          </p:cNvSpPr>
          <p:nvPr/>
        </p:nvSpPr>
        <p:spPr>
          <a:xfrm>
            <a:off x="3082400" y="2302060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l" rtl="0"/>
            <a:r>
              <a:rPr lang="ru-RU" b="1" dirty="0"/>
              <a:t>Игорь Стурейко</a:t>
            </a:r>
          </a:p>
        </p:txBody>
      </p:sp>
      <p:sp>
        <p:nvSpPr>
          <p:cNvPr id="11" name="Google Shape;209;p48">
            <a:extLst>
              <a:ext uri="{FF2B5EF4-FFF2-40B4-BE49-F238E27FC236}">
                <a16:creationId xmlns:a16="http://schemas.microsoft.com/office/drawing/2014/main" id="{D033A29A-5C61-8440-A7AA-1A792E6BB829}"/>
              </a:ext>
            </a:extLst>
          </p:cNvPr>
          <p:cNvSpPr txBox="1">
            <a:spLocks/>
          </p:cNvSpPr>
          <p:nvPr/>
        </p:nvSpPr>
        <p:spPr>
          <a:xfrm>
            <a:off x="3082400" y="2701811"/>
            <a:ext cx="5938750" cy="2133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70025" indent="-1465263">
              <a:tabLst>
                <a:tab pos="1465263" algn="l"/>
              </a:tabLst>
            </a:pPr>
            <a:r>
              <a:rPr lang="ru-RU" sz="1150" b="1" kern="0" dirty="0"/>
              <a:t>Руководитель курсов: </a:t>
            </a:r>
            <a:r>
              <a:rPr lang="en-US" sz="1150" b="1" kern="0" dirty="0"/>
              <a:t>	Reinforcement Learning, ML Professional, ML Basic, </a:t>
            </a:r>
            <a:br>
              <a:rPr lang="en-US" sz="1150" b="1" kern="0" dirty="0"/>
            </a:br>
            <a:r>
              <a:rPr lang="en-US" sz="1150" b="1" kern="0" dirty="0" err="1"/>
              <a:t>MLOps</a:t>
            </a:r>
            <a:r>
              <a:rPr lang="en-US" sz="1150" b="1" kern="0" dirty="0"/>
              <a:t>, </a:t>
            </a:r>
            <a:r>
              <a:rPr lang="en-US" sz="1150" b="1" kern="0" dirty="0" err="1"/>
              <a:t>FinML</a:t>
            </a:r>
            <a:endParaRPr lang="en-US" sz="1150" b="1" kern="0" dirty="0"/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 err="1"/>
              <a:t>Teamlead</a:t>
            </a:r>
            <a:r>
              <a:rPr lang="en-US" sz="1150" b="1" kern="0" dirty="0"/>
              <a:t>, </a:t>
            </a:r>
            <a:r>
              <a:rPr lang="ru-RU" sz="1150" b="1" kern="0" dirty="0"/>
              <a:t>главный инженер проекта, </a:t>
            </a:r>
          </a:p>
          <a:p>
            <a:pPr rtl="0"/>
            <a:r>
              <a:rPr lang="ru-RU" sz="1150" b="1" kern="0" dirty="0"/>
              <a:t>Физический факультет МГУ, </a:t>
            </a:r>
            <a:r>
              <a:rPr lang="en-US" sz="1150" b="1" kern="0" dirty="0"/>
              <a:t>PhD </a:t>
            </a:r>
            <a:r>
              <a:rPr lang="ru-RU" sz="1150" b="1" kern="0" dirty="0"/>
              <a:t>теоретическая физика</a:t>
            </a:r>
          </a:p>
          <a:p>
            <a:pPr rtl="0"/>
            <a:endParaRPr lang="ru-RU" sz="1150" kern="0" dirty="0"/>
          </a:p>
          <a:p>
            <a:pPr rtl="0"/>
            <a:r>
              <a:rPr lang="ru-RU" sz="1150" b="1" kern="0" dirty="0"/>
              <a:t>Опыт:</a:t>
            </a:r>
            <a:endParaRPr lang="ru-RU" sz="1150" kern="0" dirty="0"/>
          </a:p>
          <a:p>
            <a:pPr rtl="0"/>
            <a:r>
              <a:rPr lang="ru-RU" sz="1150" kern="0" dirty="0"/>
              <a:t>Более 20 лет занимался прикладной математикой и мат моделированием</a:t>
            </a:r>
          </a:p>
          <a:p>
            <a:pPr rtl="0"/>
            <a:r>
              <a:rPr lang="ru-RU" sz="1150" kern="0" dirty="0"/>
              <a:t>(</a:t>
            </a:r>
            <a:r>
              <a:rPr lang="en-US" sz="1150" kern="0" dirty="0"/>
              <a:t>Data Scientist) (Python, </a:t>
            </a:r>
            <a:r>
              <a:rPr lang="ru-RU" sz="1150" kern="0" dirty="0"/>
              <a:t>С++)</a:t>
            </a:r>
          </a:p>
          <a:p>
            <a:pPr rtl="0"/>
            <a:endParaRPr lang="ru-RU" sz="1150" kern="0" dirty="0"/>
          </a:p>
          <a:p>
            <a:pPr rtl="0"/>
            <a:endParaRPr lang="ru-RU" sz="1150" b="1" kern="0" dirty="0"/>
          </a:p>
          <a:p>
            <a:pPr rtl="0"/>
            <a:r>
              <a:rPr lang="ru-RU" sz="1150" b="1" kern="0" dirty="0"/>
              <a:t>@</a:t>
            </a:r>
            <a:r>
              <a:rPr lang="en-US" sz="1150" b="1" kern="0" dirty="0" err="1"/>
              <a:t>stureiko</a:t>
            </a:r>
            <a:r>
              <a:rPr lang="en-US" sz="1150" b="1" kern="0" dirty="0"/>
              <a:t> (TG)</a:t>
            </a:r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/>
              <a:t>LinkedIn: </a:t>
            </a:r>
            <a:r>
              <a:rPr lang="en-US" sz="1150" kern="0" dirty="0">
                <a:hlinkClick r:id="rId3"/>
              </a:rPr>
              <a:t>igor-stureiko</a:t>
            </a:r>
            <a:r>
              <a:rPr lang="en-US" sz="1150" kern="0" dirty="0"/>
              <a:t> </a:t>
            </a:r>
          </a:p>
          <a:p>
            <a:pPr rtl="0"/>
            <a:endParaRPr lang="en-US" sz="1150" kern="0" dirty="0"/>
          </a:p>
          <a:p>
            <a:pPr rtl="0"/>
            <a:r>
              <a:rPr lang="en-US" sz="1150" b="1" kern="0" dirty="0"/>
              <a:t>@</a:t>
            </a:r>
            <a:r>
              <a:rPr lang="en-US" sz="1150" b="1" kern="0" dirty="0" err="1"/>
              <a:t>rl_fintech</a:t>
            </a:r>
            <a:r>
              <a:rPr lang="en-US" sz="1150" b="1" kern="0" dirty="0"/>
              <a:t> </a:t>
            </a:r>
            <a:r>
              <a:rPr lang="en-US" sz="1150" kern="0" dirty="0"/>
              <a:t>(</a:t>
            </a:r>
            <a:r>
              <a:rPr lang="ru-RU" sz="1150" kern="0" dirty="0"/>
              <a:t>Мой канал о моделях в бизнесе)</a:t>
            </a:r>
            <a:endParaRPr lang="ru-RU" sz="1400" kern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97A7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536</TotalTime>
  <Words>562</Words>
  <Application>Microsoft Macintosh PowerPoint</Application>
  <PresentationFormat>On-screen Show (16:9)</PresentationFormat>
  <Paragraphs>129</Paragraphs>
  <Slides>13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Apple Chancery</vt:lpstr>
      <vt:lpstr>Arial</vt:lpstr>
      <vt:lpstr>Calibri</vt:lpstr>
      <vt:lpstr>Roboto</vt:lpstr>
      <vt:lpstr>Trebuchet MS</vt:lpstr>
      <vt:lpstr>Office Theme</vt:lpstr>
      <vt:lpstr>ML для финансового анализа Course project</vt:lpstr>
      <vt:lpstr>Проверить, идет ли запись</vt:lpstr>
      <vt:lpstr>Правила вебинара</vt:lpstr>
      <vt:lpstr>ML для финансового анализа Course project</vt:lpstr>
      <vt:lpstr>Карта курса</vt:lpstr>
      <vt:lpstr>Маршрут вебинара</vt:lpstr>
      <vt:lpstr>Проектная работа</vt:lpstr>
      <vt:lpstr>Как выбрать тему</vt:lpstr>
      <vt:lpstr>Стандартный проект – торговый робот</vt:lpstr>
      <vt:lpstr>Программа</vt:lpstr>
      <vt:lpstr>Защита проекта - презентация</vt:lpstr>
      <vt:lpstr>Курсовой проект - рекомендации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ML Ops</dc:title>
  <cp:lastModifiedBy>Стурейко Игорь Олегович</cp:lastModifiedBy>
  <cp:revision>20</cp:revision>
  <dcterms:created xsi:type="dcterms:W3CDTF">2024-07-23T07:20:56Z</dcterms:created>
  <dcterms:modified xsi:type="dcterms:W3CDTF">2026-02-12T11:30:41Z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2024-05-22T00:00:00Z</vt:filetime>
  </property>
  <property fmtid="{D5CDD505-2E9C-101B-9397-08002B2CF9AE}" pid="3" name="LastSaved">
    <vt:filetime>2024-07-23T00:00:00Z</vt:filetime>
  </property>
  <property fmtid="{D5CDD505-2E9C-101B-9397-08002B2CF9AE}" pid="4" name="Producer">
    <vt:lpwstr>macOS Version 14.2.1 (Build 23C71) Quartz PDFContext</vt:lpwstr>
  </property>
</Properties>
</file>