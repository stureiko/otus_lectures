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271" r:id="rId12"/>
    <p:sldId id="412" r:id="rId13"/>
    <p:sldId id="488" r:id="rId14"/>
    <p:sldId id="489" r:id="rId15"/>
    <p:sldId id="490" r:id="rId16"/>
    <p:sldId id="491" r:id="rId17"/>
    <p:sldId id="272" r:id="rId18"/>
    <p:sldId id="288" r:id="rId19"/>
    <p:sldId id="474" r:id="rId20"/>
    <p:sldId id="372" r:id="rId21"/>
    <p:sldId id="487" r:id="rId22"/>
    <p:sldId id="475" r:id="rId23"/>
    <p:sldId id="476" r:id="rId24"/>
    <p:sldId id="477" r:id="rId25"/>
    <p:sldId id="478" r:id="rId26"/>
    <p:sldId id="480" r:id="rId27"/>
    <p:sldId id="401" r:id="rId28"/>
    <p:sldId id="289" r:id="rId29"/>
    <p:sldId id="303" r:id="rId3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PYpIEd0dJePW5dEB9Z++1uru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0EB961-79C1-4C73-A6D6-1B561CECD990}">
  <a:tblStyle styleId="{BD0EB961-79C1-4C73-A6D6-1B561CECD9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CC8CC3A-E459-4CBE-A112-A7EF1DD067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6"/>
    <p:restoredTop sz="94681"/>
  </p:normalViewPr>
  <p:slideViewPr>
    <p:cSldViewPr snapToGrid="0">
      <p:cViewPr varScale="1">
        <p:scale>
          <a:sx n="280" d="100"/>
          <a:sy n="280" d="100"/>
        </p:scale>
        <p:origin x="1456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120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636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1407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3357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163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2dd10932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f2dd10932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1565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1462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1606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154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922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601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/>
          <p:cNvPicPr preferRelativeResize="0"/>
          <p:nvPr/>
        </p:nvPicPr>
        <p:blipFill rotWithShape="1">
          <a:blip r:embed="rId2">
            <a:alphaModFix/>
          </a:blip>
          <a:srcRect l="98" r="97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9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" name="Google Shape;27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>
            <a:spLocks noGrp="1"/>
          </p:cNvSpPr>
          <p:nvPr>
            <p:ph type="body" idx="1"/>
          </p:nvPr>
        </p:nvSpPr>
        <p:spPr>
          <a:xfrm>
            <a:off x="165100" y="736482"/>
            <a:ext cx="8578850" cy="39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2400"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2400"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8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800"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800"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800"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800"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800"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title"/>
          </p:nvPr>
        </p:nvSpPr>
        <p:spPr>
          <a:xfrm>
            <a:off x="165100" y="185639"/>
            <a:ext cx="3225800" cy="36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>
                <a:solidFill>
                  <a:srgbClr val="0230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/>
          <p:nvPr/>
        </p:nvSpPr>
        <p:spPr>
          <a:xfrm>
            <a:off x="203200" y="4387850"/>
            <a:ext cx="1676400" cy="552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5"/>
          <p:cNvSpPr txBox="1">
            <a:spLocks noGrp="1"/>
          </p:cNvSpPr>
          <p:nvPr>
            <p:ph type="sldNum" idx="12"/>
          </p:nvPr>
        </p:nvSpPr>
        <p:spPr>
          <a:xfrm>
            <a:off x="8649222" y="4665946"/>
            <a:ext cx="498446" cy="48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86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944650" y="1471328"/>
            <a:ext cx="7839132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 dirty="0"/>
              <a:t>ML для финансового анализа</a:t>
            </a:r>
            <a:br>
              <a:rPr lang="ru-RU" sz="2000" dirty="0"/>
            </a:br>
            <a:br>
              <a:rPr lang="ru-RU" sz="2000" dirty="0"/>
            </a:br>
            <a:r>
              <a:rPr lang="en-US" sz="1800" b="0" dirty="0" err="1"/>
              <a:t>ByBit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l="98" r="97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r>
              <a:rPr lang="en-US" sz="2400" dirty="0" err="1"/>
              <a:t>ByBit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</a:t>
            </a:r>
            <a:r>
              <a:rPr lang="en-US" sz="1150" dirty="0"/>
              <a:t>20</a:t>
            </a:r>
            <a:r>
              <a:rPr lang="ru" sz="1150" dirty="0"/>
              <a:t>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1081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73703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ByBit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демо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аккаунт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3491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ython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client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397088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  <p:pic>
        <p:nvPicPr>
          <p:cNvPr id="1028" name="Picture 4" descr="Bybit geçmişi">
            <a:extLst>
              <a:ext uri="{FF2B5EF4-FFF2-40B4-BE49-F238E27FC236}">
                <a16:creationId xmlns:a16="http://schemas.microsoft.com/office/drawing/2014/main" id="{4E253AE3-CA56-4F49-B408-CB55FDF4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850" y="1521159"/>
            <a:ext cx="757395" cy="5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dirty="0" err="1"/>
              <a:t>ByBit</a:t>
            </a:r>
            <a:r>
              <a:rPr lang="en-US" dirty="0"/>
              <a:t> API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20B92-7F51-554D-A5DA-F433CF91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ByBit</a:t>
            </a:r>
            <a:r>
              <a:rPr lang="en-US" dirty="0"/>
              <a:t>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6CFA9-3AB4-E440-84AC-46B250EE2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19" y="928273"/>
            <a:ext cx="7551761" cy="413334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52223E-6281-0D49-AAC9-432A2784143E}"/>
              </a:ext>
            </a:extLst>
          </p:cNvPr>
          <p:cNvSpPr/>
          <p:nvPr/>
        </p:nvSpPr>
        <p:spPr>
          <a:xfrm>
            <a:off x="7665493" y="937146"/>
            <a:ext cx="222913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67ACB2-439F-DB47-8652-DAA58EDEC9AF}"/>
              </a:ext>
            </a:extLst>
          </p:cNvPr>
          <p:cNvSpPr/>
          <p:nvPr/>
        </p:nvSpPr>
        <p:spPr>
          <a:xfrm>
            <a:off x="7303827" y="3259540"/>
            <a:ext cx="489045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5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20B92-7F51-554D-A5DA-F433CF91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02" y="182440"/>
            <a:ext cx="8520600" cy="1095900"/>
          </a:xfrm>
        </p:spPr>
        <p:txBody>
          <a:bodyPr/>
          <a:lstStyle/>
          <a:p>
            <a:r>
              <a:rPr lang="en-US" dirty="0" err="1"/>
              <a:t>ByBit</a:t>
            </a:r>
            <a:r>
              <a:rPr lang="en-US" dirty="0"/>
              <a:t>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330BA-A4B4-C74D-A060-E3CFAF70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3390"/>
            <a:ext cx="9144000" cy="437011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67ACB2-439F-DB47-8652-DAA58EDEC9AF}"/>
              </a:ext>
            </a:extLst>
          </p:cNvPr>
          <p:cNvSpPr/>
          <p:nvPr/>
        </p:nvSpPr>
        <p:spPr>
          <a:xfrm>
            <a:off x="7167350" y="759960"/>
            <a:ext cx="557283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52223E-6281-0D49-AAC9-432A2784143E}"/>
              </a:ext>
            </a:extLst>
          </p:cNvPr>
          <p:cNvSpPr/>
          <p:nvPr/>
        </p:nvSpPr>
        <p:spPr>
          <a:xfrm>
            <a:off x="263989" y="762234"/>
            <a:ext cx="445695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5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20B92-7F51-554D-A5DA-F433CF91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02" y="182440"/>
            <a:ext cx="8520600" cy="1095900"/>
          </a:xfrm>
        </p:spPr>
        <p:txBody>
          <a:bodyPr/>
          <a:lstStyle/>
          <a:p>
            <a:r>
              <a:rPr lang="en-US" dirty="0" err="1"/>
              <a:t>ByBit</a:t>
            </a:r>
            <a:r>
              <a:rPr lang="en-US" dirty="0"/>
              <a:t>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330BA-A4B4-C74D-A060-E3CFAF70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3390"/>
            <a:ext cx="9144000" cy="437011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67ACB2-439F-DB47-8652-DAA58EDEC9AF}"/>
              </a:ext>
            </a:extLst>
          </p:cNvPr>
          <p:cNvSpPr/>
          <p:nvPr/>
        </p:nvSpPr>
        <p:spPr>
          <a:xfrm>
            <a:off x="7167350" y="759960"/>
            <a:ext cx="557283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52223E-6281-0D49-AAC9-432A2784143E}"/>
              </a:ext>
            </a:extLst>
          </p:cNvPr>
          <p:cNvSpPr/>
          <p:nvPr/>
        </p:nvSpPr>
        <p:spPr>
          <a:xfrm>
            <a:off x="263989" y="762234"/>
            <a:ext cx="445695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06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6E52FB-1192-1A42-A6E0-B73BB3F74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774084"/>
            <a:ext cx="8470710" cy="43694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E20B92-7F51-554D-A5DA-F433CF91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02" y="182440"/>
            <a:ext cx="8520600" cy="1095900"/>
          </a:xfrm>
        </p:spPr>
        <p:txBody>
          <a:bodyPr/>
          <a:lstStyle/>
          <a:p>
            <a:r>
              <a:rPr lang="en-US" dirty="0" err="1"/>
              <a:t>ByBit</a:t>
            </a:r>
            <a:r>
              <a:rPr lang="en-US" dirty="0"/>
              <a:t> API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67ACB2-439F-DB47-8652-DAA58EDEC9AF}"/>
              </a:ext>
            </a:extLst>
          </p:cNvPr>
          <p:cNvSpPr/>
          <p:nvPr/>
        </p:nvSpPr>
        <p:spPr>
          <a:xfrm>
            <a:off x="7750791" y="1216031"/>
            <a:ext cx="557283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52223E-6281-0D49-AAC9-432A2784143E}"/>
              </a:ext>
            </a:extLst>
          </p:cNvPr>
          <p:cNvSpPr/>
          <p:nvPr/>
        </p:nvSpPr>
        <p:spPr>
          <a:xfrm>
            <a:off x="7956645" y="774084"/>
            <a:ext cx="254759" cy="1865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45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20B92-7F51-554D-A5DA-F433CF91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02" y="182440"/>
            <a:ext cx="8520600" cy="1095900"/>
          </a:xfrm>
        </p:spPr>
        <p:txBody>
          <a:bodyPr/>
          <a:lstStyle/>
          <a:p>
            <a:r>
              <a:rPr lang="en-US" dirty="0" err="1"/>
              <a:t>ByBit</a:t>
            </a:r>
            <a:r>
              <a:rPr lang="en-US" dirty="0"/>
              <a:t>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B44AB5-444E-414A-A4EA-538A13DAD3DA}"/>
              </a:ext>
            </a:extLst>
          </p:cNvPr>
          <p:cNvSpPr txBox="1"/>
          <p:nvPr/>
        </p:nvSpPr>
        <p:spPr>
          <a:xfrm>
            <a:off x="577755" y="1191904"/>
            <a:ext cx="533992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bybit_api_key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getenv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"BYBIT_API_KEY"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bybit_secret_key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getenv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'BYBIT_API_SECRET’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en-US" dirty="0"/>
          </a:p>
          <a:p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HTTP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testnet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demo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api_key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bybit_api_key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api_secret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bybit_secret_key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tabLst>
                <a:tab pos="352425" algn="l"/>
              </a:tabLst>
            </a:pPr>
            <a:endParaRPr lang="en-US" dirty="0"/>
          </a:p>
          <a:p>
            <a:pPr>
              <a:tabLst>
                <a:tab pos="352425" algn="l"/>
              </a:tabLst>
            </a:pP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get_instruments_info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category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"linear"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symbol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"BTCUSDT"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tabLst>
                <a:tab pos="352425" algn="l"/>
              </a:tabLst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43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2dd109321_0_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206" name="Google Shape;206;g2f2dd109321_0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f2dd109321_0_9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g2f2dd109321_0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f2dd109321_0_9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827113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920270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827113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19"/>
            <a:ext cx="857995" cy="7674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92640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облачную среду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2116763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2116763"/>
            <a:ext cx="12700" cy="10931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3209919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7.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34" idx="1"/>
            <a:endCxn id="185" idx="2"/>
          </p:cNvCxnSpPr>
          <p:nvPr/>
        </p:nvCxnSpPr>
        <p:spPr>
          <a:xfrm rot="10800000">
            <a:off x="2184006" y="3505707"/>
            <a:ext cx="857995" cy="10187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401266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401267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39521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39521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50570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50570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50570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50570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61508" y="303075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9337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169145" y="303075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19337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Numpy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Pandas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Графики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,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mplfinance</a:t>
            </a:r>
            <a:endParaRPr lang="ru-RU"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EDA: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сбор и очистка данных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Вспоминаем статистику, случайные величины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Большие данные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81ED1289-B687-F04C-ACCE-E6C6681EFFC3}"/>
              </a:ext>
            </a:extLst>
          </p:cNvPr>
          <p:cNvPicPr preferRelativeResize="0"/>
          <p:nvPr/>
        </p:nvPicPr>
        <p:blipFill>
          <a:blip r:embed="rId3"/>
          <a:srcRect l="18187" r="18187"/>
          <a:stretch/>
        </p:blipFill>
        <p:spPr>
          <a:xfrm>
            <a:off x="612428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729BB019-C6C6-024F-B93E-27A337C996C0}"/>
              </a:ext>
            </a:extLst>
          </p:cNvPr>
          <p:cNvSpPr/>
          <p:nvPr/>
        </p:nvSpPr>
        <p:spPr>
          <a:xfrm>
            <a:off x="2226713" y="4416776"/>
            <a:ext cx="5355965" cy="39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966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…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graphicFrame>
        <p:nvGraphicFramePr>
          <p:cNvPr id="22" name="Table 23">
            <a:extLst>
              <a:ext uri="{FF2B5EF4-FFF2-40B4-BE49-F238E27FC236}">
                <a16:creationId xmlns:a16="http://schemas.microsoft.com/office/drawing/2014/main" id="{3DC0A0B1-54E3-F244-BD6D-3259F3B16906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машинного обучения, основные задачи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Обратное тестирование торговых стратегий</a:t>
            </a: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Временные ряды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Задача регрессии в деталях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81ED1289-B687-F04C-ACCE-E6C6681EFFC3}"/>
              </a:ext>
            </a:extLst>
          </p:cNvPr>
          <p:cNvPicPr preferRelativeResize="0"/>
          <p:nvPr/>
        </p:nvPicPr>
        <p:blipFill>
          <a:blip r:embed="rId3"/>
          <a:srcRect l="18187" r="18187"/>
          <a:stretch/>
        </p:blipFill>
        <p:spPr>
          <a:xfrm>
            <a:off x="612428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729BB019-C6C6-024F-B93E-27A337C996C0}"/>
              </a:ext>
            </a:extLst>
          </p:cNvPr>
          <p:cNvSpPr/>
          <p:nvPr/>
        </p:nvSpPr>
        <p:spPr>
          <a:xfrm>
            <a:off x="2226713" y="1886863"/>
            <a:ext cx="5355965" cy="39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bg1"/>
              </a:gs>
              <a:gs pos="100000">
                <a:srgbClr val="FFD966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…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37255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технический анализ: графики, индикаторы и паттерны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Торговая стратегия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Корреляции признаков,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PCA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важности признаков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Ансамбли моделей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459B96E0-370F-2F4D-9DE2-3AC8A96E4A9D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625735" y="1205170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BC1FF1BA-B74F-8C4C-BD18-27A8E47EF9D5}"/>
              </a:ext>
            </a:extLst>
          </p:cNvPr>
          <p:cNvSpPr/>
          <p:nvPr/>
        </p:nvSpPr>
        <p:spPr>
          <a:xfrm>
            <a:off x="2226713" y="442181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Портфельная стратегия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4FE9ED47-DB1E-DF41-B2D9-AD0B746BDB34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640352" y="3033456"/>
            <a:ext cx="293609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0C64ECD-0072-C246-89E7-BF44660F392F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086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нейронных сетей.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Полносвязные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Глубокие сети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Сверточные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Рекурентные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Модель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трансформера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3319D23-8F4D-AC44-8653-742D41FF3BE2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093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LLM, BERT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тональности новостей. Предобученные модели.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RL,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фреймворк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FinRL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Применение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RL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в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ансаамблях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Построение финального ансамбля. Подбор гиперпараметров.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8626EB2-6723-4E4B-BA7B-511DEFCB7AAC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798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облачную среду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Основные торговые площадки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4664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Облачная инфраструктура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80127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Построение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API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для модели.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FastAPI.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2559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Docker.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Упаковка модели в контейнер. Подготовка к развертыванию.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77939" y="1995869"/>
            <a:ext cx="86092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443426" y="2230382"/>
            <a:ext cx="1315559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23304" y="2450504"/>
            <a:ext cx="177019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71054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Мониторинг состояния модели.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Prometheus + Grafana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995987" y="2677821"/>
            <a:ext cx="222482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BEE14A57-FDBB-024C-84B5-C5C5EFF33A19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5812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3E6E6AD8-58FC-6B48-9349-434CBD7A30D1}"/>
              </a:ext>
            </a:extLst>
          </p:cNvPr>
          <p:cNvSpPr/>
          <p:nvPr/>
        </p:nvSpPr>
        <p:spPr>
          <a:xfrm>
            <a:off x="2226713" y="416518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Развертывание.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Docker compose.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68A5FCC2-2FDC-E74F-A06C-2B6A9BC99DE2}"/>
              </a:ext>
            </a:extLst>
          </p:cNvPr>
          <p:cNvSpPr/>
          <p:nvPr/>
        </p:nvSpPr>
        <p:spPr>
          <a:xfrm>
            <a:off x="2226713" y="46198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Автоматизация.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MLFlow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,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AirFlow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 контроль метрик обучения.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11BBC0F-59C7-354D-8F68-3218E902DE2E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768669" y="2905139"/>
            <a:ext cx="267946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BDCCE74C-34F8-8349-9D23-816B5D9111C1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541352" y="3132456"/>
            <a:ext cx="3134098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2B7DD74-C1C4-B84E-A639-B50F77EB663A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0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Финальный проект и практическое применение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Постановка задачи. Особенности выполнения.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529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Консультация</a:t>
            </a: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013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Презентация и защита проекта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24785" y="2049023"/>
            <a:ext cx="967232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344314" y="2329495"/>
            <a:ext cx="1528175" cy="2366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7CE6CEA7-ECB7-B942-AF7F-04849C42950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51059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4F64ACD-AA9E-384A-8801-19C3C9666169}"/>
              </a:ext>
            </a:extLst>
          </p:cNvPr>
          <p:cNvGraphicFramePr>
            <a:graphicFrameLocks noGrp="1"/>
          </p:cNvGraphicFramePr>
          <p:nvPr/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558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7"/>
            <a:ext cx="9143999" cy="5135483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1148</Words>
  <Application>Microsoft Macintosh PowerPoint</Application>
  <PresentationFormat>On-screen Show (16:9)</PresentationFormat>
  <Paragraphs>233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Roboto</vt:lpstr>
      <vt:lpstr>Arial</vt:lpstr>
      <vt:lpstr>Apple Chancery</vt:lpstr>
      <vt:lpstr>Menlo</vt:lpstr>
      <vt:lpstr>Светлая тема</vt:lpstr>
      <vt:lpstr>ML для финансового анализа  ByBit</vt:lpstr>
      <vt:lpstr>Проверить, идет ли запись</vt:lpstr>
      <vt:lpstr>ML для финансового анализа ByBit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ByBit API</vt:lpstr>
      <vt:lpstr>ByBit API</vt:lpstr>
      <vt:lpstr>ByBit API</vt:lpstr>
      <vt:lpstr>ByBit API</vt:lpstr>
      <vt:lpstr>ByBit API</vt:lpstr>
      <vt:lpstr>ByBit API</vt:lpstr>
      <vt:lpstr>Вопросы?</vt:lpstr>
      <vt:lpstr>Знакомство с  программой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PowerPoint Presentation</vt:lpstr>
      <vt:lpstr>PowerPoint Presentation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для финансового анализа  Работа с реальными данными</dc:title>
  <dc:creator>Кирилл Бухтеев</dc:creator>
  <cp:lastModifiedBy>Стурейко Игорь Олегович</cp:lastModifiedBy>
  <cp:revision>7</cp:revision>
  <dcterms:modified xsi:type="dcterms:W3CDTF">2025-09-17T13:46:53Z</dcterms:modified>
</cp:coreProperties>
</file>