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28"/>
  </p:notesMasterIdLst>
  <p:sldIdLst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387" r:id="rId13"/>
    <p:sldId id="415" r:id="rId14"/>
    <p:sldId id="269" r:id="rId15"/>
    <p:sldId id="413" r:id="rId16"/>
    <p:sldId id="414" r:id="rId17"/>
    <p:sldId id="490" r:id="rId18"/>
    <p:sldId id="418" r:id="rId19"/>
    <p:sldId id="281" r:id="rId20"/>
    <p:sldId id="280" r:id="rId21"/>
    <p:sldId id="366" r:id="rId22"/>
    <p:sldId id="288" r:id="rId23"/>
    <p:sldId id="474" r:id="rId24"/>
    <p:sldId id="289" r:id="rId25"/>
    <p:sldId id="302" r:id="rId26"/>
    <p:sldId id="303" r:id="rId2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8"/>
    <p:restoredTop sz="97146"/>
  </p:normalViewPr>
  <p:slideViewPr>
    <p:cSldViewPr snapToGrid="0">
      <p:cViewPr varScale="1">
        <p:scale>
          <a:sx n="297" d="100"/>
          <a:sy n="297" d="100"/>
        </p:scale>
        <p:origin x="1264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0773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8a1700b9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8a1700b9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306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598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806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86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9" r:id="rId9"/>
    <p:sldLayoutId id="2147483701" r:id="rId10"/>
    <p:sldLayoutId id="2147483702" r:id="rId11"/>
    <p:sldLayoutId id="214748370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dirty="0"/>
              <a:t>Введение в библиотеки обработки финансовых данных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 </a:t>
            </a:r>
            <a:r>
              <a:rPr lang="ru-RU" sz="3200" dirty="0"/>
              <a:t>для финансового анализа</a:t>
            </a:r>
            <a:br>
              <a:rPr lang="en-US" sz="3200" dirty="0"/>
            </a:br>
            <a:r>
              <a:rPr lang="ru-RU" sz="2400" dirty="0"/>
              <a:t>Введение в библиотеки обработки финансовых данных.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1110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50104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Получение данных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99099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Паттерны и графики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397088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6CF15-E72E-E64E-B624-46A6D7BEE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63"/>
          <a:stretch/>
        </p:blipFill>
        <p:spPr>
          <a:xfrm>
            <a:off x="4760850" y="1521159"/>
            <a:ext cx="4260300" cy="2828526"/>
          </a:xfrm>
          <a:prstGeom prst="rect">
            <a:avLst/>
          </a:prstGeom>
        </p:spPr>
      </p:pic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147CE5FE-D009-1F43-9002-52E8A16177A9}"/>
              </a:ext>
            </a:extLst>
          </p:cNvPr>
          <p:cNvSpPr/>
          <p:nvPr/>
        </p:nvSpPr>
        <p:spPr>
          <a:xfrm>
            <a:off x="680150" y="348093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Технические индикаторы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Получение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464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92CDB1-30C0-804A-AF7F-07EB32A8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взять данные</a:t>
            </a:r>
            <a:endParaRPr lang="en-US" dirty="0"/>
          </a:p>
        </p:txBody>
      </p:sp>
      <p:pic>
        <p:nvPicPr>
          <p:cNvPr id="1026" name="Picture 2" descr="Watch Yahoo Finance for Free | DIRECTV Insider">
            <a:extLst>
              <a:ext uri="{FF2B5EF4-FFF2-40B4-BE49-F238E27FC236}">
                <a16:creationId xmlns:a16="http://schemas.microsoft.com/office/drawing/2014/main" id="{FB6E7786-BE78-B043-8EB9-81E40A5AD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6" t="24933" r="13070" b="25203"/>
          <a:stretch/>
        </p:blipFill>
        <p:spPr bwMode="auto">
          <a:xfrm>
            <a:off x="648237" y="1103290"/>
            <a:ext cx="2331076" cy="88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mote Data Access — pandas-datareader 0.10.0 documentation">
            <a:extLst>
              <a:ext uri="{FF2B5EF4-FFF2-40B4-BE49-F238E27FC236}">
                <a16:creationId xmlns:a16="http://schemas.microsoft.com/office/drawing/2014/main" id="{2D077777-83A2-054C-B596-B6F57494E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563" y="2618680"/>
            <a:ext cx="2416935" cy="592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ilding Data Science App with Python - Analytics Vidhya">
            <a:extLst>
              <a:ext uri="{FF2B5EF4-FFF2-40B4-BE49-F238E27FC236}">
                <a16:creationId xmlns:a16="http://schemas.microsoft.com/office/drawing/2014/main" id="{0C510B25-819F-4844-8D3B-8A32CE93F6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3" t="26410" r="11926" b="34633"/>
          <a:stretch/>
        </p:blipFill>
        <p:spPr bwMode="auto">
          <a:xfrm>
            <a:off x="369197" y="3697758"/>
            <a:ext cx="3129566" cy="79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EX Market Hours &amp; Holidays 2025 - 2026 - TradingHours.com">
            <a:extLst>
              <a:ext uri="{FF2B5EF4-FFF2-40B4-BE49-F238E27FC236}">
                <a16:creationId xmlns:a16="http://schemas.microsoft.com/office/drawing/2014/main" id="{4BC766D7-E6D7-6A4D-985F-8F71DF68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394" y="997158"/>
            <a:ext cx="2511648" cy="887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91D26-FF06-DB49-96D9-8C59935E7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151" y="3939932"/>
            <a:ext cx="1333472" cy="790082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3E16CE7-BA3A-AA43-98A8-C31079A4C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58610"/>
            <a:ext cx="2541431" cy="88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ybit Advances Regulatory Compliance, Temporarily Adjusts EEA Operations -  Brave New Coin">
            <a:extLst>
              <a:ext uri="{FF2B5EF4-FFF2-40B4-BE49-F238E27FC236}">
                <a16:creationId xmlns:a16="http://schemas.microsoft.com/office/drawing/2014/main" id="{3EB2D716-24A2-AE4F-96B1-1C5BC31D3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8" t="33211" r="24780" b="34047"/>
          <a:stretch/>
        </p:blipFill>
        <p:spPr bwMode="auto">
          <a:xfrm>
            <a:off x="6412666" y="3697758"/>
            <a:ext cx="1910366" cy="69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58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Графики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DC5C-5E70-4A46-9F8E-7212EFCA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Отображение данных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F1E8C-9556-864B-AC66-060BB57D07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75" r="3692" b="3835"/>
          <a:stretch/>
        </p:blipFill>
        <p:spPr>
          <a:xfrm>
            <a:off x="4261681" y="2660572"/>
            <a:ext cx="4435850" cy="24278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839EFA-7F22-604B-A1E5-88319DB8B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02" y="1652788"/>
            <a:ext cx="3074253" cy="138447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5A14A0B-A352-6B45-A890-4249DC2A9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50" y="1058860"/>
            <a:ext cx="1749380" cy="58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- matplotlib/mplfinance: Financial Markets Data Visualization using  Matplotlib">
            <a:extLst>
              <a:ext uri="{FF2B5EF4-FFF2-40B4-BE49-F238E27FC236}">
                <a16:creationId xmlns:a16="http://schemas.microsoft.com/office/drawing/2014/main" id="{193BE3F5-A5B6-8A4E-A78B-CC9BF65FA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" t="10760" r="2469" b="31443"/>
          <a:stretch/>
        </p:blipFill>
        <p:spPr bwMode="auto">
          <a:xfrm>
            <a:off x="4640687" y="1468788"/>
            <a:ext cx="3434366" cy="107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611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Технический анализ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88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85BD24-D119-4647-9F3D-009AD3781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технического анализа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1979A-913A-F740-85FE-3C8F8EEFD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401161"/>
            <a:ext cx="3931153" cy="1231618"/>
          </a:xfrm>
          <a:prstGeom prst="rect">
            <a:avLst/>
          </a:prstGeom>
        </p:spPr>
      </p:pic>
      <p:pic>
        <p:nvPicPr>
          <p:cNvPr id="3074" name="Picture 2" descr="Pandas TA">
            <a:extLst>
              <a:ext uri="{FF2B5EF4-FFF2-40B4-BE49-F238E27FC236}">
                <a16:creationId xmlns:a16="http://schemas.microsoft.com/office/drawing/2014/main" id="{9D120956-2B31-D943-B50E-46F3412AC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4343" y="1984900"/>
            <a:ext cx="2591515" cy="64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nta 1.3 - Common financial technical indicators implemented in Pandas. -  PythonFix.com">
            <a:extLst>
              <a:ext uri="{FF2B5EF4-FFF2-40B4-BE49-F238E27FC236}">
                <a16:creationId xmlns:a16="http://schemas.microsoft.com/office/drawing/2014/main" id="{1399F109-F202-9347-8110-0A95AD121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135" y="2947364"/>
            <a:ext cx="1691425" cy="84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inta - Your Financial Data, Where You Work | Finta">
            <a:extLst>
              <a:ext uri="{FF2B5EF4-FFF2-40B4-BE49-F238E27FC236}">
                <a16:creationId xmlns:a16="http://schemas.microsoft.com/office/drawing/2014/main" id="{9DA6E7EC-3E4F-2A43-9AE9-6E72B478A3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3" t="9386" r="37981" b="78126"/>
          <a:stretch/>
        </p:blipFill>
        <p:spPr bwMode="auto">
          <a:xfrm>
            <a:off x="4636395" y="3705089"/>
            <a:ext cx="2185115" cy="59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33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5341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1156979962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загружать данные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7318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 базовые графики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Научимся строить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индикаторы технического анализа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Google Shape;389;p75">
            <a:extLst>
              <a:ext uri="{FF2B5EF4-FFF2-40B4-BE49-F238E27FC236}">
                <a16:creationId xmlns:a16="http://schemas.microsoft.com/office/drawing/2014/main" id="{EE71290E-F42D-6247-8F96-FFA1EE92C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562592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как загрузить данные о ранках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построить основные типы графиков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Поняли как построить индикаторы технического анализа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096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6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Знакомство с </a:t>
            </a:r>
            <a:br>
              <a:rPr lang="ru" sz="4000" dirty="0"/>
            </a:br>
            <a:r>
              <a:rPr lang="ru" sz="4000" dirty="0"/>
              <a:t>программой курса</a:t>
            </a:r>
            <a:endParaRPr sz="40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машинное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879957"/>
            <a:ext cx="3229663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Продвинутые нейросети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805231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19"/>
            <a:ext cx="857995" cy="745611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886094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Перенос модели в продакшн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2094881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2094881"/>
            <a:ext cx="12700" cy="107472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3169606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6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5" idx="2"/>
          </p:cNvCxnSpPr>
          <p:nvPr/>
        </p:nvCxnSpPr>
        <p:spPr>
          <a:xfrm rot="16200000" flipV="1">
            <a:off x="2993318" y="2656082"/>
            <a:ext cx="769371" cy="238799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37938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37938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373331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373332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46539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46539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5380104" y="190958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181353" y="2971605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773716" y="3008782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191184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240" y="2418961"/>
            <a:ext cx="608438" cy="608424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07"/>
          <p:cNvSpPr txBox="1"/>
          <p:nvPr/>
        </p:nvSpPr>
        <p:spPr>
          <a:xfrm>
            <a:off x="500550" y="950100"/>
            <a:ext cx="553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ML </a:t>
            </a:r>
            <a:r>
              <a:rPr lang="ru-RU" sz="2400" b="1" i="1" dirty="0">
                <a:solidFill>
                  <a:srgbClr val="45818E"/>
                </a:solidFill>
                <a:latin typeface="Roboto"/>
                <a:ea typeface="Roboto"/>
                <a:cs typeface="Roboto"/>
                <a:sym typeface="Roboto"/>
              </a:rPr>
              <a:t>для финансового анализа</a:t>
            </a:r>
            <a:endParaRPr sz="2400" b="1" i="1" dirty="0">
              <a:solidFill>
                <a:srgbClr val="45818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107"/>
          <p:cNvSpPr txBox="1"/>
          <p:nvPr/>
        </p:nvSpPr>
        <p:spPr>
          <a:xfrm>
            <a:off x="1813965" y="2446096"/>
            <a:ext cx="418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старт обучения: </a:t>
            </a:r>
            <a:r>
              <a:rPr lang="ru-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.202</a:t>
            </a:r>
            <a:r>
              <a:rPr lang="en-US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sz="1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400" b="1" i="1" dirty="0">
              <a:solidFill>
                <a:srgbClr val="3F3F3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6" name="Google Shape;636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9644" y="110465"/>
            <a:ext cx="1064725" cy="10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/>
              <a:t>Заполните, пожалуйста,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/>
              <a:t>опрос</a:t>
            </a:r>
            <a:r>
              <a:rPr lang="ru" sz="3500" b="0"/>
              <a:t> о занятии</a:t>
            </a:r>
            <a:endParaRPr sz="3500"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>
                <a:solidFill>
                  <a:srgbClr val="E06666"/>
                </a:solidFill>
              </a:rPr>
              <a:t> </a:t>
            </a: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10106</TotalTime>
  <Words>715</Words>
  <Application>Microsoft Macintosh PowerPoint</Application>
  <PresentationFormat>On-screen Show (16:9)</PresentationFormat>
  <Paragraphs>134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Courier New</vt:lpstr>
      <vt:lpstr>Apple Chancery</vt:lpstr>
      <vt:lpstr>Roboto</vt:lpstr>
      <vt:lpstr>Светлая тема</vt:lpstr>
      <vt:lpstr>Светлая тема</vt:lpstr>
      <vt:lpstr>ML для финансового анализа Введение в библиотеки обработки финансовых данных</vt:lpstr>
      <vt:lpstr>PowerPoint Presentation</vt:lpstr>
      <vt:lpstr>ML для финансового анализа Введение в библиотеки обработки финансовых данных.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Получение данных</vt:lpstr>
      <vt:lpstr>Где взять данные</vt:lpstr>
      <vt:lpstr>Графики</vt:lpstr>
      <vt:lpstr>Отображение данных</vt:lpstr>
      <vt:lpstr>Технический анализ</vt:lpstr>
      <vt:lpstr>Инструменты технического анализа</vt:lpstr>
      <vt:lpstr>Практика</vt:lpstr>
      <vt:lpstr>Практическая реализация </vt:lpstr>
      <vt:lpstr>Вопросы?</vt:lpstr>
      <vt:lpstr>Ключевые тезисы  </vt:lpstr>
      <vt:lpstr>Знакомство с  программой курса</vt:lpstr>
      <vt:lpstr>Карта курса</vt:lpstr>
      <vt:lpstr>PowerPoint Presentation</vt:lpstr>
      <vt:lpstr>PowerPoint Presentation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115</cp:revision>
  <dcterms:modified xsi:type="dcterms:W3CDTF">2025-12-04T12:45:25Z</dcterms:modified>
</cp:coreProperties>
</file>