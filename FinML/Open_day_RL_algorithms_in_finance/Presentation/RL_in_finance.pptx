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  <p:sldMasterId id="2147483707" r:id="rId2"/>
  </p:sldMasterIdLst>
  <p:notesMasterIdLst>
    <p:notesMasterId r:id="rId44"/>
  </p:notesMasterIdLst>
  <p:sldIdLst>
    <p:sldId id="257" r:id="rId3"/>
    <p:sldId id="258" r:id="rId4"/>
    <p:sldId id="312" r:id="rId5"/>
    <p:sldId id="262" r:id="rId6"/>
    <p:sldId id="260" r:id="rId7"/>
    <p:sldId id="261" r:id="rId8"/>
    <p:sldId id="263" r:id="rId9"/>
    <p:sldId id="264" r:id="rId10"/>
    <p:sldId id="265" r:id="rId11"/>
    <p:sldId id="268" r:id="rId12"/>
    <p:sldId id="271" r:id="rId13"/>
    <p:sldId id="359" r:id="rId14"/>
    <p:sldId id="277" r:id="rId15"/>
    <p:sldId id="334" r:id="rId16"/>
    <p:sldId id="346" r:id="rId17"/>
    <p:sldId id="396" r:id="rId18"/>
    <p:sldId id="397" r:id="rId19"/>
    <p:sldId id="487" r:id="rId20"/>
    <p:sldId id="333" r:id="rId21"/>
    <p:sldId id="343" r:id="rId22"/>
    <p:sldId id="488" r:id="rId23"/>
    <p:sldId id="360" r:id="rId24"/>
    <p:sldId id="376" r:id="rId25"/>
    <p:sldId id="369" r:id="rId26"/>
    <p:sldId id="368" r:id="rId27"/>
    <p:sldId id="490" r:id="rId28"/>
    <p:sldId id="418" r:id="rId29"/>
    <p:sldId id="281" r:id="rId30"/>
    <p:sldId id="280" r:id="rId31"/>
    <p:sldId id="288" r:id="rId32"/>
    <p:sldId id="474" r:id="rId33"/>
    <p:sldId id="372" r:id="rId34"/>
    <p:sldId id="475" r:id="rId35"/>
    <p:sldId id="476" r:id="rId36"/>
    <p:sldId id="477" r:id="rId37"/>
    <p:sldId id="478" r:id="rId38"/>
    <p:sldId id="479" r:id="rId39"/>
    <p:sldId id="480" r:id="rId40"/>
    <p:sldId id="401" r:id="rId41"/>
    <p:sldId id="289" r:id="rId42"/>
    <p:sldId id="303" r:id="rId43"/>
  </p:sldIdLst>
  <p:sldSz cx="9144000" cy="5143500" type="screen16x9"/>
  <p:notesSz cx="6858000" cy="9144000"/>
  <p:embeddedFontLst>
    <p:embeddedFont>
      <p:font typeface="Adelle Sans Devanagari Thin" panose="02000503000000020004" pitchFamily="2" charset="-78"/>
      <p:regular r:id="rId45"/>
      <p:bold r:id="rId46"/>
      <p:italic r:id="rId47"/>
      <p:boldItalic r:id="rId48"/>
    </p:embeddedFont>
    <p:embeddedFont>
      <p:font typeface="AkayaTelivigala" panose="020F0502020204030204" pitchFamily="34" charset="0"/>
      <p:regular r:id="rId49"/>
      <p:bold r:id="rId50"/>
      <p:italic r:id="rId51"/>
      <p:boldItalic r:id="rId52"/>
    </p:embeddedFont>
    <p:embeddedFont>
      <p:font typeface="Calibri" panose="020F0502020204030204" pitchFamily="34" charset="0"/>
      <p:regular r:id="rId53"/>
      <p:bold r:id="rId54"/>
      <p:italic r:id="rId55"/>
      <p:boldItalic r:id="rId56"/>
    </p:embeddedFont>
    <p:embeddedFont>
      <p:font typeface="Cambria Math" panose="02040503050406030204" pitchFamily="18" charset="0"/>
      <p:regular r:id="rId57"/>
    </p:embeddedFont>
    <p:embeddedFont>
      <p:font typeface="Roboto" panose="02000000000000000000" pitchFamily="2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1724">
          <p15:clr>
            <a:srgbClr val="A4A3A4"/>
          </p15:clr>
        </p15:guide>
        <p15:guide id="2" pos="380">
          <p15:clr>
            <a:srgbClr val="9AA0A6"/>
          </p15:clr>
        </p15:guide>
        <p15:guide id="3" orient="horz" pos="2041">
          <p15:clr>
            <a:srgbClr val="9AA0A6"/>
          </p15:clr>
        </p15:guide>
        <p15:guide id="4" orient="horz" pos="2169">
          <p15:clr>
            <a:srgbClr val="9AA0A6"/>
          </p15:clr>
        </p15:guide>
        <p15:guide id="5" pos="331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F59E00E-254B-42B5-9FED-D0DB1D54CBD8}">
  <a:tblStyle styleId="{9F59E00E-254B-42B5-9FED-D0DB1D54CBD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475"/>
    <p:restoredTop sz="97146"/>
  </p:normalViewPr>
  <p:slideViewPr>
    <p:cSldViewPr snapToGrid="0">
      <p:cViewPr varScale="1">
        <p:scale>
          <a:sx n="208" d="100"/>
          <a:sy n="208" d="100"/>
        </p:scale>
        <p:origin x="384" y="184"/>
      </p:cViewPr>
      <p:guideLst>
        <p:guide pos="1724"/>
        <p:guide pos="380"/>
        <p:guide orient="horz" pos="2041"/>
        <p:guide orient="horz" pos="2169"/>
        <p:guide pos="33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font" Target="fonts/font11.fntdata"/><Relationship Id="rId63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font" Target="fonts/font14.fntdata"/><Relationship Id="rId5" Type="http://schemas.openxmlformats.org/officeDocument/2006/relationships/slide" Target="slides/slide3.xml"/><Relationship Id="rId61" Type="http://schemas.openxmlformats.org/officeDocument/2006/relationships/font" Target="fonts/font17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4.fntdata"/><Relationship Id="rId56" Type="http://schemas.openxmlformats.org/officeDocument/2006/relationships/font" Target="fonts/font12.fntdata"/><Relationship Id="rId64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font" Target="fonts/font7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2.fntdata"/><Relationship Id="rId59" Type="http://schemas.openxmlformats.org/officeDocument/2006/relationships/font" Target="fonts/font15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10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5.fntdata"/><Relationship Id="rId57" Type="http://schemas.openxmlformats.org/officeDocument/2006/relationships/font" Target="fonts/font13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60" Type="http://schemas.openxmlformats.org/officeDocument/2006/relationships/font" Target="fonts/font16.fntdata"/><Relationship Id="rId65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f305d12f47_1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f305d12f47_1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2baa635cc9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2baa635cc9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Давайте поближе познакомимся с ОТУС.</a:t>
            </a:r>
            <a:endParaRPr sz="1400">
              <a:solidFill>
                <a:schemeClr val="dk1"/>
              </a:solidFill>
              <a:highlight>
                <a:srgbClr val="FFFF00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ОТУС задумывался как компания, которая позволяет обучаться у опытных специалистов высокого уровня в различных областях IT, каждого из которых мы обучаем, как эффективно преподавать.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Мы сторонники обучения у практиков, а не теоретиков, поэтому все наши преподаватели являются действующими специалистами, что позволяет им постоянно быть в курсе лучших решений и оперативно дополнять программу необходимыми изменениями.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Изначально мы создавали курсы для повышения квалификации действующих специалистов в области IT, но стали получать множество запросов на обучение с нуля, поэтому сейчас мы даем возможность любому замотивированному человеку освоить специальность в области IT.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f305d12f47_1_9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chemeClr val="dk1"/>
                </a:solidFill>
              </a:rPr>
              <a:t>В связи с тем, что OTUS имеет образовательную лицензию, поэтому наши курсы являются программами повышения квалификации и профессиональной переподготовки. 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Программы курсов в OTUS разрабатываются на основе того, что требуется на данный момент на кадровом рынке в топовые компании. </a:t>
            </a:r>
            <a:endParaRPr/>
          </a:p>
        </p:txBody>
      </p:sp>
      <p:sp>
        <p:nvSpPr>
          <p:cNvPr id="339" name="Google Shape;339;gf305d12f47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2baa635cc9_0_50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g22baa635cc9_0_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 процессе обучения агент экспериментирует, выбирая различные действия, и учитывает полученную обратную связь в виде наград или штрафов, чтобы улучшить свою стратегию.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5beb2bd227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5beb2bd227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5beb2bd227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5beb2bd227_0_5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99210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5367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1366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97118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91190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45982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18a1700b9ff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18a1700b9ff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e3a707456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e3a707456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f305d12f47_1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f305d12f47_1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81462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81606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2154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39227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44701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16010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77725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22baa635cc9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4" name="Google Shape;514;g22baa635cc9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e3a7074569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e3a7074569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2"/>
          </p:nvPr>
        </p:nvSpPr>
        <p:spPr>
          <a:xfrm>
            <a:off x="3891775" y="2252794"/>
            <a:ext cx="4587900" cy="20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Ваш макет 1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9868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47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47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94" name="Google Shape;194;p47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8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7" name="Google Shape;197;p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5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50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03" name="Google Shape;203;p5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06" name="Google Shape;206;p51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51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51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9" name="Google Shape;209;p51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51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213" name="Google Shape;213;p5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53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8" name="Google Shape;218;p53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5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54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22" name="Google Shape;222;p54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223" name="Google Shape;223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224" name="Google Shape;224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5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58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58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5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59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0" name="Google Shape;240;p5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59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60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60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60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5" Type="http://schemas.openxmlformats.org/officeDocument/2006/relationships/image" Target="../media/image4.jpg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70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89" name="Google Shape;189;p4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90" name="Google Shape;190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1" r:id="rId11"/>
    <p:sldLayoutId id="2147483702" r:id="rId12"/>
    <p:sldLayoutId id="214748370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jp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30.jpg"/><Relationship Id="rId7" Type="http://schemas.openxmlformats.org/officeDocument/2006/relationships/image" Target="../media/image44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0.jpg"/><Relationship Id="rId7" Type="http://schemas.openxmlformats.org/officeDocument/2006/relationships/image" Target="../media/image530.png"/><Relationship Id="rId12" Type="http://schemas.openxmlformats.org/officeDocument/2006/relationships/image" Target="../media/image53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20.png"/><Relationship Id="rId11" Type="http://schemas.openxmlformats.org/officeDocument/2006/relationships/image" Target="../media/image52.png"/><Relationship Id="rId5" Type="http://schemas.openxmlformats.org/officeDocument/2006/relationships/image" Target="../media/image51.png"/><Relationship Id="rId10" Type="http://schemas.openxmlformats.org/officeDocument/2006/relationships/image" Target="../media/image49.png"/><Relationship Id="rId4" Type="http://schemas.openxmlformats.org/officeDocument/2006/relationships/image" Target="../media/image50.png"/><Relationship Id="rId9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jp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1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2.png"/><Relationship Id="rId5" Type="http://schemas.openxmlformats.org/officeDocument/2006/relationships/image" Target="../media/image58.png"/><Relationship Id="rId10" Type="http://schemas.openxmlformats.org/officeDocument/2006/relationships/image" Target="../media/image66.jpg"/><Relationship Id="rId4" Type="http://schemas.openxmlformats.org/officeDocument/2006/relationships/image" Target="../media/image57.png"/><Relationship Id="rId9" Type="http://schemas.openxmlformats.org/officeDocument/2006/relationships/image" Target="../media/image6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200" dirty="0"/>
              <a:t>Построение торгового агента на безе алгоритмов обучения с подкреплением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 </a:t>
            </a:r>
            <a:r>
              <a:rPr lang="ru-RU" sz="3200" dirty="0"/>
              <a:t>для финансового анализа</a:t>
            </a:r>
            <a:br>
              <a:rPr lang="en-US" sz="3200" dirty="0"/>
            </a:br>
            <a:r>
              <a:rPr lang="ru-RU" sz="2400" dirty="0"/>
              <a:t>Построение торгового агента на безе алгоритмов обучения с подкреплением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Открытый урок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6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/>
              <a:t>Правила вебинара</a:t>
            </a:r>
            <a:endParaRPr b="1"/>
          </a:p>
        </p:txBody>
      </p:sp>
      <p:sp>
        <p:nvSpPr>
          <p:cNvPr id="305" name="Google Shape;305;p67"/>
          <p:cNvSpPr/>
          <p:nvPr/>
        </p:nvSpPr>
        <p:spPr>
          <a:xfrm>
            <a:off x="5730575" y="-8062"/>
            <a:ext cx="34134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" name="Google Shape;307;p6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4940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6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510213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67"/>
          <p:cNvSpPr txBox="1"/>
          <p:nvPr/>
        </p:nvSpPr>
        <p:spPr>
          <a:xfrm>
            <a:off x="1654525" y="14808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67"/>
          <p:cNvSpPr txBox="1"/>
          <p:nvPr/>
        </p:nvSpPr>
        <p:spPr>
          <a:xfrm>
            <a:off x="1654525" y="35178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1" name="Google Shape;311;p6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2514043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67"/>
          <p:cNvSpPr txBox="1"/>
          <p:nvPr/>
        </p:nvSpPr>
        <p:spPr>
          <a:xfrm>
            <a:off x="1654525" y="2519056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67"/>
          <p:cNvSpPr txBox="1"/>
          <p:nvPr/>
        </p:nvSpPr>
        <p:spPr>
          <a:xfrm>
            <a:off x="6350663" y="1403888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4" name="Google Shape;314;p6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23692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67"/>
          <p:cNvSpPr txBox="1"/>
          <p:nvPr/>
        </p:nvSpPr>
        <p:spPr>
          <a:xfrm>
            <a:off x="6829363" y="23559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6" name="Google Shape;316;p6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8418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67"/>
          <p:cNvSpPr txBox="1"/>
          <p:nvPr/>
        </p:nvSpPr>
        <p:spPr>
          <a:xfrm>
            <a:off x="6829363" y="28369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8" name="Google Shape;318;p6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33219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67"/>
          <p:cNvSpPr txBox="1"/>
          <p:nvPr/>
        </p:nvSpPr>
        <p:spPr>
          <a:xfrm>
            <a:off x="6829363" y="32324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 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8686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 Об ОТУС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5256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Обучение с подкреплением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78397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Базовые алгоритмы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34968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6.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46CF15-E72E-E64E-B624-46A6D7BEEE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63"/>
          <a:stretch/>
        </p:blipFill>
        <p:spPr>
          <a:xfrm>
            <a:off x="4760850" y="1521159"/>
            <a:ext cx="4260300" cy="2828526"/>
          </a:xfrm>
          <a:prstGeom prst="rect">
            <a:avLst/>
          </a:prstGeom>
        </p:spPr>
      </p:pic>
      <p:sp>
        <p:nvSpPr>
          <p:cNvPr id="9" name="Google Shape;287;p65">
            <a:extLst>
              <a:ext uri="{FF2B5EF4-FFF2-40B4-BE49-F238E27FC236}">
                <a16:creationId xmlns:a16="http://schemas.microsoft.com/office/drawing/2014/main" id="{5360C118-8286-E149-A863-1862DECD6B75}"/>
              </a:ext>
            </a:extLst>
          </p:cNvPr>
          <p:cNvSpPr/>
          <p:nvPr/>
        </p:nvSpPr>
        <p:spPr>
          <a:xfrm>
            <a:off x="680150" y="321827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Создание среды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Как вас зовут? Откуда вы? </a:t>
            </a:r>
            <a:endParaRPr sz="180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Ваш опыт работы в IT?</a:t>
            </a:r>
            <a:endParaRPr sz="180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С какой основной целью вы записались на занятие?</a:t>
            </a:r>
            <a:endParaRPr sz="1800">
              <a:solidFill>
                <a:srgbClr val="1E1F21"/>
              </a:solidFill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Расскажите о себе</a:t>
            </a:r>
            <a:endParaRPr/>
          </a:p>
        </p:txBody>
      </p:sp>
      <p:pic>
        <p:nvPicPr>
          <p:cNvPr id="298" name="Google Shape;298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0827" y="3412575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6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6852" y="3412581"/>
            <a:ext cx="620721" cy="620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8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ru"/>
              <a:t>б ОТУС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69"/>
          <p:cNvSpPr txBox="1"/>
          <p:nvPr/>
        </p:nvSpPr>
        <p:spPr>
          <a:xfrm>
            <a:off x="500550" y="330725"/>
            <a:ext cx="8520600" cy="75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 компании</a:t>
            </a:r>
            <a:endParaRPr sz="3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69"/>
          <p:cNvSpPr txBox="1"/>
          <p:nvPr/>
        </p:nvSpPr>
        <p:spPr>
          <a:xfrm>
            <a:off x="1170350" y="1933625"/>
            <a:ext cx="4718100" cy="10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ОТУС специализируется на обучении в IT.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Наша фишка — продвинутые программы для специалистов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с опытом и быстрый запуск курсов по новым набирающим популярность технологиям.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69"/>
          <p:cNvSpPr txBox="1"/>
          <p:nvPr/>
        </p:nvSpPr>
        <p:spPr>
          <a:xfrm>
            <a:off x="1170350" y="1562224"/>
            <a:ext cx="183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Сфера</a:t>
            </a:r>
            <a:endParaRPr sz="1700" b="1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69"/>
          <p:cNvSpPr txBox="1"/>
          <p:nvPr/>
        </p:nvSpPr>
        <p:spPr>
          <a:xfrm>
            <a:off x="1170350" y="3423925"/>
            <a:ext cx="58626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Наши партнеры современные технологичные компании.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А обучение и открытые материалы привлекают специалистов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разных грейдов: junior, middle, senior, lead.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69"/>
          <p:cNvSpPr txBox="1"/>
          <p:nvPr/>
        </p:nvSpPr>
        <p:spPr>
          <a:xfrm>
            <a:off x="1170350" y="3052524"/>
            <a:ext cx="183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Клиенты</a:t>
            </a:r>
            <a:endParaRPr sz="1700" b="1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34" name="Google Shape;334;p6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9994" y="1677925"/>
            <a:ext cx="394400" cy="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6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994" y="3144375"/>
            <a:ext cx="394400" cy="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69"/>
          <p:cNvPicPr preferRelativeResize="0"/>
          <p:nvPr/>
        </p:nvPicPr>
        <p:blipFill rotWithShape="1">
          <a:blip r:embed="rId5">
            <a:alphaModFix/>
          </a:blip>
          <a:srcRect l="1114" r="1124"/>
          <a:stretch/>
        </p:blipFill>
        <p:spPr>
          <a:xfrm>
            <a:off x="6031050" y="0"/>
            <a:ext cx="3112951" cy="261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7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Образование в ОТУС</a:t>
            </a:r>
            <a:endParaRPr/>
          </a:p>
        </p:txBody>
      </p:sp>
      <p:sp>
        <p:nvSpPr>
          <p:cNvPr id="342" name="Google Shape;342;p70"/>
          <p:cNvSpPr txBox="1">
            <a:spLocks noGrp="1"/>
          </p:cNvSpPr>
          <p:nvPr>
            <p:ph type="body" idx="4294967295"/>
          </p:nvPr>
        </p:nvSpPr>
        <p:spPr>
          <a:xfrm>
            <a:off x="1483350" y="2056253"/>
            <a:ext cx="49998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rgbClr val="000000"/>
                </a:solidFill>
              </a:rPr>
              <a:t>OTUS имеет образовательную лицензию, поэтому наши курсы являются программами повышения квалификации и профессиональной переподготовки. 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343" name="Google Shape;343;p70"/>
          <p:cNvSpPr txBox="1">
            <a:spLocks noGrp="1"/>
          </p:cNvSpPr>
          <p:nvPr>
            <p:ph type="body" idx="4294967295"/>
          </p:nvPr>
        </p:nvSpPr>
        <p:spPr>
          <a:xfrm>
            <a:off x="1483350" y="1579994"/>
            <a:ext cx="2674500" cy="3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lnSpcReduction="10000"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 sz="2000" b="1">
                <a:solidFill>
                  <a:srgbClr val="FF7700"/>
                </a:solidFill>
              </a:rPr>
              <a:t>Программы курсов</a:t>
            </a:r>
            <a:endParaRPr sz="2000" b="1">
              <a:solidFill>
                <a:srgbClr val="FF7700"/>
              </a:solidFill>
            </a:endParaRPr>
          </a:p>
        </p:txBody>
      </p:sp>
      <p:pic>
        <p:nvPicPr>
          <p:cNvPr id="344" name="Google Shape;344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1675" y="1564400"/>
            <a:ext cx="396000" cy="39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7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Напишите, пожалуйста, в чат подходящую цифру</a:t>
            </a:r>
            <a:endParaRPr/>
          </a:p>
        </p:txBody>
      </p:sp>
      <p:sp>
        <p:nvSpPr>
          <p:cNvPr id="376" name="Google Shape;376;p73"/>
          <p:cNvSpPr txBox="1">
            <a:spLocks noGrp="1"/>
          </p:cNvSpPr>
          <p:nvPr>
            <p:ph type="body" idx="4294967295"/>
          </p:nvPr>
        </p:nvSpPr>
        <p:spPr>
          <a:xfrm>
            <a:off x="567875" y="1930253"/>
            <a:ext cx="49998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1</a:t>
            </a:r>
            <a:r>
              <a:rPr lang="ru" sz="1900" b="1"/>
              <a:t> -</a:t>
            </a:r>
            <a:r>
              <a:rPr lang="ru" sz="1900"/>
              <a:t> если уже учились у нас в компании 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2</a:t>
            </a:r>
            <a:r>
              <a:rPr lang="ru" sz="1900" b="1"/>
              <a:t> -</a:t>
            </a:r>
            <a:r>
              <a:rPr lang="ru" sz="1900"/>
              <a:t> если НЕ учились, но слышали о нас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3</a:t>
            </a:r>
            <a:r>
              <a:rPr lang="ru" sz="1900" b="1"/>
              <a:t> -</a:t>
            </a:r>
            <a:r>
              <a:rPr lang="ru" sz="1900"/>
              <a:t> если впервые знакомитесь с OTUS</a:t>
            </a:r>
            <a:endParaRPr sz="1400">
              <a:solidFill>
                <a:srgbClr val="000000"/>
              </a:solidFill>
            </a:endParaRPr>
          </a:p>
        </p:txBody>
      </p:sp>
      <p:pic>
        <p:nvPicPr>
          <p:cNvPr id="377" name="Google Shape;377;p7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3650" y="3239988"/>
            <a:ext cx="651601" cy="65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76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Что такое </a:t>
            </a:r>
            <a:r>
              <a:rPr lang="en-US" dirty="0"/>
              <a:t>Reinforcement Learning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458A245-2071-484B-8B77-BEA3358E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Reinforcement Learning</a:t>
            </a:r>
            <a:endParaRPr lang="en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A5D672-3E20-9B43-98BC-4823A95CC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994" y="978013"/>
            <a:ext cx="6244479" cy="3897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16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53"/>
          <p:cNvSpPr txBox="1"/>
          <p:nvPr/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1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Место обучения с подкреплением</a:t>
            </a:r>
            <a:endParaRPr sz="31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25393D-EB32-2B47-8D65-8F555D280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310" y="898940"/>
            <a:ext cx="7505444" cy="37527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67D25A3-4BD6-034C-94F6-F4C82E543FCF}"/>
              </a:ext>
            </a:extLst>
          </p:cNvPr>
          <p:cNvSpPr txBox="1"/>
          <p:nvPr/>
        </p:nvSpPr>
        <p:spPr>
          <a:xfrm>
            <a:off x="6100091" y="4307218"/>
            <a:ext cx="11849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Andrew Ng, NIPS</a:t>
            </a:r>
            <a:endParaRPr lang="en-T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4"/>
          <p:cNvSpPr txBox="1"/>
          <p:nvPr/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Что такое Обучение с Подкреплением?</a:t>
            </a:r>
            <a:endParaRPr sz="3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54"/>
          <p:cNvSpPr txBox="1"/>
          <p:nvPr/>
        </p:nvSpPr>
        <p:spPr>
          <a:xfrm>
            <a:off x="500550" y="1369325"/>
            <a:ext cx="3413400" cy="31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35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Обучение с Подкреплением</a:t>
            </a:r>
            <a:r>
              <a:rPr lang="ru" sz="135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- это направление машинного обучения, где </a:t>
            </a:r>
            <a:r>
              <a:rPr lang="ru" sz="1350" i="1" u="sng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агент</a:t>
            </a:r>
            <a:r>
              <a:rPr lang="ru" sz="135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(искусственный интеллект) обучается, </a:t>
            </a:r>
            <a:r>
              <a:rPr lang="ru" sz="1350" i="1" u="sng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принимая решения</a:t>
            </a:r>
            <a:r>
              <a:rPr lang="ru" sz="135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и действуя </a:t>
            </a:r>
            <a:r>
              <a:rPr lang="ru" sz="1350" i="1" u="sng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некоторой среде</a:t>
            </a:r>
            <a:r>
              <a:rPr lang="ru" sz="135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с целью </a:t>
            </a:r>
            <a:r>
              <a:rPr lang="ru" sz="1350" i="1" u="sng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максимизировать некую награду</a:t>
            </a:r>
            <a:r>
              <a:rPr lang="ru" sz="135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5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sz="135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35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Этот метод обучения схож с тем, как люди и животные учатся на основе положительного и отрицательного подкрепления.</a:t>
            </a:r>
            <a:endParaRPr sz="135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BA0FFB3-E94B-F545-9F02-E9DB54CD52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0363" y="1684521"/>
            <a:ext cx="4835887" cy="2148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6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RL policy</a:t>
            </a:r>
            <a:r>
              <a:rPr lang="ru-RU" dirty="0"/>
              <a:t> – детерминированная политика</a:t>
            </a:r>
            <a:endParaRPr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91C28CC-7CAD-A643-9727-E92C32E50AEE}"/>
              </a:ext>
            </a:extLst>
          </p:cNvPr>
          <p:cNvGraphicFramePr>
            <a:graphicFrameLocks noGrp="1"/>
          </p:cNvGraphicFramePr>
          <p:nvPr/>
        </p:nvGraphicFramePr>
        <p:xfrm>
          <a:off x="576039" y="1348419"/>
          <a:ext cx="3524755" cy="3416300"/>
        </p:xfrm>
        <a:graphic>
          <a:graphicData uri="http://schemas.openxmlformats.org/drawingml/2006/table">
            <a:tbl>
              <a:tblPr>
                <a:tableStyleId>{9F59E00E-254B-42B5-9FED-D0DB1D54CBD8}</a:tableStyleId>
              </a:tblPr>
              <a:tblGrid>
                <a:gridCol w="704951">
                  <a:extLst>
                    <a:ext uri="{9D8B030D-6E8A-4147-A177-3AD203B41FA5}">
                      <a16:colId xmlns:a16="http://schemas.microsoft.com/office/drawing/2014/main" val="1845468549"/>
                    </a:ext>
                  </a:extLst>
                </a:gridCol>
                <a:gridCol w="704951">
                  <a:extLst>
                    <a:ext uri="{9D8B030D-6E8A-4147-A177-3AD203B41FA5}">
                      <a16:colId xmlns:a16="http://schemas.microsoft.com/office/drawing/2014/main" val="1339863877"/>
                    </a:ext>
                  </a:extLst>
                </a:gridCol>
                <a:gridCol w="704951">
                  <a:extLst>
                    <a:ext uri="{9D8B030D-6E8A-4147-A177-3AD203B41FA5}">
                      <a16:colId xmlns:a16="http://schemas.microsoft.com/office/drawing/2014/main" val="43082244"/>
                    </a:ext>
                  </a:extLst>
                </a:gridCol>
                <a:gridCol w="704951">
                  <a:extLst>
                    <a:ext uri="{9D8B030D-6E8A-4147-A177-3AD203B41FA5}">
                      <a16:colId xmlns:a16="http://schemas.microsoft.com/office/drawing/2014/main" val="1785429814"/>
                    </a:ext>
                  </a:extLst>
                </a:gridCol>
                <a:gridCol w="704951">
                  <a:extLst>
                    <a:ext uri="{9D8B030D-6E8A-4147-A177-3AD203B41FA5}">
                      <a16:colId xmlns:a16="http://schemas.microsoft.com/office/drawing/2014/main" val="1084434534"/>
                    </a:ext>
                  </a:extLst>
                </a:gridCol>
              </a:tblGrid>
              <a:tr h="6832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start</a:t>
                      </a:r>
                      <a:endParaRPr lang="en-US" sz="6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→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>
                    <a:solidFill>
                      <a:srgbClr val="FF0000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↓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>
                    <a:solidFill>
                      <a:srgbClr val="FF0000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↓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→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extLst>
                  <a:ext uri="{0D108BD9-81ED-4DB2-BD59-A6C34878D82A}">
                    <a16:rowId xmlns:a16="http://schemas.microsoft.com/office/drawing/2014/main" val="1324059508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→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↑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→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>
                    <a:solidFill>
                      <a:srgbClr val="FF0000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→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>
                    <a:solidFill>
                      <a:srgbClr val="FF0000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↓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>
                    <a:solidFill>
                      <a:srgbClr val="FF0000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8487245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←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→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↑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→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TR" sz="4100" u="none" strike="noStrike" dirty="0">
                          <a:effectLst/>
                        </a:rPr>
                        <a:t>↓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>
                    <a:solidFill>
                      <a:srgbClr val="FF0000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354260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←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↓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→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→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 dirty="0">
                          <a:effectLst/>
                        </a:rPr>
                        <a:t>↓</a:t>
                      </a:r>
                      <a:endParaRPr lang="en-TR" sz="4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>
                    <a:solidFill>
                      <a:srgbClr val="FF0000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810724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→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↑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→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TR" sz="4100" u="none" strike="noStrike">
                          <a:effectLst/>
                        </a:rPr>
                        <a:t>↑</a:t>
                      </a:r>
                      <a:endParaRPr lang="en-TR" sz="4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134" marR="8134" marT="8134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finish</a:t>
                      </a:r>
                    </a:p>
                  </a:txBody>
                  <a:tcPr marL="8134" marR="8134" marT="8134" marB="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685691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0ECB4B6-CDB6-DA4C-8C87-58469EF3150C}"/>
              </a:ext>
            </a:extLst>
          </p:cNvPr>
          <p:cNvSpPr txBox="1"/>
          <p:nvPr/>
        </p:nvSpPr>
        <p:spPr>
          <a:xfrm>
            <a:off x="576039" y="1040642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Политика 1</a:t>
            </a:r>
            <a:endParaRPr lang="en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91F2A6CB-5969-F549-A860-59132516A3F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314250" y="1307283"/>
                <a:ext cx="4706900" cy="3505493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 algn="l">
                  <a:buNone/>
                </a:pPr>
                <a:r>
                  <a:rPr lang="ru-RU" sz="11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Политикой называется отображение из пространства состояний в пространство действий</a:t>
                </a:r>
              </a:p>
              <a:p>
                <a:pPr marL="13335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⟼</m:t>
                      </m:r>
                      <m:r>
                        <a:rPr lang="en-US" sz="11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sz="11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0, 1</m:t>
                          </m:r>
                        </m:e>
                      </m:d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𝒜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1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:endParaRPr lang="ru-RU" sz="11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 algn="l">
                  <a:buNone/>
                </a:pPr>
                <a:r>
                  <a:rPr lang="ru-RU" sz="11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Результатом действия политики на среду является </a:t>
                </a:r>
                <a:r>
                  <a:rPr lang="ru-RU" sz="1100" b="1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траектория</a:t>
                </a:r>
                <a:r>
                  <a:rPr lang="ru-RU" sz="11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агента, которая определяет его конечную награду</a:t>
                </a:r>
                <a:r>
                  <a:rPr lang="en-US" sz="11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:</a:t>
                </a:r>
              </a:p>
              <a:p>
                <a:pPr marL="13335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p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1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e>
                      </m:d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 →      </m:t>
                      </m:r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ru-RU" sz="11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1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1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Цель агента - максимизировать суммарное вознаграждение (выработать политику)</a:t>
                </a:r>
                <a:r>
                  <a:rPr lang="en-US" sz="11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</a:t>
                </a:r>
                <a:endParaRPr lang="ru-RU" sz="11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1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0" indent="0">
                  <a:lnSpc>
                    <a:spcPct val="115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p>
                          </m:sSup>
                        </m:e>
                      </m:d>
                      <m:r>
                        <a:rPr lang="en-US" sz="11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1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11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sz="1000" dirty="0"/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91F2A6CB-5969-F549-A860-59132516A3F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314250" y="1307283"/>
                <a:ext cx="4706900" cy="3505493"/>
              </a:xfrm>
              <a:prstGeom prst="rect">
                <a:avLst/>
              </a:prstGeom>
              <a:blipFill>
                <a:blip r:embed="rId3"/>
                <a:stretch>
                  <a:fillRect b="-2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0BD8E7FE-42E8-FD47-A0AA-3660C41EA058}"/>
              </a:ext>
            </a:extLst>
          </p:cNvPr>
          <p:cNvSpPr/>
          <p:nvPr/>
        </p:nvSpPr>
        <p:spPr>
          <a:xfrm>
            <a:off x="6071931" y="4206259"/>
            <a:ext cx="1276477" cy="55845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66D2427-9507-ED4B-A0D2-1C3322DA090D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4100794" y="4485489"/>
            <a:ext cx="1971137" cy="0"/>
          </a:xfrm>
          <a:prstGeom prst="straightConnector1">
            <a:avLst/>
          </a:prstGeom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1826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4DA70-3E39-6C4A-80F5-DC4C8CB3C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ценности состояния</a:t>
            </a:r>
            <a:endParaRPr lang="en-TR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9F32F17-3BEB-7149-AEEA-8B95D8D70DF3}"/>
              </a:ext>
            </a:extLst>
          </p:cNvPr>
          <p:cNvGraphicFramePr>
            <a:graphicFrameLocks noGrp="1"/>
          </p:cNvGraphicFramePr>
          <p:nvPr/>
        </p:nvGraphicFramePr>
        <p:xfrm>
          <a:off x="534345" y="1128093"/>
          <a:ext cx="2820835" cy="2400975"/>
        </p:xfrm>
        <a:graphic>
          <a:graphicData uri="http://schemas.openxmlformats.org/drawingml/2006/table">
            <a:tbl>
              <a:tblPr firstRow="1" bandRow="1"/>
              <a:tblGrid>
                <a:gridCol w="564167">
                  <a:extLst>
                    <a:ext uri="{9D8B030D-6E8A-4147-A177-3AD203B41FA5}">
                      <a16:colId xmlns:a16="http://schemas.microsoft.com/office/drawing/2014/main" val="3722595887"/>
                    </a:ext>
                  </a:extLst>
                </a:gridCol>
                <a:gridCol w="564167">
                  <a:extLst>
                    <a:ext uri="{9D8B030D-6E8A-4147-A177-3AD203B41FA5}">
                      <a16:colId xmlns:a16="http://schemas.microsoft.com/office/drawing/2014/main" val="408206748"/>
                    </a:ext>
                  </a:extLst>
                </a:gridCol>
                <a:gridCol w="564167">
                  <a:extLst>
                    <a:ext uri="{9D8B030D-6E8A-4147-A177-3AD203B41FA5}">
                      <a16:colId xmlns:a16="http://schemas.microsoft.com/office/drawing/2014/main" val="1642578470"/>
                    </a:ext>
                  </a:extLst>
                </a:gridCol>
                <a:gridCol w="564167">
                  <a:extLst>
                    <a:ext uri="{9D8B030D-6E8A-4147-A177-3AD203B41FA5}">
                      <a16:colId xmlns:a16="http://schemas.microsoft.com/office/drawing/2014/main" val="77006586"/>
                    </a:ext>
                  </a:extLst>
                </a:gridCol>
                <a:gridCol w="564167">
                  <a:extLst>
                    <a:ext uri="{9D8B030D-6E8A-4147-A177-3AD203B41FA5}">
                      <a16:colId xmlns:a16="http://schemas.microsoft.com/office/drawing/2014/main" val="2039500422"/>
                    </a:ext>
                  </a:extLst>
                </a:gridCol>
              </a:tblGrid>
              <a:tr h="480195"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693291"/>
                  </a:ext>
                </a:extLst>
              </a:tr>
              <a:tr h="480195"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36625"/>
                  </a:ext>
                </a:extLst>
              </a:tr>
              <a:tr h="480195"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523752"/>
                  </a:ext>
                </a:extLst>
              </a:tr>
              <a:tr h="480195"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8370690"/>
                  </a:ext>
                </a:extLst>
              </a:tr>
              <a:tr h="480195"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dirty="0"/>
                        <a:t>-9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2450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1EC241C-0460-DE40-B9A1-BBAADF9C4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52" y="1495698"/>
            <a:ext cx="282457" cy="39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1F3B6E-FCD0-9042-B7EF-FEDA8CA0D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540" y="2644810"/>
            <a:ext cx="387010" cy="3870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B63E209-F122-2542-8685-8C44F51E41CB}"/>
                  </a:ext>
                </a:extLst>
              </p:cNvPr>
              <p:cNvSpPr txBox="1"/>
              <p:nvPr/>
            </p:nvSpPr>
            <p:spPr>
              <a:xfrm>
                <a:off x="4164605" y="1581451"/>
                <a:ext cx="233948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TR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B63E209-F122-2542-8685-8C44F51E4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4605" y="1581451"/>
                <a:ext cx="2339487" cy="307777"/>
              </a:xfrm>
              <a:prstGeom prst="rect">
                <a:avLst/>
              </a:prstGeom>
              <a:blipFill>
                <a:blip r:embed="rId4"/>
                <a:stretch>
                  <a:fillRect l="-538" r="-268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651493-AB53-AA48-A307-08D9A14D1120}"/>
              </a:ext>
            </a:extLst>
          </p:cNvPr>
          <p:cNvCxnSpPr>
            <a:cxnSpLocks/>
          </p:cNvCxnSpPr>
          <p:nvPr/>
        </p:nvCxnSpPr>
        <p:spPr>
          <a:xfrm>
            <a:off x="4164605" y="1979870"/>
            <a:ext cx="671992" cy="0"/>
          </a:xfrm>
          <a:prstGeom prst="line">
            <a:avLst/>
          </a:prstGeom>
          <a:ln w="127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1305670-DC05-D24B-9793-0B8D013791A7}"/>
                  </a:ext>
                </a:extLst>
              </p:cNvPr>
              <p:cNvSpPr txBox="1"/>
              <p:nvPr/>
            </p:nvSpPr>
            <p:spPr>
              <a:xfrm>
                <a:off x="3704859" y="2010287"/>
                <a:ext cx="1398909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Ценность состояния</a:t>
                </a:r>
                <a:r>
                  <a:rPr lang="en-US" sz="9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  <a:endParaRPr lang="en-TR" sz="9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1305670-DC05-D24B-9793-0B8D0137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4859" y="2010287"/>
                <a:ext cx="1398909" cy="230832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4F84A0-39FB-8A44-A991-1988C95F77B0}"/>
              </a:ext>
            </a:extLst>
          </p:cNvPr>
          <p:cNvCxnSpPr>
            <a:cxnSpLocks/>
          </p:cNvCxnSpPr>
          <p:nvPr/>
        </p:nvCxnSpPr>
        <p:spPr>
          <a:xfrm>
            <a:off x="5120940" y="1979870"/>
            <a:ext cx="568688" cy="0"/>
          </a:xfrm>
          <a:prstGeom prst="line">
            <a:avLst/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1A62BA9-17FA-984D-8F7C-6CA8BD0A87FA}"/>
              </a:ext>
            </a:extLst>
          </p:cNvPr>
          <p:cNvSpPr txBox="1"/>
          <p:nvPr/>
        </p:nvSpPr>
        <p:spPr>
          <a:xfrm>
            <a:off x="4538690" y="2222461"/>
            <a:ext cx="17812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900" dirty="0">
                <a:solidFill>
                  <a:srgbClr val="00B050"/>
                </a:solidFill>
              </a:rPr>
              <a:t>Ожидаемая будущая награда</a:t>
            </a:r>
            <a:endParaRPr lang="en-TR" sz="900" dirty="0">
              <a:solidFill>
                <a:srgbClr val="00B050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D3AA5E1-2D34-FB47-98D2-255AEC0E3945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5429319" y="1961461"/>
            <a:ext cx="15343" cy="261000"/>
          </a:xfrm>
          <a:prstGeom prst="line">
            <a:avLst/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E8F0156-2F93-A645-89FB-9443B49D2CA7}"/>
              </a:ext>
            </a:extLst>
          </p:cNvPr>
          <p:cNvCxnSpPr>
            <a:cxnSpLocks/>
          </p:cNvCxnSpPr>
          <p:nvPr/>
        </p:nvCxnSpPr>
        <p:spPr>
          <a:xfrm>
            <a:off x="5764293" y="1978848"/>
            <a:ext cx="649490" cy="1022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D5734B7-3E57-7C42-8C11-0E3D9CDE282B}"/>
                  </a:ext>
                </a:extLst>
              </p:cNvPr>
              <p:cNvSpPr txBox="1"/>
              <p:nvPr/>
            </p:nvSpPr>
            <p:spPr>
              <a:xfrm>
                <a:off x="6015269" y="1958098"/>
                <a:ext cx="19559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При условии начала действия из</a:t>
                </a:r>
              </a:p>
              <a:p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состояния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TR" sz="900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D5734B7-3E57-7C42-8C11-0E3D9CDE2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269" y="1958098"/>
                <a:ext cx="1955985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A0D76812-8683-9E4D-91B4-776AC77CB42A}"/>
              </a:ext>
            </a:extLst>
          </p:cNvPr>
          <p:cNvSpPr/>
          <p:nvPr/>
        </p:nvSpPr>
        <p:spPr>
          <a:xfrm>
            <a:off x="5268147" y="1759887"/>
            <a:ext cx="158104" cy="153889"/>
          </a:xfrm>
          <a:prstGeom prst="rect">
            <a:avLst/>
          </a:prstGeom>
          <a:noFill/>
          <a:ln w="12700">
            <a:solidFill>
              <a:srgbClr val="C00000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8C5847F-66B3-5343-B20E-65468601B468}"/>
                  </a:ext>
                </a:extLst>
              </p:cNvPr>
              <p:cNvSpPr txBox="1"/>
              <p:nvPr/>
            </p:nvSpPr>
            <p:spPr>
              <a:xfrm>
                <a:off x="5092748" y="1073981"/>
                <a:ext cx="22268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rgbClr val="C00000"/>
                    </a:solidFill>
                  </a:rPr>
                  <a:t>В условиях, что действие выбирается</a:t>
                </a:r>
                <a:br>
                  <a:rPr lang="ru-RU" sz="900" dirty="0">
                    <a:solidFill>
                      <a:srgbClr val="C00000"/>
                    </a:solidFill>
                  </a:rPr>
                </a:br>
                <a:r>
                  <a:rPr lang="ru-RU" sz="900" dirty="0">
                    <a:solidFill>
                      <a:srgbClr val="C00000"/>
                    </a:solidFill>
                  </a:rPr>
                  <a:t>исходя из политики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ru-RU" sz="9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8C5847F-66B3-5343-B20E-65468601B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748" y="1073981"/>
                <a:ext cx="2226892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69E5CF7-BF8C-6D4F-8914-0231537EE5A3}"/>
              </a:ext>
            </a:extLst>
          </p:cNvPr>
          <p:cNvCxnSpPr>
            <a:cxnSpLocks/>
          </p:cNvCxnSpPr>
          <p:nvPr/>
        </p:nvCxnSpPr>
        <p:spPr>
          <a:xfrm flipV="1">
            <a:off x="5358234" y="1439821"/>
            <a:ext cx="0" cy="312151"/>
          </a:xfrm>
          <a:prstGeom prst="line">
            <a:avLst/>
          </a:prstGeom>
          <a:ln w="12700">
            <a:solidFill>
              <a:srgbClr val="C0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711FA37-18C0-AA48-9DF5-477BFF562C5C}"/>
                  </a:ext>
                </a:extLst>
              </p:cNvPr>
              <p:cNvSpPr txBox="1"/>
              <p:nvPr/>
            </p:nvSpPr>
            <p:spPr>
              <a:xfrm>
                <a:off x="4101111" y="3080665"/>
                <a:ext cx="41262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)|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T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711FA37-18C0-AA48-9DF5-477BFF562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1111" y="3080665"/>
                <a:ext cx="4126258" cy="307777"/>
              </a:xfrm>
              <a:prstGeom prst="rect">
                <a:avLst/>
              </a:prstGeom>
              <a:blipFill>
                <a:blip r:embed="rId8"/>
                <a:stretch>
                  <a:fillRect l="-308" r="-1538" b="-3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6F1CC8-1228-D94B-B5C9-99CC4D57071C}"/>
              </a:ext>
            </a:extLst>
          </p:cNvPr>
          <p:cNvCxnSpPr>
            <a:cxnSpLocks/>
          </p:cNvCxnSpPr>
          <p:nvPr/>
        </p:nvCxnSpPr>
        <p:spPr>
          <a:xfrm>
            <a:off x="4164605" y="3434261"/>
            <a:ext cx="671992" cy="0"/>
          </a:xfrm>
          <a:prstGeom prst="line">
            <a:avLst/>
          </a:prstGeom>
          <a:ln w="127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1F33842-9BF2-8B40-8330-66E9113AA66A}"/>
                  </a:ext>
                </a:extLst>
              </p:cNvPr>
              <p:cNvSpPr txBox="1"/>
              <p:nvPr/>
            </p:nvSpPr>
            <p:spPr>
              <a:xfrm>
                <a:off x="3708982" y="3563541"/>
                <a:ext cx="1398909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Ценность состояния</a:t>
                </a:r>
                <a:r>
                  <a:rPr lang="en-US" sz="9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  <a:endParaRPr lang="en-TR" sz="9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1F33842-9BF2-8B40-8330-66E9113AA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8982" y="3563541"/>
                <a:ext cx="1398909" cy="230832"/>
              </a:xfrm>
              <a:prstGeom prst="rect">
                <a:avLst/>
              </a:prstGeom>
              <a:blipFill>
                <a:blip r:embed="rId9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E4B0874-D532-4D45-AA40-542F9655C5E6}"/>
              </a:ext>
            </a:extLst>
          </p:cNvPr>
          <p:cNvCxnSpPr>
            <a:cxnSpLocks/>
          </p:cNvCxnSpPr>
          <p:nvPr/>
        </p:nvCxnSpPr>
        <p:spPr>
          <a:xfrm flipV="1">
            <a:off x="4418651" y="3434262"/>
            <a:ext cx="81950" cy="196939"/>
          </a:xfrm>
          <a:prstGeom prst="line">
            <a:avLst/>
          </a:prstGeom>
          <a:ln w="127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E993C92-81C7-6F41-9ACE-E8E41E231473}"/>
              </a:ext>
            </a:extLst>
          </p:cNvPr>
          <p:cNvCxnSpPr>
            <a:cxnSpLocks/>
          </p:cNvCxnSpPr>
          <p:nvPr/>
        </p:nvCxnSpPr>
        <p:spPr>
          <a:xfrm flipV="1">
            <a:off x="5160398" y="3574094"/>
            <a:ext cx="2202129" cy="24786"/>
          </a:xfrm>
          <a:prstGeom prst="line">
            <a:avLst/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0B5A72E-E55A-C745-BE27-316E5DC0EAE0}"/>
              </a:ext>
            </a:extLst>
          </p:cNvPr>
          <p:cNvSpPr txBox="1"/>
          <p:nvPr/>
        </p:nvSpPr>
        <p:spPr>
          <a:xfrm>
            <a:off x="5344645" y="4416516"/>
            <a:ext cx="20489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900" dirty="0">
                <a:solidFill>
                  <a:srgbClr val="00B050"/>
                </a:solidFill>
              </a:rPr>
              <a:t>Ожидаемая будущая награда</a:t>
            </a:r>
            <a:endParaRPr lang="en-TR" sz="900" dirty="0">
              <a:solidFill>
                <a:srgbClr val="00B050"/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F42E0BE-E048-2748-8352-72EFEB31C3C1}"/>
              </a:ext>
            </a:extLst>
          </p:cNvPr>
          <p:cNvCxnSpPr>
            <a:cxnSpLocks/>
          </p:cNvCxnSpPr>
          <p:nvPr/>
        </p:nvCxnSpPr>
        <p:spPr>
          <a:xfrm flipV="1">
            <a:off x="5496394" y="3598880"/>
            <a:ext cx="0" cy="772992"/>
          </a:xfrm>
          <a:prstGeom prst="line">
            <a:avLst/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2B7A86-09B2-E547-846D-05AD54321A8B}"/>
              </a:ext>
            </a:extLst>
          </p:cNvPr>
          <p:cNvCxnSpPr>
            <a:cxnSpLocks/>
          </p:cNvCxnSpPr>
          <p:nvPr/>
        </p:nvCxnSpPr>
        <p:spPr>
          <a:xfrm>
            <a:off x="5496394" y="3449476"/>
            <a:ext cx="495910" cy="0"/>
          </a:xfrm>
          <a:prstGeom prst="line">
            <a:avLst/>
          </a:prstGeom>
          <a:ln w="127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36F76E7-DB77-3346-97ED-DF93BEEBFBE2}"/>
              </a:ext>
            </a:extLst>
          </p:cNvPr>
          <p:cNvCxnSpPr>
            <a:cxnSpLocks/>
          </p:cNvCxnSpPr>
          <p:nvPr/>
        </p:nvCxnSpPr>
        <p:spPr>
          <a:xfrm flipV="1">
            <a:off x="6323528" y="3434261"/>
            <a:ext cx="1038999" cy="15215"/>
          </a:xfrm>
          <a:prstGeom prst="line">
            <a:avLst/>
          </a:prstGeom>
          <a:ln w="127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3E71738-6413-6C40-8976-5C79378E23E7}"/>
              </a:ext>
            </a:extLst>
          </p:cNvPr>
          <p:cNvSpPr txBox="1"/>
          <p:nvPr/>
        </p:nvSpPr>
        <p:spPr>
          <a:xfrm>
            <a:off x="5496395" y="3659649"/>
            <a:ext cx="1054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900" dirty="0">
                <a:solidFill>
                  <a:schemeClr val="accent6">
                    <a:lumMod val="50000"/>
                  </a:schemeClr>
                </a:solidFill>
              </a:rPr>
              <a:t>Немедленная награда</a:t>
            </a:r>
            <a:endParaRPr lang="en-TR" sz="9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DE1EC9D-304C-4449-A9D3-187835653CD2}"/>
              </a:ext>
            </a:extLst>
          </p:cNvPr>
          <p:cNvCxnSpPr>
            <a:cxnSpLocks/>
          </p:cNvCxnSpPr>
          <p:nvPr/>
        </p:nvCxnSpPr>
        <p:spPr>
          <a:xfrm flipV="1">
            <a:off x="5715709" y="3449477"/>
            <a:ext cx="0" cy="210172"/>
          </a:xfrm>
          <a:prstGeom prst="line">
            <a:avLst/>
          </a:prstGeom>
          <a:ln w="127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15C87E1-F384-8E4F-8274-7C6EAE351793}"/>
              </a:ext>
            </a:extLst>
          </p:cNvPr>
          <p:cNvCxnSpPr>
            <a:cxnSpLocks/>
          </p:cNvCxnSpPr>
          <p:nvPr/>
        </p:nvCxnSpPr>
        <p:spPr>
          <a:xfrm flipV="1">
            <a:off x="6734051" y="3449477"/>
            <a:ext cx="0" cy="373583"/>
          </a:xfrm>
          <a:prstGeom prst="line">
            <a:avLst/>
          </a:prstGeom>
          <a:ln w="127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8F2B9457-E3B6-6B44-B871-273B169C6666}"/>
              </a:ext>
            </a:extLst>
          </p:cNvPr>
          <p:cNvSpPr txBox="1"/>
          <p:nvPr/>
        </p:nvSpPr>
        <p:spPr>
          <a:xfrm>
            <a:off x="6406255" y="3819898"/>
            <a:ext cx="135961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900" dirty="0">
                <a:solidFill>
                  <a:schemeClr val="accent5">
                    <a:lumMod val="75000"/>
                  </a:schemeClr>
                </a:solidFill>
              </a:rPr>
              <a:t>Дисконтированная ценность</a:t>
            </a:r>
            <a:br>
              <a:rPr lang="ru-RU" sz="900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ru-RU" sz="900" dirty="0">
                <a:solidFill>
                  <a:schemeClr val="accent5">
                    <a:lumMod val="75000"/>
                  </a:schemeClr>
                </a:solidFill>
              </a:rPr>
              <a:t>будущего состояния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6F541DE-DCA9-BB42-B742-4531DD8CDDE6}"/>
              </a:ext>
            </a:extLst>
          </p:cNvPr>
          <p:cNvCxnSpPr>
            <a:cxnSpLocks/>
          </p:cNvCxnSpPr>
          <p:nvPr/>
        </p:nvCxnSpPr>
        <p:spPr>
          <a:xfrm>
            <a:off x="7496452" y="3429622"/>
            <a:ext cx="649490" cy="1022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252E0E-D682-DF4B-8E3B-E79D05F4149F}"/>
                  </a:ext>
                </a:extLst>
              </p:cNvPr>
              <p:cNvSpPr txBox="1"/>
              <p:nvPr/>
            </p:nvSpPr>
            <p:spPr>
              <a:xfrm>
                <a:off x="7707970" y="3574094"/>
                <a:ext cx="1313180" cy="5078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При условии начала </a:t>
                </a:r>
                <a:b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</a:br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действия из</a:t>
                </a:r>
              </a:p>
              <a:p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состояния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TR" sz="900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252E0E-D682-DF4B-8E3B-E79D05F41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970" y="3574094"/>
                <a:ext cx="1313180" cy="507831"/>
              </a:xfrm>
              <a:prstGeom prst="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F4CAD02-95DC-D545-B3A5-55397EC565B8}"/>
              </a:ext>
            </a:extLst>
          </p:cNvPr>
          <p:cNvCxnSpPr>
            <a:cxnSpLocks/>
          </p:cNvCxnSpPr>
          <p:nvPr/>
        </p:nvCxnSpPr>
        <p:spPr>
          <a:xfrm flipV="1">
            <a:off x="7833982" y="3429623"/>
            <a:ext cx="0" cy="173046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DFD3B56-0602-1F4F-94C8-FB1BC8C1A661}"/>
              </a:ext>
            </a:extLst>
          </p:cNvPr>
          <p:cNvSpPr/>
          <p:nvPr/>
        </p:nvSpPr>
        <p:spPr>
          <a:xfrm>
            <a:off x="5234087" y="3256929"/>
            <a:ext cx="158104" cy="153889"/>
          </a:xfrm>
          <a:prstGeom prst="rect">
            <a:avLst/>
          </a:prstGeom>
          <a:noFill/>
          <a:ln w="12700">
            <a:solidFill>
              <a:srgbClr val="C00000">
                <a:alpha val="44563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0F9F924-E4F0-9B4E-8C65-04CA4724285E}"/>
                  </a:ext>
                </a:extLst>
              </p:cNvPr>
              <p:cNvSpPr txBox="1"/>
              <p:nvPr/>
            </p:nvSpPr>
            <p:spPr>
              <a:xfrm>
                <a:off x="5101647" y="2699900"/>
                <a:ext cx="22268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rgbClr val="C00000"/>
                    </a:solidFill>
                  </a:rPr>
                  <a:t>В условиях, что действие выбирается</a:t>
                </a:r>
                <a:br>
                  <a:rPr lang="ru-RU" sz="900" dirty="0">
                    <a:solidFill>
                      <a:srgbClr val="C00000"/>
                    </a:solidFill>
                  </a:rPr>
                </a:br>
                <a:r>
                  <a:rPr lang="ru-RU" sz="900" dirty="0">
                    <a:solidFill>
                      <a:srgbClr val="C00000"/>
                    </a:solidFill>
                  </a:rPr>
                  <a:t>исходя из политики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ru-RU" sz="9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0F9F924-E4F0-9B4E-8C65-04CA47242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647" y="2699900"/>
                <a:ext cx="2226892" cy="369332"/>
              </a:xfrm>
              <a:prstGeom prst="rect">
                <a:avLst/>
              </a:prstGeom>
              <a:blipFill>
                <a:blip r:embed="rId11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87FC44C-94A1-FA48-AEA1-467DD7C85591}"/>
              </a:ext>
            </a:extLst>
          </p:cNvPr>
          <p:cNvCxnSpPr>
            <a:cxnSpLocks/>
          </p:cNvCxnSpPr>
          <p:nvPr/>
        </p:nvCxnSpPr>
        <p:spPr>
          <a:xfrm flipV="1">
            <a:off x="5305763" y="3080665"/>
            <a:ext cx="0" cy="168350"/>
          </a:xfrm>
          <a:prstGeom prst="line">
            <a:avLst/>
          </a:prstGeom>
          <a:ln w="12700">
            <a:solidFill>
              <a:srgbClr val="C00000">
                <a:alpha val="44563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8B367DB-CD5B-8B41-AB78-43C11BD49BB8}"/>
              </a:ext>
            </a:extLst>
          </p:cNvPr>
          <p:cNvCxnSpPr>
            <a:cxnSpLocks/>
          </p:cNvCxnSpPr>
          <p:nvPr/>
        </p:nvCxnSpPr>
        <p:spPr>
          <a:xfrm>
            <a:off x="625965" y="1913776"/>
            <a:ext cx="1785842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7FA4BD9-6A4F-224D-A4F8-64E9276F68C9}"/>
              </a:ext>
            </a:extLst>
          </p:cNvPr>
          <p:cNvCxnSpPr>
            <a:cxnSpLocks/>
          </p:cNvCxnSpPr>
          <p:nvPr/>
        </p:nvCxnSpPr>
        <p:spPr>
          <a:xfrm>
            <a:off x="2411807" y="2882385"/>
            <a:ext cx="943373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AD2B751-7698-394D-A696-CB4010A7BA2D}"/>
              </a:ext>
            </a:extLst>
          </p:cNvPr>
          <p:cNvCxnSpPr>
            <a:cxnSpLocks/>
          </p:cNvCxnSpPr>
          <p:nvPr/>
        </p:nvCxnSpPr>
        <p:spPr>
          <a:xfrm>
            <a:off x="2411807" y="1913776"/>
            <a:ext cx="0" cy="968609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94870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4DA70-3E39-6C4A-80F5-DC4C8CB3C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ценности состояния-действия</a:t>
            </a:r>
            <a:endParaRPr lang="en-TR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9F32F17-3BEB-7149-AEEA-8B95D8D70DF3}"/>
              </a:ext>
            </a:extLst>
          </p:cNvPr>
          <p:cNvGraphicFramePr>
            <a:graphicFrameLocks noGrp="1"/>
          </p:cNvGraphicFramePr>
          <p:nvPr/>
        </p:nvGraphicFramePr>
        <p:xfrm>
          <a:off x="683241" y="1436644"/>
          <a:ext cx="2109055" cy="1854200"/>
        </p:xfrm>
        <a:graphic>
          <a:graphicData uri="http://schemas.openxmlformats.org/drawingml/2006/table">
            <a:tbl>
              <a:tblPr firstRow="1" bandRow="1"/>
              <a:tblGrid>
                <a:gridCol w="421811">
                  <a:extLst>
                    <a:ext uri="{9D8B030D-6E8A-4147-A177-3AD203B41FA5}">
                      <a16:colId xmlns:a16="http://schemas.microsoft.com/office/drawing/2014/main" val="3722595887"/>
                    </a:ext>
                  </a:extLst>
                </a:gridCol>
                <a:gridCol w="421811">
                  <a:extLst>
                    <a:ext uri="{9D8B030D-6E8A-4147-A177-3AD203B41FA5}">
                      <a16:colId xmlns:a16="http://schemas.microsoft.com/office/drawing/2014/main" val="408206748"/>
                    </a:ext>
                  </a:extLst>
                </a:gridCol>
                <a:gridCol w="421811">
                  <a:extLst>
                    <a:ext uri="{9D8B030D-6E8A-4147-A177-3AD203B41FA5}">
                      <a16:colId xmlns:a16="http://schemas.microsoft.com/office/drawing/2014/main" val="1642578470"/>
                    </a:ext>
                  </a:extLst>
                </a:gridCol>
                <a:gridCol w="421811">
                  <a:extLst>
                    <a:ext uri="{9D8B030D-6E8A-4147-A177-3AD203B41FA5}">
                      <a16:colId xmlns:a16="http://schemas.microsoft.com/office/drawing/2014/main" val="77006586"/>
                    </a:ext>
                  </a:extLst>
                </a:gridCol>
                <a:gridCol w="421811">
                  <a:extLst>
                    <a:ext uri="{9D8B030D-6E8A-4147-A177-3AD203B41FA5}">
                      <a16:colId xmlns:a16="http://schemas.microsoft.com/office/drawing/2014/main" val="2039500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TR" sz="800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sz="800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sz="800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sz="800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sz="800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69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TR" sz="800" b="1" dirty="0"/>
                        <a:t>-7</a:t>
                      </a:r>
                    </a:p>
                  </a:txBody>
                  <a:tcPr marR="360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TR" sz="800" b="1" dirty="0"/>
                        <a:t>-6</a:t>
                      </a:r>
                    </a:p>
                  </a:txBody>
                  <a:tcPr marR="360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TR" sz="800" b="1" dirty="0"/>
                        <a:t>-5</a:t>
                      </a:r>
                    </a:p>
                  </a:txBody>
                  <a:tcPr marR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sz="800" b="1" dirty="0"/>
                        <a:t>-4</a:t>
                      </a:r>
                    </a:p>
                  </a:txBody>
                  <a:tcPr marB="0" anchor="b"/>
                </a:tc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36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sz="800" b="1" dirty="0"/>
                        <a:t>-7</a:t>
                      </a:r>
                    </a:p>
                  </a:txBody>
                  <a:tcPr marT="0"/>
                </a:tc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sz="800" b="1" dirty="0"/>
                        <a:t>-3</a:t>
                      </a:r>
                    </a:p>
                  </a:txBody>
                  <a:tcPr marB="0" anchor="b"/>
                </a:tc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523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sz="800" b="1" dirty="0"/>
                        <a:t>-8</a:t>
                      </a:r>
                    </a:p>
                  </a:txBody>
                  <a:tcPr marT="0"/>
                </a:tc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TR" sz="800" b="1" dirty="0"/>
                        <a:t>-2</a:t>
                      </a:r>
                    </a:p>
                  </a:txBody>
                  <a:tcPr marR="3600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TR" sz="800" b="1" dirty="0"/>
                        <a:t>-1</a:t>
                      </a:r>
                    </a:p>
                  </a:txBody>
                  <a:tcPr marR="36000" anchor="ctr"/>
                </a:tc>
                <a:extLst>
                  <a:ext uri="{0D108BD9-81ED-4DB2-BD59-A6C34878D82A}">
                    <a16:rowId xmlns:a16="http://schemas.microsoft.com/office/drawing/2014/main" val="2758370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R" sz="800" b="1" dirty="0"/>
                        <a:t>-9</a:t>
                      </a:r>
                    </a:p>
                  </a:txBody>
                  <a:tcPr marT="0"/>
                </a:tc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TR" sz="800" b="1" dirty="0"/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2450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1EC241C-0460-DE40-B9A1-BBAADF9C4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48" y="1804249"/>
            <a:ext cx="282457" cy="393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1F3B6E-FCD0-9042-B7EF-FEDA8CA0D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433" y="2547198"/>
            <a:ext cx="387010" cy="38701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82445E7-A0E5-F04E-847C-6658174244BA}"/>
              </a:ext>
            </a:extLst>
          </p:cNvPr>
          <p:cNvCxnSpPr>
            <a:cxnSpLocks/>
          </p:cNvCxnSpPr>
          <p:nvPr/>
        </p:nvCxnSpPr>
        <p:spPr>
          <a:xfrm flipV="1">
            <a:off x="1110781" y="1804249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BD96A57-FA5C-814D-A264-5A0542D84C0C}"/>
              </a:ext>
            </a:extLst>
          </p:cNvPr>
          <p:cNvCxnSpPr>
            <a:cxnSpLocks/>
          </p:cNvCxnSpPr>
          <p:nvPr/>
        </p:nvCxnSpPr>
        <p:spPr>
          <a:xfrm flipV="1">
            <a:off x="688250" y="1807424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C27F89B-7B97-7544-B5B5-D48F9FFC0306}"/>
              </a:ext>
            </a:extLst>
          </p:cNvPr>
          <p:cNvCxnSpPr>
            <a:cxnSpLocks/>
          </p:cNvCxnSpPr>
          <p:nvPr/>
        </p:nvCxnSpPr>
        <p:spPr>
          <a:xfrm flipV="1">
            <a:off x="1104644" y="2174875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BF715B1-EA11-8E44-BA0E-80753C64622F}"/>
              </a:ext>
            </a:extLst>
          </p:cNvPr>
          <p:cNvCxnSpPr>
            <a:cxnSpLocks/>
          </p:cNvCxnSpPr>
          <p:nvPr/>
        </p:nvCxnSpPr>
        <p:spPr>
          <a:xfrm flipV="1">
            <a:off x="1107819" y="2550721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E7E6CBE-AC04-F049-A1F0-0A05B0BBB8D2}"/>
              </a:ext>
            </a:extLst>
          </p:cNvPr>
          <p:cNvCxnSpPr>
            <a:cxnSpLocks/>
          </p:cNvCxnSpPr>
          <p:nvPr/>
        </p:nvCxnSpPr>
        <p:spPr>
          <a:xfrm flipV="1">
            <a:off x="1104644" y="2920981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8B7D798-AD9D-D546-97B5-EF03C015119C}"/>
              </a:ext>
            </a:extLst>
          </p:cNvPr>
          <p:cNvCxnSpPr>
            <a:cxnSpLocks/>
          </p:cNvCxnSpPr>
          <p:nvPr/>
        </p:nvCxnSpPr>
        <p:spPr>
          <a:xfrm flipV="1">
            <a:off x="1532746" y="1804249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7BC47FA-AB7E-C348-888C-E92B9B1DB9C8}"/>
              </a:ext>
            </a:extLst>
          </p:cNvPr>
          <p:cNvCxnSpPr>
            <a:cxnSpLocks/>
          </p:cNvCxnSpPr>
          <p:nvPr/>
        </p:nvCxnSpPr>
        <p:spPr>
          <a:xfrm flipV="1">
            <a:off x="1954711" y="1804249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4E39537-E51F-EA40-85F9-26AEF1DF0352}"/>
              </a:ext>
            </a:extLst>
          </p:cNvPr>
          <p:cNvCxnSpPr>
            <a:cxnSpLocks/>
          </p:cNvCxnSpPr>
          <p:nvPr/>
        </p:nvCxnSpPr>
        <p:spPr>
          <a:xfrm flipV="1">
            <a:off x="1951536" y="2181379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BBDD51-685E-F54D-A0B0-2244EDAA0F48}"/>
              </a:ext>
            </a:extLst>
          </p:cNvPr>
          <p:cNvCxnSpPr>
            <a:cxnSpLocks/>
          </p:cNvCxnSpPr>
          <p:nvPr/>
        </p:nvCxnSpPr>
        <p:spPr>
          <a:xfrm flipV="1">
            <a:off x="1954711" y="2550355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84669A8-9D41-D74B-B8A3-1227416EF206}"/>
              </a:ext>
            </a:extLst>
          </p:cNvPr>
          <p:cNvCxnSpPr>
            <a:cxnSpLocks/>
          </p:cNvCxnSpPr>
          <p:nvPr/>
        </p:nvCxnSpPr>
        <p:spPr>
          <a:xfrm flipV="1">
            <a:off x="2379289" y="2548676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8F154E5-56E0-C549-A4BD-89A5C45CC708}"/>
              </a:ext>
            </a:extLst>
          </p:cNvPr>
          <p:cNvCxnSpPr>
            <a:cxnSpLocks/>
          </p:cNvCxnSpPr>
          <p:nvPr/>
        </p:nvCxnSpPr>
        <p:spPr>
          <a:xfrm flipH="1" flipV="1">
            <a:off x="1951536" y="1804249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9211530-F381-FE42-AE24-D560B2EB2344}"/>
              </a:ext>
            </a:extLst>
          </p:cNvPr>
          <p:cNvCxnSpPr>
            <a:cxnSpLocks/>
          </p:cNvCxnSpPr>
          <p:nvPr/>
        </p:nvCxnSpPr>
        <p:spPr>
          <a:xfrm flipH="1" flipV="1">
            <a:off x="1532184" y="1810753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64196BD-686D-7E44-9A2D-549FE126B00D}"/>
              </a:ext>
            </a:extLst>
          </p:cNvPr>
          <p:cNvCxnSpPr>
            <a:cxnSpLocks/>
          </p:cNvCxnSpPr>
          <p:nvPr/>
        </p:nvCxnSpPr>
        <p:spPr>
          <a:xfrm flipH="1" flipV="1">
            <a:off x="1107606" y="1804403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C07B6FFB-4D9C-B244-B36E-2EA1B48346C7}"/>
              </a:ext>
            </a:extLst>
          </p:cNvPr>
          <p:cNvCxnSpPr>
            <a:cxnSpLocks/>
          </p:cNvCxnSpPr>
          <p:nvPr/>
        </p:nvCxnSpPr>
        <p:spPr>
          <a:xfrm flipH="1" flipV="1">
            <a:off x="1957886" y="2181379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D95390C-BA2C-A54D-851B-7619444FE31C}"/>
              </a:ext>
            </a:extLst>
          </p:cNvPr>
          <p:cNvCxnSpPr>
            <a:cxnSpLocks/>
          </p:cNvCxnSpPr>
          <p:nvPr/>
        </p:nvCxnSpPr>
        <p:spPr>
          <a:xfrm flipH="1" flipV="1">
            <a:off x="1951536" y="2549592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FEB36F6-AF08-4A43-8C4B-FDFBA1CB61EC}"/>
              </a:ext>
            </a:extLst>
          </p:cNvPr>
          <p:cNvCxnSpPr>
            <a:cxnSpLocks/>
          </p:cNvCxnSpPr>
          <p:nvPr/>
        </p:nvCxnSpPr>
        <p:spPr>
          <a:xfrm flipH="1" flipV="1">
            <a:off x="2372939" y="2552005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E3BF28B-D587-8F4C-9C62-20407AE975FE}"/>
              </a:ext>
            </a:extLst>
          </p:cNvPr>
          <p:cNvCxnSpPr>
            <a:cxnSpLocks/>
          </p:cNvCxnSpPr>
          <p:nvPr/>
        </p:nvCxnSpPr>
        <p:spPr>
          <a:xfrm flipH="1" flipV="1">
            <a:off x="1110994" y="2178966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0320BDFF-A13A-8B4E-A50A-30545A33ECE2}"/>
              </a:ext>
            </a:extLst>
          </p:cNvPr>
          <p:cNvCxnSpPr>
            <a:cxnSpLocks/>
          </p:cNvCxnSpPr>
          <p:nvPr/>
        </p:nvCxnSpPr>
        <p:spPr>
          <a:xfrm flipH="1" flipV="1">
            <a:off x="1099848" y="2552005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4A80424-551C-EF4F-B8F8-ED6AD4E84C27}"/>
              </a:ext>
            </a:extLst>
          </p:cNvPr>
          <p:cNvCxnSpPr>
            <a:cxnSpLocks/>
          </p:cNvCxnSpPr>
          <p:nvPr/>
        </p:nvCxnSpPr>
        <p:spPr>
          <a:xfrm flipH="1" flipV="1">
            <a:off x="686918" y="1807424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A4553E3-8698-984F-8098-7D781401B40E}"/>
              </a:ext>
            </a:extLst>
          </p:cNvPr>
          <p:cNvCxnSpPr>
            <a:cxnSpLocks/>
          </p:cNvCxnSpPr>
          <p:nvPr/>
        </p:nvCxnSpPr>
        <p:spPr>
          <a:xfrm flipH="1" flipV="1">
            <a:off x="1109926" y="2920295"/>
            <a:ext cx="410044" cy="370626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C5EEA12-B54C-3C43-A336-017532E3786D}"/>
                  </a:ext>
                </a:extLst>
              </p:cNvPr>
              <p:cNvSpPr txBox="1"/>
              <p:nvPr/>
            </p:nvSpPr>
            <p:spPr>
              <a:xfrm>
                <a:off x="3947375" y="1804249"/>
                <a:ext cx="380905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TR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C5EEA12-B54C-3C43-A336-017532E37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7375" y="1804249"/>
                <a:ext cx="3809056" cy="400110"/>
              </a:xfrm>
              <a:prstGeom prst="rect">
                <a:avLst/>
              </a:prstGeom>
              <a:blipFill>
                <a:blip r:embed="rId4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C762BA6-52F6-2E4B-B3C9-FF5A6AF9D2E6}"/>
              </a:ext>
            </a:extLst>
          </p:cNvPr>
          <p:cNvCxnSpPr>
            <a:cxnSpLocks/>
          </p:cNvCxnSpPr>
          <p:nvPr/>
        </p:nvCxnSpPr>
        <p:spPr>
          <a:xfrm>
            <a:off x="4190690" y="2211630"/>
            <a:ext cx="671992" cy="0"/>
          </a:xfrm>
          <a:prstGeom prst="line">
            <a:avLst/>
          </a:prstGeom>
          <a:ln w="127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002C2B7-5A16-E041-901E-60132DA60B1B}"/>
                  </a:ext>
                </a:extLst>
              </p:cNvPr>
              <p:cNvSpPr txBox="1"/>
              <p:nvPr/>
            </p:nvSpPr>
            <p:spPr>
              <a:xfrm>
                <a:off x="3730944" y="2242047"/>
                <a:ext cx="1366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Ценность состояния</a:t>
                </a:r>
                <a:r>
                  <a:rPr lang="en-US" sz="9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b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при действии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  <a:endParaRPr lang="en-TR" sz="9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002C2B7-5A16-E041-901E-60132DA60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0944" y="2242047"/>
                <a:ext cx="1366849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A433BD58-E104-914D-891F-ED237A6FB990}"/>
              </a:ext>
            </a:extLst>
          </p:cNvPr>
          <p:cNvCxnSpPr>
            <a:cxnSpLocks/>
          </p:cNvCxnSpPr>
          <p:nvPr/>
        </p:nvCxnSpPr>
        <p:spPr>
          <a:xfrm flipV="1">
            <a:off x="5243615" y="2204359"/>
            <a:ext cx="704878" cy="7272"/>
          </a:xfrm>
          <a:prstGeom prst="line">
            <a:avLst/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18931A52-EF28-CC42-AD2B-424CE35BBAB9}"/>
              </a:ext>
            </a:extLst>
          </p:cNvPr>
          <p:cNvSpPr txBox="1"/>
          <p:nvPr/>
        </p:nvSpPr>
        <p:spPr>
          <a:xfrm>
            <a:off x="4703373" y="2444196"/>
            <a:ext cx="17812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900" dirty="0">
                <a:solidFill>
                  <a:srgbClr val="00B050"/>
                </a:solidFill>
              </a:rPr>
              <a:t>Ожидаемая будущая награда</a:t>
            </a:r>
            <a:endParaRPr lang="en-TR" sz="900" dirty="0">
              <a:solidFill>
                <a:srgbClr val="00B050"/>
              </a:solidFill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EF6B89A-244E-F24F-BF0A-9CC11B3D1682}"/>
              </a:ext>
            </a:extLst>
          </p:cNvPr>
          <p:cNvCxnSpPr>
            <a:cxnSpLocks/>
          </p:cNvCxnSpPr>
          <p:nvPr/>
        </p:nvCxnSpPr>
        <p:spPr>
          <a:xfrm flipV="1">
            <a:off x="5423697" y="2210798"/>
            <a:ext cx="15343" cy="261000"/>
          </a:xfrm>
          <a:prstGeom prst="line">
            <a:avLst/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E0CE2A8-84EA-7346-9BBA-07C298467E58}"/>
              </a:ext>
            </a:extLst>
          </p:cNvPr>
          <p:cNvCxnSpPr>
            <a:cxnSpLocks/>
          </p:cNvCxnSpPr>
          <p:nvPr/>
        </p:nvCxnSpPr>
        <p:spPr>
          <a:xfrm flipV="1">
            <a:off x="6004681" y="2204359"/>
            <a:ext cx="1617472" cy="5356"/>
          </a:xfrm>
          <a:prstGeom prst="line">
            <a:avLst/>
          </a:prstGeom>
          <a:ln w="127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F9B183-4FCB-CC4E-BD6D-4EC1861E1EEC}"/>
                  </a:ext>
                </a:extLst>
              </p:cNvPr>
              <p:cNvSpPr txBox="1"/>
              <p:nvPr/>
            </p:nvSpPr>
            <p:spPr>
              <a:xfrm>
                <a:off x="6644160" y="2243847"/>
                <a:ext cx="19772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При условии начала из</a:t>
                </a:r>
              </a:p>
              <a:p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состояния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TR" sz="900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и выбора действия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TR" sz="900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F9B183-4FCB-CC4E-BD6D-4EC1861E1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160" y="2243847"/>
                <a:ext cx="1977208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" name="Rectangle 102">
            <a:extLst>
              <a:ext uri="{FF2B5EF4-FFF2-40B4-BE49-F238E27FC236}">
                <a16:creationId xmlns:a16="http://schemas.microsoft.com/office/drawing/2014/main" id="{14D3B35D-6E45-5C45-B9E2-9F4F17B1BF3D}"/>
              </a:ext>
            </a:extLst>
          </p:cNvPr>
          <p:cNvSpPr/>
          <p:nvPr/>
        </p:nvSpPr>
        <p:spPr>
          <a:xfrm>
            <a:off x="5435898" y="2017403"/>
            <a:ext cx="158104" cy="153889"/>
          </a:xfrm>
          <a:prstGeom prst="rect">
            <a:avLst/>
          </a:prstGeom>
          <a:noFill/>
          <a:ln w="12700">
            <a:solidFill>
              <a:srgbClr val="C00000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C808900-0413-E74A-86BF-A28357305A8A}"/>
                  </a:ext>
                </a:extLst>
              </p:cNvPr>
              <p:cNvSpPr txBox="1"/>
              <p:nvPr/>
            </p:nvSpPr>
            <p:spPr>
              <a:xfrm>
                <a:off x="5118833" y="1305741"/>
                <a:ext cx="22268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900" dirty="0">
                    <a:solidFill>
                      <a:srgbClr val="C00000"/>
                    </a:solidFill>
                  </a:rPr>
                  <a:t>В условиях, что действие выбирается</a:t>
                </a:r>
                <a:br>
                  <a:rPr lang="ru-RU" sz="900" dirty="0">
                    <a:solidFill>
                      <a:srgbClr val="C00000"/>
                    </a:solidFill>
                  </a:rPr>
                </a:br>
                <a:r>
                  <a:rPr lang="ru-RU" sz="900" dirty="0">
                    <a:solidFill>
                      <a:srgbClr val="C00000"/>
                    </a:solidFill>
                  </a:rPr>
                  <a:t>исходя из политики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ru-RU" sz="9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C808900-0413-E74A-86BF-A28357305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833" y="1305741"/>
                <a:ext cx="2226892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EF188D-7626-6E46-94C5-587DF7F4479F}"/>
              </a:ext>
            </a:extLst>
          </p:cNvPr>
          <p:cNvCxnSpPr>
            <a:cxnSpLocks/>
          </p:cNvCxnSpPr>
          <p:nvPr/>
        </p:nvCxnSpPr>
        <p:spPr>
          <a:xfrm flipV="1">
            <a:off x="5525985" y="1697337"/>
            <a:ext cx="0" cy="312151"/>
          </a:xfrm>
          <a:prstGeom prst="line">
            <a:avLst/>
          </a:prstGeom>
          <a:ln w="12700">
            <a:solidFill>
              <a:srgbClr val="C0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B99B195-B404-6944-92DE-B5CAA2CCB45D}"/>
                  </a:ext>
                </a:extLst>
              </p:cNvPr>
              <p:cNvSpPr txBox="1"/>
              <p:nvPr/>
            </p:nvSpPr>
            <p:spPr>
              <a:xfrm>
                <a:off x="4018814" y="3790002"/>
                <a:ext cx="29580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ru-RU" sz="1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/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B99B195-B404-6944-92DE-B5CAA2CCB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8814" y="3790002"/>
                <a:ext cx="2958034" cy="369332"/>
              </a:xfrm>
              <a:prstGeom prst="rect">
                <a:avLst/>
              </a:prstGeom>
              <a:blipFill>
                <a:blip r:embed="rId8"/>
                <a:stretch>
                  <a:fillRect t="-110000" b="-17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CD3FDC3-384E-D04F-ACA9-C0D40C1DF03F}"/>
                  </a:ext>
                </a:extLst>
              </p:cNvPr>
              <p:cNvSpPr txBox="1"/>
              <p:nvPr/>
            </p:nvSpPr>
            <p:spPr>
              <a:xfrm>
                <a:off x="3184431" y="3398449"/>
                <a:ext cx="4572000" cy="357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lnSpc>
                    <a:spcPct val="115000"/>
                  </a:lnSpc>
                  <a:buNone/>
                </a:pPr>
                <a:r>
                  <a:rPr lang="ru-RU" sz="1600" b="1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Связь между 𝑣-функцией и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ru-RU" sz="1600" b="1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-функцией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CD3FDC3-384E-D04F-ACA9-C0D40C1DF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4431" y="3398449"/>
                <a:ext cx="4572000" cy="357277"/>
              </a:xfrm>
              <a:prstGeom prst="rect">
                <a:avLst/>
              </a:prstGeom>
              <a:blipFill>
                <a:blip r:embed="rId9"/>
                <a:stretch>
                  <a:fillRect l="-554" b="-20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A4C2FD-68F0-EF4A-984B-25DCA7F94683}"/>
              </a:ext>
            </a:extLst>
          </p:cNvPr>
          <p:cNvCxnSpPr/>
          <p:nvPr/>
        </p:nvCxnSpPr>
        <p:spPr>
          <a:xfrm>
            <a:off x="4124005" y="4179939"/>
            <a:ext cx="44799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D1CA486-7583-D74D-A5DC-84AF1BAF6478}"/>
                  </a:ext>
                </a:extLst>
              </p:cNvPr>
              <p:cNvSpPr txBox="1"/>
              <p:nvPr/>
            </p:nvSpPr>
            <p:spPr>
              <a:xfrm>
                <a:off x="3814988" y="4233800"/>
                <a:ext cx="880182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900" dirty="0">
                    <a:solidFill>
                      <a:schemeClr val="accent1">
                        <a:lumMod val="50000"/>
                      </a:schemeClr>
                    </a:solidFill>
                  </a:rPr>
                  <a:t>-</a:t>
                </a:r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функция – ценность состояния</a:t>
                </a:r>
                <a:r>
                  <a:rPr lang="en-US" sz="9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ru-RU" sz="9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  <a:endParaRPr lang="en-TR" sz="9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D1CA486-7583-D74D-A5DC-84AF1BAF6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988" y="4233800"/>
                <a:ext cx="880182" cy="507831"/>
              </a:xfrm>
              <a:prstGeom prst="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A99B40F-1B99-9B43-A535-A0FF6722FB6A}"/>
              </a:ext>
            </a:extLst>
          </p:cNvPr>
          <p:cNvCxnSpPr>
            <a:cxnSpLocks/>
          </p:cNvCxnSpPr>
          <p:nvPr/>
        </p:nvCxnSpPr>
        <p:spPr>
          <a:xfrm>
            <a:off x="4795620" y="4179939"/>
            <a:ext cx="105628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6AE8584-7A43-9A44-B3DB-0BF35B3B8CDC}"/>
                  </a:ext>
                </a:extLst>
              </p:cNvPr>
              <p:cNvSpPr txBox="1"/>
              <p:nvPr/>
            </p:nvSpPr>
            <p:spPr>
              <a:xfrm>
                <a:off x="4760850" y="4233800"/>
                <a:ext cx="105628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900" dirty="0">
                    <a:solidFill>
                      <a:srgbClr val="00B050"/>
                    </a:solidFill>
                  </a:rPr>
                  <a:t>Сумма по всем возможным действиям из состояния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TR" sz="9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6AE8584-7A43-9A44-B3DB-0BF35B3B8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0850" y="4233800"/>
                <a:ext cx="1056283" cy="646331"/>
              </a:xfrm>
              <a:prstGeom prst="rect">
                <a:avLst/>
              </a:prstGeom>
              <a:blipFill>
                <a:blip r:embed="rId11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2867F03-9AA0-2043-AF6F-A3B78603A6D1}"/>
                  </a:ext>
                </a:extLst>
              </p:cNvPr>
              <p:cNvSpPr txBox="1"/>
              <p:nvPr/>
            </p:nvSpPr>
            <p:spPr>
              <a:xfrm>
                <a:off x="5948493" y="4233800"/>
                <a:ext cx="1367475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-функция - ценность состояния</a:t>
                </a:r>
                <a:r>
                  <a:rPr lang="en-US" sz="900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b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</a:br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при действии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sz="900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  <a:endParaRPr lang="en-TR" sz="900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2867F03-9AA0-2043-AF6F-A3B78603A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8493" y="4233800"/>
                <a:ext cx="1367475" cy="507831"/>
              </a:xfrm>
              <a:prstGeom prst="rect">
                <a:avLst/>
              </a:prstGeom>
              <a:blipFill>
                <a:blip r:embed="rId1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7028019-7D78-1547-AF62-CD9232788122}"/>
              </a:ext>
            </a:extLst>
          </p:cNvPr>
          <p:cNvCxnSpPr>
            <a:cxnSpLocks/>
          </p:cNvCxnSpPr>
          <p:nvPr/>
        </p:nvCxnSpPr>
        <p:spPr>
          <a:xfrm>
            <a:off x="6004681" y="4179939"/>
            <a:ext cx="739786" cy="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401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DA287-7B36-6340-9E9D-5D9CEE588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Размерность пространства состояний</a:t>
            </a:r>
            <a:endParaRPr lang="en-US" dirty="0"/>
          </a:p>
        </p:txBody>
      </p:sp>
      <p:pic>
        <p:nvPicPr>
          <p:cNvPr id="1026" name="Picture 2" descr="Tank Games for the Atari 2600… | Retro Game Guy">
            <a:extLst>
              <a:ext uri="{FF2B5EF4-FFF2-40B4-BE49-F238E27FC236}">
                <a16:creationId xmlns:a16="http://schemas.microsoft.com/office/drawing/2014/main" id="{717532D9-9BC5-264C-858A-616E129A2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564" y="1450034"/>
            <a:ext cx="4909586" cy="3362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1964B8-CE81-2B43-B334-21C90043E3E2}"/>
              </a:ext>
            </a:extLst>
          </p:cNvPr>
          <p:cNvSpPr txBox="1"/>
          <p:nvPr/>
        </p:nvSpPr>
        <p:spPr>
          <a:xfrm>
            <a:off x="595281" y="1534228"/>
            <a:ext cx="3381438" cy="2314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3350" indent="0">
              <a:lnSpc>
                <a:spcPct val="150000"/>
              </a:lnSpc>
              <a:buNone/>
            </a:pPr>
            <a:r>
              <a:rPr lang="ru-RU" sz="1400" dirty="0">
                <a:solidFill>
                  <a:srgbClr val="000000"/>
                </a:solidFill>
                <a:latin typeface="Helvetica Neue" panose="02000503000000020004" pitchFamily="2" charset="0"/>
              </a:rPr>
              <a:t>Экран игры 210х160 с 8-битной графикой и 3 действиями дает нам пространство состояний </a:t>
            </a:r>
            <a:br>
              <a:rPr lang="ru-RU" sz="1400" dirty="0">
                <a:solidFill>
                  <a:srgbClr val="000000"/>
                </a:solidFill>
                <a:latin typeface="Helvetica Neue" panose="02000503000000020004" pitchFamily="2" charset="0"/>
              </a:rPr>
            </a:br>
            <a:r>
              <a:rPr lang="en-US" sz="1400" dirty="0">
                <a:solidFill>
                  <a:srgbClr val="000000"/>
                </a:solidFill>
                <a:latin typeface="Helvetica Neue" panose="02000503000000020004" pitchFamily="2" charset="0"/>
              </a:rPr>
              <a:t>2</a:t>
            </a:r>
            <a:r>
              <a:rPr lang="en-US" sz="1400" baseline="30000" dirty="0">
                <a:solidFill>
                  <a:srgbClr val="000000"/>
                </a:solidFill>
                <a:latin typeface="Helvetica Neue" panose="02000503000000020004" pitchFamily="2" charset="0"/>
              </a:rPr>
              <a:t>160*210*8*3</a:t>
            </a:r>
            <a:r>
              <a:rPr lang="en-US" sz="1400" dirty="0">
                <a:solidFill>
                  <a:srgbClr val="000000"/>
                </a:solidFill>
                <a:latin typeface="Helvetica Neue" panose="02000503000000020004" pitchFamily="2" charset="0"/>
              </a:rPr>
              <a:t> = 2</a:t>
            </a:r>
            <a:r>
              <a:rPr lang="en-US" sz="1400" baseline="30000" dirty="0">
                <a:solidFill>
                  <a:srgbClr val="000000"/>
                </a:solidFill>
                <a:latin typeface="Helvetica Neue" panose="02000503000000020004" pitchFamily="2" charset="0"/>
              </a:rPr>
              <a:t>806400</a:t>
            </a:r>
            <a:r>
              <a:rPr lang="en-US" sz="1400" dirty="0">
                <a:solidFill>
                  <a:srgbClr val="000000"/>
                </a:solidFill>
                <a:latin typeface="Helvetica Neue" panose="02000503000000020004" pitchFamily="2" charset="0"/>
              </a:rPr>
              <a:t> – </a:t>
            </a:r>
            <a:r>
              <a:rPr lang="ru-RU" sz="1400" dirty="0">
                <a:solidFill>
                  <a:srgbClr val="000000"/>
                </a:solidFill>
                <a:latin typeface="Helvetica Neue" panose="02000503000000020004" pitchFamily="2" charset="0"/>
              </a:rPr>
              <a:t>сопоставимо с числом атомов во вселенной, точнее говоря много больше </a:t>
            </a:r>
            <a:r>
              <a:rPr lang="ru-RU" sz="1400" dirty="0">
                <a:solidFill>
                  <a:srgbClr val="000000"/>
                </a:solidFill>
                <a:latin typeface="Helvetica Neue" panose="02000503000000020004" pitchFamily="2" charset="0"/>
                <a:sym typeface="Wingdings" pitchFamily="2" charset="2"/>
              </a:rPr>
              <a:t>😱</a:t>
            </a:r>
            <a:endParaRPr lang="en-US" sz="1400" baseline="30000" dirty="0">
              <a:solidFill>
                <a:srgbClr val="000000"/>
              </a:solidFill>
              <a:latin typeface="Helvetica Neue" panose="02000503000000020004" pitchFamily="2" charset="0"/>
            </a:endParaRP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989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Q-learning update for NN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959E22-D405-3746-8366-A60CC80B9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1041222"/>
            <a:ext cx="4660173" cy="39206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2B78E1-E708-EA44-9C6F-6DD6C2F2E456}"/>
                  </a:ext>
                </a:extLst>
              </p:cNvPr>
              <p:cNvSpPr txBox="1"/>
              <p:nvPr/>
            </p:nvSpPr>
            <p:spPr>
              <a:xfrm>
                <a:off x="5805813" y="1678488"/>
                <a:ext cx="3215337" cy="14586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/>
                  <a:t>Будем приближать функцию </a:t>
                </a:r>
                <a:r>
                  <a:rPr lang="en-US" dirty="0"/>
                  <a:t>Q </a:t>
                </a:r>
                <a:r>
                  <a:rPr lang="ru-RU" dirty="0" err="1"/>
                  <a:t>нейросетью</a:t>
                </a:r>
                <a:r>
                  <a:rPr lang="ru-RU" dirty="0"/>
                  <a:t> и на выходе получим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4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</m:oMath>
                </a14:m>
                <a:r>
                  <a:rPr lang="ru-RU" dirty="0"/>
                  <a:t> то есть действие, которые принесет нам максимальное мате ожидание финальной награды.</a:t>
                </a:r>
                <a:endParaRPr lang="en-RU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2B78E1-E708-EA44-9C6F-6DD6C2F2E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813" y="1678488"/>
                <a:ext cx="3215337" cy="1458669"/>
              </a:xfrm>
              <a:prstGeom prst="rect">
                <a:avLst/>
              </a:prstGeom>
              <a:blipFill>
                <a:blip r:embed="rId4"/>
                <a:stretch>
                  <a:fillRect l="-392" t="-862" b="-2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74409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Q-learning update for NN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051E6E68-4317-2841-BFA7-5EE1361731D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4007054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Обновляем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функцию: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b="0" i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6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sz="16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Loss: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func>
                                <m:func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600" b="0" i="0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6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6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≈−2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p>
                        <m:sSup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051E6E68-4317-2841-BFA7-5EE1361731D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400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909EFE9-8AF8-534F-AFCA-B36C86C8D18F}"/>
              </a:ext>
            </a:extLst>
          </p:cNvPr>
          <p:cNvSpPr/>
          <p:nvPr/>
        </p:nvSpPr>
        <p:spPr>
          <a:xfrm>
            <a:off x="3970751" y="1426624"/>
            <a:ext cx="3288082" cy="565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82712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A1CD1D-A55C-3441-961B-9A977658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алгоритмов </a:t>
            </a:r>
            <a:r>
              <a:rPr lang="en-US" dirty="0"/>
              <a:t>RL</a:t>
            </a:r>
            <a:endParaRPr lang="en-TR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23CBB6-9E3B-5D4A-ABE9-B9AA7A6458FA}"/>
              </a:ext>
            </a:extLst>
          </p:cNvPr>
          <p:cNvSpPr/>
          <p:nvPr/>
        </p:nvSpPr>
        <p:spPr>
          <a:xfrm>
            <a:off x="4035020" y="1091429"/>
            <a:ext cx="1073960" cy="43821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RL Algorithms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CE2439-344B-844B-9867-EB4C6A5132A8}"/>
              </a:ext>
            </a:extLst>
          </p:cNvPr>
          <p:cNvSpPr/>
          <p:nvPr/>
        </p:nvSpPr>
        <p:spPr>
          <a:xfrm>
            <a:off x="1872452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Model-free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ED1F50-6B5D-2347-9EE4-2CD4BAABD013}"/>
              </a:ext>
            </a:extLst>
          </p:cNvPr>
          <p:cNvSpPr/>
          <p:nvPr/>
        </p:nvSpPr>
        <p:spPr>
          <a:xfrm>
            <a:off x="6197589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Model-based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2C5F1E56-FF27-B04C-83E6-4B92D82FAD0C}"/>
              </a:ext>
            </a:extLst>
          </p:cNvPr>
          <p:cNvCxnSpPr>
            <a:cxnSpLocks/>
            <a:stCxn id="5" idx="1"/>
            <a:endCxn id="6" idx="3"/>
          </p:cNvCxnSpPr>
          <p:nvPr/>
        </p:nvCxnSpPr>
        <p:spPr>
          <a:xfrm flipH="1">
            <a:off x="2946412" y="1310536"/>
            <a:ext cx="108860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8">
            <a:extLst>
              <a:ext uri="{FF2B5EF4-FFF2-40B4-BE49-F238E27FC236}">
                <a16:creationId xmlns:a16="http://schemas.microsoft.com/office/drawing/2014/main" id="{6A120926-8349-524F-BD9A-68375F46F4E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08980" y="1310536"/>
            <a:ext cx="1088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EF20AD9-97B3-6F43-B41A-BADC332B23D1}"/>
              </a:ext>
            </a:extLst>
          </p:cNvPr>
          <p:cNvSpPr/>
          <p:nvPr/>
        </p:nvSpPr>
        <p:spPr>
          <a:xfrm>
            <a:off x="1200458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Policy Optimization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A2D8CAF-78EF-454A-B4BE-AB77D861A731}"/>
              </a:ext>
            </a:extLst>
          </p:cNvPr>
          <p:cNvSpPr/>
          <p:nvPr/>
        </p:nvSpPr>
        <p:spPr>
          <a:xfrm>
            <a:off x="2438721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Q-Learning</a:t>
            </a:r>
          </a:p>
        </p:txBody>
      </p:sp>
      <p:cxnSp>
        <p:nvCxnSpPr>
          <p:cNvPr id="15" name="Elbow Connector 8">
            <a:extLst>
              <a:ext uri="{FF2B5EF4-FFF2-40B4-BE49-F238E27FC236}">
                <a16:creationId xmlns:a16="http://schemas.microsoft.com/office/drawing/2014/main" id="{7E9E6EFB-EB94-4440-B564-66C2386C179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5400000">
            <a:off x="1960245" y="1306836"/>
            <a:ext cx="226380" cy="67199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83736521-F6E9-BF45-B905-73B89A805F21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2579376" y="1359698"/>
            <a:ext cx="226380" cy="56626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5151AB6-889C-6B4A-B2B6-41CCAAF9496A}"/>
              </a:ext>
            </a:extLst>
          </p:cNvPr>
          <p:cNvSpPr/>
          <p:nvPr/>
        </p:nvSpPr>
        <p:spPr>
          <a:xfrm>
            <a:off x="5555996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Learn Model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F6A4774-8494-3A47-9649-62287262141F}"/>
              </a:ext>
            </a:extLst>
          </p:cNvPr>
          <p:cNvSpPr/>
          <p:nvPr/>
        </p:nvSpPr>
        <p:spPr>
          <a:xfrm>
            <a:off x="6794537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Given Model</a:t>
            </a:r>
          </a:p>
        </p:txBody>
      </p:sp>
      <p:cxnSp>
        <p:nvCxnSpPr>
          <p:cNvPr id="29" name="Elbow Connector 8">
            <a:extLst>
              <a:ext uri="{FF2B5EF4-FFF2-40B4-BE49-F238E27FC236}">
                <a16:creationId xmlns:a16="http://schemas.microsoft.com/office/drawing/2014/main" id="{83BF5E0B-D9E2-A44C-A3C3-1EC7E7EF82B3}"/>
              </a:ext>
            </a:extLst>
          </p:cNvPr>
          <p:cNvCxnSpPr>
            <a:cxnSpLocks/>
            <a:stCxn id="7" idx="2"/>
            <a:endCxn id="22" idx="0"/>
          </p:cNvCxnSpPr>
          <p:nvPr/>
        </p:nvCxnSpPr>
        <p:spPr>
          <a:xfrm rot="16200000" flipH="1">
            <a:off x="6919853" y="1344359"/>
            <a:ext cx="226380" cy="59694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8">
            <a:extLst>
              <a:ext uri="{FF2B5EF4-FFF2-40B4-BE49-F238E27FC236}">
                <a16:creationId xmlns:a16="http://schemas.microsoft.com/office/drawing/2014/main" id="{BE91FF24-2607-0F45-A2CB-E20F82CC51BA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5400000">
            <a:off x="6300583" y="1322037"/>
            <a:ext cx="226380" cy="64159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FC80BF1-067B-C54B-ABF2-06C43862B832}"/>
              </a:ext>
            </a:extLst>
          </p:cNvPr>
          <p:cNvSpPr/>
          <p:nvPr/>
        </p:nvSpPr>
        <p:spPr>
          <a:xfrm>
            <a:off x="547297" y="2914110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A2C / A3C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52C766A-5AD8-FB4D-9B63-93A31BAA6E8E}"/>
              </a:ext>
            </a:extLst>
          </p:cNvPr>
          <p:cNvSpPr/>
          <p:nvPr/>
        </p:nvSpPr>
        <p:spPr>
          <a:xfrm>
            <a:off x="547297" y="3260880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PPO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D991E71-A838-5D49-ACE8-E69497F662F4}"/>
              </a:ext>
            </a:extLst>
          </p:cNvPr>
          <p:cNvSpPr/>
          <p:nvPr/>
        </p:nvSpPr>
        <p:spPr>
          <a:xfrm>
            <a:off x="547297" y="361035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TRPO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247219A-A6CB-3744-9730-7766985B2E8B}"/>
              </a:ext>
            </a:extLst>
          </p:cNvPr>
          <p:cNvSpPr/>
          <p:nvPr/>
        </p:nvSpPr>
        <p:spPr>
          <a:xfrm>
            <a:off x="547297" y="2543969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DDPG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26CE7CE8-E53F-914A-B91F-A39CAA5B306B}"/>
              </a:ext>
            </a:extLst>
          </p:cNvPr>
          <p:cNvSpPr/>
          <p:nvPr/>
        </p:nvSpPr>
        <p:spPr>
          <a:xfrm>
            <a:off x="1966738" y="311968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TD3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CA36081-543C-9D46-B5F7-B390ED9ACD31}"/>
              </a:ext>
            </a:extLst>
          </p:cNvPr>
          <p:cNvSpPr/>
          <p:nvPr/>
        </p:nvSpPr>
        <p:spPr>
          <a:xfrm>
            <a:off x="1966738" y="3468493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SAC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4F35B5B-7159-AD4D-B4A8-147B6E7A311E}"/>
              </a:ext>
            </a:extLst>
          </p:cNvPr>
          <p:cNvSpPr/>
          <p:nvPr/>
        </p:nvSpPr>
        <p:spPr>
          <a:xfrm>
            <a:off x="3264137" y="256906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DQN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7A9BB0D-89C5-5744-AC9F-3DDD6F10096F}"/>
              </a:ext>
            </a:extLst>
          </p:cNvPr>
          <p:cNvSpPr/>
          <p:nvPr/>
        </p:nvSpPr>
        <p:spPr>
          <a:xfrm>
            <a:off x="3264137" y="2914463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C51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B6F9911-FE1A-6943-9379-56F7C463169F}"/>
              </a:ext>
            </a:extLst>
          </p:cNvPr>
          <p:cNvSpPr/>
          <p:nvPr/>
        </p:nvSpPr>
        <p:spPr>
          <a:xfrm>
            <a:off x="3264137" y="3267445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QR-DQN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1F9E737-35EA-A749-A181-C6027FDC30F1}"/>
              </a:ext>
            </a:extLst>
          </p:cNvPr>
          <p:cNvSpPr/>
          <p:nvPr/>
        </p:nvSpPr>
        <p:spPr>
          <a:xfrm>
            <a:off x="3264137" y="361035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HER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06D0CAAB-142B-AA43-9ADA-3673608C55C5}"/>
              </a:ext>
            </a:extLst>
          </p:cNvPr>
          <p:cNvCxnSpPr>
            <a:cxnSpLocks/>
            <a:stCxn id="13" idx="2"/>
            <a:endCxn id="39" idx="3"/>
          </p:cNvCxnSpPr>
          <p:nvPr/>
        </p:nvCxnSpPr>
        <p:spPr>
          <a:xfrm rot="5400000">
            <a:off x="1351540" y="2299931"/>
            <a:ext cx="491593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6A1883F-97C0-8E42-B68C-4D8A3E690044}"/>
              </a:ext>
            </a:extLst>
          </p:cNvPr>
          <p:cNvCxnSpPr>
            <a:cxnSpLocks/>
            <a:stCxn id="13" idx="2"/>
            <a:endCxn id="36" idx="3"/>
          </p:cNvCxnSpPr>
          <p:nvPr/>
        </p:nvCxnSpPr>
        <p:spPr>
          <a:xfrm rot="5400000">
            <a:off x="1166469" y="2485002"/>
            <a:ext cx="861734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61ADBE9E-8E72-E643-90AD-D36F51ECA0E9}"/>
              </a:ext>
            </a:extLst>
          </p:cNvPr>
          <p:cNvCxnSpPr>
            <a:cxnSpLocks/>
            <a:stCxn id="13" idx="2"/>
            <a:endCxn id="37" idx="3"/>
          </p:cNvCxnSpPr>
          <p:nvPr/>
        </p:nvCxnSpPr>
        <p:spPr>
          <a:xfrm rot="5400000">
            <a:off x="993084" y="2658387"/>
            <a:ext cx="1208504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1C4CD73A-5DEA-9A44-A23D-425D3C792981}"/>
              </a:ext>
            </a:extLst>
          </p:cNvPr>
          <p:cNvCxnSpPr>
            <a:cxnSpLocks/>
            <a:stCxn id="13" idx="2"/>
            <a:endCxn id="38" idx="3"/>
          </p:cNvCxnSpPr>
          <p:nvPr/>
        </p:nvCxnSpPr>
        <p:spPr>
          <a:xfrm rot="5400000">
            <a:off x="818347" y="2833124"/>
            <a:ext cx="1557978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8EA0B56-8CD3-8A43-8E4D-1B73B5ADD86E}"/>
              </a:ext>
            </a:extLst>
          </p:cNvPr>
          <p:cNvSpPr/>
          <p:nvPr/>
        </p:nvSpPr>
        <p:spPr>
          <a:xfrm>
            <a:off x="5023201" y="2562521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World Models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D0B021F0-1C53-454E-B7F2-400671DE037D}"/>
              </a:ext>
            </a:extLst>
          </p:cNvPr>
          <p:cNvSpPr/>
          <p:nvPr/>
        </p:nvSpPr>
        <p:spPr>
          <a:xfrm>
            <a:off x="5023201" y="29079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I2A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5E539C7B-77B2-514D-8EE8-DACC1367D040}"/>
              </a:ext>
            </a:extLst>
          </p:cNvPr>
          <p:cNvSpPr/>
          <p:nvPr/>
        </p:nvSpPr>
        <p:spPr>
          <a:xfrm>
            <a:off x="5023201" y="326089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MBMF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24D89253-0737-1B41-8BE9-C055A1FB2521}"/>
              </a:ext>
            </a:extLst>
          </p:cNvPr>
          <p:cNvSpPr/>
          <p:nvPr/>
        </p:nvSpPr>
        <p:spPr>
          <a:xfrm>
            <a:off x="5023201" y="3603807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MBVE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C333A2A8-E82E-A442-AE62-1DC94F2F7E23}"/>
              </a:ext>
            </a:extLst>
          </p:cNvPr>
          <p:cNvSpPr/>
          <p:nvPr/>
        </p:nvSpPr>
        <p:spPr>
          <a:xfrm>
            <a:off x="5023201" y="39467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AlphaZero</a:t>
            </a: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3849C13-F259-064B-B81E-295633ACDDAB}"/>
              </a:ext>
            </a:extLst>
          </p:cNvPr>
          <p:cNvSpPr/>
          <p:nvPr/>
        </p:nvSpPr>
        <p:spPr>
          <a:xfrm>
            <a:off x="7478109" y="2562521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DP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F2183135-8593-214F-AE8A-D685C1294183}"/>
              </a:ext>
            </a:extLst>
          </p:cNvPr>
          <p:cNvSpPr/>
          <p:nvPr/>
        </p:nvSpPr>
        <p:spPr>
          <a:xfrm>
            <a:off x="7478109" y="29079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LQR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69916BB-614D-7444-9740-3673C511EE40}"/>
              </a:ext>
            </a:extLst>
          </p:cNvPr>
          <p:cNvSpPr/>
          <p:nvPr/>
        </p:nvSpPr>
        <p:spPr>
          <a:xfrm>
            <a:off x="7478109" y="326089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MPC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994D8146-1C40-0349-9294-E0624C4BEF02}"/>
              </a:ext>
            </a:extLst>
          </p:cNvPr>
          <p:cNvSpPr/>
          <p:nvPr/>
        </p:nvSpPr>
        <p:spPr>
          <a:xfrm>
            <a:off x="7478109" y="3603807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MCTS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08A0C1BB-EBA9-0748-AEBE-FEB5BBDC159E}"/>
              </a:ext>
            </a:extLst>
          </p:cNvPr>
          <p:cNvSpPr/>
          <p:nvPr/>
        </p:nvSpPr>
        <p:spPr>
          <a:xfrm>
            <a:off x="7478109" y="3956367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BOMB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CAB5BB0F-9229-BA42-A4B4-42F9904EEA29}"/>
              </a:ext>
            </a:extLst>
          </p:cNvPr>
          <p:cNvSpPr/>
          <p:nvPr/>
        </p:nvSpPr>
        <p:spPr>
          <a:xfrm>
            <a:off x="5023201" y="4289625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CEPO</a:t>
            </a:r>
            <a:endParaRPr lang="en-TR" sz="800" dirty="0">
              <a:solidFill>
                <a:schemeClr val="tx1"/>
              </a:solidFill>
            </a:endParaRPr>
          </a:p>
        </p:txBody>
      </p: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0437038C-EAEA-1B4D-9A94-56932C245774}"/>
              </a:ext>
            </a:extLst>
          </p:cNvPr>
          <p:cNvCxnSpPr>
            <a:stCxn id="21" idx="2"/>
            <a:endCxn id="58" idx="3"/>
          </p:cNvCxnSpPr>
          <p:nvPr/>
        </p:nvCxnSpPr>
        <p:spPr>
          <a:xfrm rot="5400000">
            <a:off x="5757985" y="2369390"/>
            <a:ext cx="510145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Elbow Connector 85">
            <a:extLst>
              <a:ext uri="{FF2B5EF4-FFF2-40B4-BE49-F238E27FC236}">
                <a16:creationId xmlns:a16="http://schemas.microsoft.com/office/drawing/2014/main" id="{ADD641D8-DBDB-D240-A539-4320862A5E00}"/>
              </a:ext>
            </a:extLst>
          </p:cNvPr>
          <p:cNvCxnSpPr>
            <a:stCxn id="21" idx="2"/>
            <a:endCxn id="59" idx="3"/>
          </p:cNvCxnSpPr>
          <p:nvPr/>
        </p:nvCxnSpPr>
        <p:spPr>
          <a:xfrm rot="5400000">
            <a:off x="5585287" y="2542088"/>
            <a:ext cx="855540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9AB7F081-AC94-8245-8273-F800A7968C86}"/>
              </a:ext>
            </a:extLst>
          </p:cNvPr>
          <p:cNvCxnSpPr>
            <a:stCxn id="21" idx="2"/>
            <a:endCxn id="60" idx="3"/>
          </p:cNvCxnSpPr>
          <p:nvPr/>
        </p:nvCxnSpPr>
        <p:spPr>
          <a:xfrm rot="5400000">
            <a:off x="5408796" y="2718579"/>
            <a:ext cx="1208522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E216C1AC-B4A7-2146-A502-3205AE3858AE}"/>
              </a:ext>
            </a:extLst>
          </p:cNvPr>
          <p:cNvCxnSpPr>
            <a:stCxn id="21" idx="2"/>
            <a:endCxn id="61" idx="3"/>
          </p:cNvCxnSpPr>
          <p:nvPr/>
        </p:nvCxnSpPr>
        <p:spPr>
          <a:xfrm rot="5400000">
            <a:off x="5237342" y="2890033"/>
            <a:ext cx="1551431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4B049A20-52AE-D947-A284-B3A9802CDEC7}"/>
              </a:ext>
            </a:extLst>
          </p:cNvPr>
          <p:cNvCxnSpPr>
            <a:stCxn id="21" idx="2"/>
            <a:endCxn id="62" idx="3"/>
          </p:cNvCxnSpPr>
          <p:nvPr/>
        </p:nvCxnSpPr>
        <p:spPr>
          <a:xfrm rot="5400000">
            <a:off x="5065887" y="3061488"/>
            <a:ext cx="1894340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21957C7C-B107-6645-921D-265BD4C355FD}"/>
              </a:ext>
            </a:extLst>
          </p:cNvPr>
          <p:cNvCxnSpPr>
            <a:stCxn id="21" idx="2"/>
            <a:endCxn id="82" idx="3"/>
          </p:cNvCxnSpPr>
          <p:nvPr/>
        </p:nvCxnSpPr>
        <p:spPr>
          <a:xfrm rot="5400000">
            <a:off x="4894433" y="3232942"/>
            <a:ext cx="2237249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36D87B16-6B00-EF47-8335-9772CBB41760}"/>
              </a:ext>
            </a:extLst>
          </p:cNvPr>
          <p:cNvCxnSpPr>
            <a:stCxn id="13" idx="2"/>
            <a:endCxn id="40" idx="1"/>
          </p:cNvCxnSpPr>
          <p:nvPr/>
        </p:nvCxnSpPr>
        <p:spPr>
          <a:xfrm rot="16200000" flipH="1">
            <a:off x="1318434" y="2613241"/>
            <a:ext cx="1067308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53FEC617-80D5-BB43-A533-560D272D8A96}"/>
              </a:ext>
            </a:extLst>
          </p:cNvPr>
          <p:cNvCxnSpPr>
            <a:stCxn id="13" idx="2"/>
            <a:endCxn id="41" idx="1"/>
          </p:cNvCxnSpPr>
          <p:nvPr/>
        </p:nvCxnSpPr>
        <p:spPr>
          <a:xfrm rot="16200000" flipH="1">
            <a:off x="1144030" y="2787645"/>
            <a:ext cx="1416117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DB068682-EC9B-1240-808B-8A639F70CFE7}"/>
              </a:ext>
            </a:extLst>
          </p:cNvPr>
          <p:cNvCxnSpPr>
            <a:stCxn id="14" idx="2"/>
            <a:endCxn id="42" idx="1"/>
          </p:cNvCxnSpPr>
          <p:nvPr/>
        </p:nvCxnSpPr>
        <p:spPr>
          <a:xfrm rot="16200000" flipH="1">
            <a:off x="2861573" y="2308365"/>
            <a:ext cx="516692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4C7A7035-07BA-6E4F-84D4-C9E5321AB50F}"/>
              </a:ext>
            </a:extLst>
          </p:cNvPr>
          <p:cNvCxnSpPr>
            <a:stCxn id="14" idx="2"/>
            <a:endCxn id="43" idx="1"/>
          </p:cNvCxnSpPr>
          <p:nvPr/>
        </p:nvCxnSpPr>
        <p:spPr>
          <a:xfrm rot="16200000" flipH="1">
            <a:off x="2688876" y="2481062"/>
            <a:ext cx="862087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FAB7955E-6C36-C845-B987-C3FEAFE1E1A9}"/>
              </a:ext>
            </a:extLst>
          </p:cNvPr>
          <p:cNvCxnSpPr>
            <a:stCxn id="14" idx="2"/>
            <a:endCxn id="44" idx="1"/>
          </p:cNvCxnSpPr>
          <p:nvPr/>
        </p:nvCxnSpPr>
        <p:spPr>
          <a:xfrm rot="16200000" flipH="1">
            <a:off x="2512385" y="2657553"/>
            <a:ext cx="1215069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77EDEF00-1D52-C447-B334-0C89BEA91237}"/>
              </a:ext>
            </a:extLst>
          </p:cNvPr>
          <p:cNvCxnSpPr>
            <a:stCxn id="14" idx="2"/>
            <a:endCxn id="45" idx="1"/>
          </p:cNvCxnSpPr>
          <p:nvPr/>
        </p:nvCxnSpPr>
        <p:spPr>
          <a:xfrm rot="16200000" flipH="1">
            <a:off x="2340930" y="2829008"/>
            <a:ext cx="1557978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805A84CF-D2C2-DA4E-8958-F1EFB103700A}"/>
              </a:ext>
            </a:extLst>
          </p:cNvPr>
          <p:cNvCxnSpPr>
            <a:stCxn id="22" idx="2"/>
            <a:endCxn id="76" idx="1"/>
          </p:cNvCxnSpPr>
          <p:nvPr/>
        </p:nvCxnSpPr>
        <p:spPr>
          <a:xfrm rot="16200000" flipH="1">
            <a:off x="7149741" y="2376013"/>
            <a:ext cx="510145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EBA6ED20-DAF5-0F4C-81BD-AD396B65F3DB}"/>
              </a:ext>
            </a:extLst>
          </p:cNvPr>
          <p:cNvCxnSpPr>
            <a:stCxn id="22" idx="2"/>
            <a:endCxn id="77" idx="1"/>
          </p:cNvCxnSpPr>
          <p:nvPr/>
        </p:nvCxnSpPr>
        <p:spPr>
          <a:xfrm rot="16200000" flipH="1">
            <a:off x="6977043" y="2548711"/>
            <a:ext cx="855540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5E02B76-CA79-934E-88A2-904B105FAE21}"/>
              </a:ext>
            </a:extLst>
          </p:cNvPr>
          <p:cNvCxnSpPr>
            <a:stCxn id="22" idx="2"/>
            <a:endCxn id="78" idx="1"/>
          </p:cNvCxnSpPr>
          <p:nvPr/>
        </p:nvCxnSpPr>
        <p:spPr>
          <a:xfrm rot="16200000" flipH="1">
            <a:off x="6800552" y="2725202"/>
            <a:ext cx="1208522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B21BCF5-DBEE-5140-A62B-E70BF9A5514A}"/>
              </a:ext>
            </a:extLst>
          </p:cNvPr>
          <p:cNvCxnSpPr>
            <a:stCxn id="22" idx="2"/>
            <a:endCxn id="79" idx="1"/>
          </p:cNvCxnSpPr>
          <p:nvPr/>
        </p:nvCxnSpPr>
        <p:spPr>
          <a:xfrm rot="16200000" flipH="1">
            <a:off x="6629098" y="2896656"/>
            <a:ext cx="1551431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807CA63F-0703-C941-BA41-7C2D54DA9204}"/>
              </a:ext>
            </a:extLst>
          </p:cNvPr>
          <p:cNvCxnSpPr>
            <a:stCxn id="22" idx="2"/>
            <a:endCxn id="81" idx="1"/>
          </p:cNvCxnSpPr>
          <p:nvPr/>
        </p:nvCxnSpPr>
        <p:spPr>
          <a:xfrm rot="16200000" flipH="1">
            <a:off x="6452818" y="3072936"/>
            <a:ext cx="1903991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58561D39-0AD1-4D42-8E0D-409789498946}"/>
              </a:ext>
            </a:extLst>
          </p:cNvPr>
          <p:cNvSpPr/>
          <p:nvPr/>
        </p:nvSpPr>
        <p:spPr>
          <a:xfrm>
            <a:off x="547297" y="39467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CMA-ES</a:t>
            </a:r>
            <a:endParaRPr lang="en-TR" sz="800" dirty="0">
              <a:solidFill>
                <a:schemeClr val="tx1"/>
              </a:solidFill>
            </a:endParaRP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1277E37A-6238-FB47-8AED-03256CD4A946}"/>
              </a:ext>
            </a:extLst>
          </p:cNvPr>
          <p:cNvSpPr/>
          <p:nvPr/>
        </p:nvSpPr>
        <p:spPr>
          <a:xfrm>
            <a:off x="1954463" y="3817302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ACKTR</a:t>
            </a:r>
            <a:endParaRPr lang="en-TR" sz="800" dirty="0">
              <a:solidFill>
                <a:schemeClr val="tx1"/>
              </a:solidFill>
            </a:endParaRPr>
          </a:p>
        </p:txBody>
      </p: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BF24DBD3-1262-F443-AC37-CAE0FC96FBC9}"/>
              </a:ext>
            </a:extLst>
          </p:cNvPr>
          <p:cNvCxnSpPr>
            <a:stCxn id="13" idx="2"/>
            <a:endCxn id="121" idx="3"/>
          </p:cNvCxnSpPr>
          <p:nvPr/>
        </p:nvCxnSpPr>
        <p:spPr>
          <a:xfrm rot="5400000">
            <a:off x="650166" y="3001305"/>
            <a:ext cx="1894340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FA2D3BA2-0FEB-2843-996E-8D051A0ECC19}"/>
              </a:ext>
            </a:extLst>
          </p:cNvPr>
          <p:cNvCxnSpPr>
            <a:stCxn id="13" idx="2"/>
            <a:endCxn id="122" idx="1"/>
          </p:cNvCxnSpPr>
          <p:nvPr/>
        </p:nvCxnSpPr>
        <p:spPr>
          <a:xfrm rot="16200000" flipH="1">
            <a:off x="963487" y="2968187"/>
            <a:ext cx="1764926" cy="2170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6684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76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800" dirty="0"/>
              <a:t>Environment</a:t>
            </a:r>
            <a:r>
              <a:rPr lang="ru-RU" sz="4800" dirty="0"/>
              <a:t> – финансовый рынок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9746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4762168F-93FC-0747-84F2-2E718F358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</p:spPr>
        <p:txBody>
          <a:bodyPr/>
          <a:lstStyle/>
          <a:p>
            <a:r>
              <a:rPr lang="ru-RU" dirty="0"/>
              <a:t>Задача</a:t>
            </a:r>
            <a:endParaRPr lang="en-TR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A239BE-63D2-A246-8709-2E2084F6D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489128" y="1712550"/>
            <a:ext cx="2168471" cy="1627568"/>
          </a:xfrm>
          <a:prstGeom prst="rect">
            <a:avLst/>
          </a:prstGeom>
        </p:spPr>
      </p:pic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A1560508-5756-8A49-B8D7-7C1CC9D7578F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4387250" y="1526230"/>
            <a:ext cx="12700" cy="3627775"/>
          </a:xfrm>
          <a:prstGeom prst="bentConnector3">
            <a:avLst>
              <a:gd name="adj1" fmla="val 3523945"/>
            </a:avLst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FCD8C5-80A3-5C4E-95D8-B13EA242A694}"/>
                  </a:ext>
                </a:extLst>
              </p:cNvPr>
              <p:cNvSpPr txBox="1"/>
              <p:nvPr/>
            </p:nvSpPr>
            <p:spPr>
              <a:xfrm>
                <a:off x="4169582" y="3760631"/>
                <a:ext cx="4085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TR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FCD8C5-80A3-5C4E-95D8-B13EA242A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582" y="3760631"/>
                <a:ext cx="40850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542A48A3-B3D1-B04D-9CA9-C333C6217740}"/>
              </a:ext>
            </a:extLst>
          </p:cNvPr>
          <p:cNvCxnSpPr>
            <a:cxnSpLocks/>
            <a:endCxn id="13" idx="0"/>
          </p:cNvCxnSpPr>
          <p:nvPr/>
        </p:nvCxnSpPr>
        <p:spPr>
          <a:xfrm rot="16200000" flipV="1">
            <a:off x="4387251" y="-101338"/>
            <a:ext cx="12700" cy="3627775"/>
          </a:xfrm>
          <a:prstGeom prst="bentConnector3">
            <a:avLst>
              <a:gd name="adj1" fmla="val 2509858"/>
            </a:avLst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634ACFA-26A7-9D4E-901C-37FEB1D95865}"/>
                  </a:ext>
                </a:extLst>
              </p:cNvPr>
              <p:cNvSpPr txBox="1"/>
              <p:nvPr/>
            </p:nvSpPr>
            <p:spPr>
              <a:xfrm>
                <a:off x="3985091" y="1363729"/>
                <a:ext cx="3860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accent4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accent4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accent4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TR" b="1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634ACFA-26A7-9D4E-901C-37FEB1D95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091" y="1363729"/>
                <a:ext cx="386068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273F5BC-64FC-8044-B052-87F745C8D468}"/>
              </a:ext>
            </a:extLst>
          </p:cNvPr>
          <p:cNvCxnSpPr>
            <a:cxnSpLocks/>
          </p:cNvCxnSpPr>
          <p:nvPr/>
        </p:nvCxnSpPr>
        <p:spPr>
          <a:xfrm flipV="1">
            <a:off x="6375042" y="1252175"/>
            <a:ext cx="0" cy="454024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82C3C54-991A-5047-841B-81619EF107D6}"/>
              </a:ext>
            </a:extLst>
          </p:cNvPr>
          <p:cNvCxnSpPr>
            <a:cxnSpLocks/>
          </p:cNvCxnSpPr>
          <p:nvPr/>
        </p:nvCxnSpPr>
        <p:spPr>
          <a:xfrm flipH="1">
            <a:off x="2421228" y="1255343"/>
            <a:ext cx="3953814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ED3AF5-5EF2-914D-BA13-9B1F54E0C9CB}"/>
              </a:ext>
            </a:extLst>
          </p:cNvPr>
          <p:cNvCxnSpPr>
            <a:cxnSpLocks/>
          </p:cNvCxnSpPr>
          <p:nvPr/>
        </p:nvCxnSpPr>
        <p:spPr>
          <a:xfrm flipH="1" flipV="1">
            <a:off x="2419081" y="1252175"/>
            <a:ext cx="2147" cy="419331"/>
          </a:xfrm>
          <a:prstGeom prst="line">
            <a:avLst/>
          </a:prstGeom>
          <a:ln w="19050"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AC4A248-0711-754F-ADD5-27D01B8B3E1D}"/>
                  </a:ext>
                </a:extLst>
              </p:cNvPr>
              <p:cNvSpPr txBox="1"/>
              <p:nvPr/>
            </p:nvSpPr>
            <p:spPr>
              <a:xfrm>
                <a:off x="3792057" y="944398"/>
                <a:ext cx="3924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TR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AC4A248-0711-754F-ADD5-27D01B8B3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057" y="944398"/>
                <a:ext cx="39248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33">
            <a:extLst>
              <a:ext uri="{FF2B5EF4-FFF2-40B4-BE49-F238E27FC236}">
                <a16:creationId xmlns:a16="http://schemas.microsoft.com/office/drawing/2014/main" id="{8E52E3DD-E3B1-8A4A-9040-2EB2EEFA27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4086" y="1671506"/>
            <a:ext cx="2666803" cy="1668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4268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A1054D-A558-F34C-8B1C-C6D389EE9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рынка</a:t>
            </a:r>
            <a:endParaRPr lang="en-TR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742425A-5E2E-9542-919E-9C4C489DDD44}"/>
              </a:ext>
            </a:extLst>
          </p:cNvPr>
          <p:cNvCxnSpPr>
            <a:cxnSpLocks/>
          </p:cNvCxnSpPr>
          <p:nvPr/>
        </p:nvCxnSpPr>
        <p:spPr>
          <a:xfrm>
            <a:off x="4461531" y="1674910"/>
            <a:ext cx="468000" cy="0"/>
          </a:xfrm>
          <a:prstGeom prst="straightConnector1">
            <a:avLst/>
          </a:prstGeom>
          <a:ln w="190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883EA30-9921-7C44-8FBB-D346EF5B3911}"/>
              </a:ext>
            </a:extLst>
          </p:cNvPr>
          <p:cNvGrpSpPr/>
          <p:nvPr/>
        </p:nvGrpSpPr>
        <p:grpSpPr>
          <a:xfrm>
            <a:off x="0" y="1056470"/>
            <a:ext cx="4464954" cy="3577099"/>
            <a:chOff x="0" y="1056470"/>
            <a:chExt cx="4464954" cy="3577099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F3D83E7-19DE-CA4C-B33A-EACDB7C6153E}"/>
                </a:ext>
              </a:extLst>
            </p:cNvPr>
            <p:cNvGrpSpPr/>
            <p:nvPr/>
          </p:nvGrpSpPr>
          <p:grpSpPr>
            <a:xfrm>
              <a:off x="0" y="1056470"/>
              <a:ext cx="4464954" cy="3577099"/>
              <a:chOff x="278879" y="829204"/>
              <a:chExt cx="4464954" cy="357709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B5ABD48-4EA7-674D-9BE8-D311C54725FB}"/>
                  </a:ext>
                </a:extLst>
              </p:cNvPr>
              <p:cNvSpPr/>
              <p:nvPr/>
            </p:nvSpPr>
            <p:spPr>
              <a:xfrm>
                <a:off x="576869" y="1104643"/>
                <a:ext cx="4166964" cy="33016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TR" dirty="0"/>
              </a:p>
            </p:txBody>
          </p:sp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13F6755-4350-734F-83B2-6D622EF48B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8879" y="829204"/>
                <a:ext cx="2065421" cy="550877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FE9E3B7-4DA0-8B49-A2F8-93364B1122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6420" y="2012907"/>
                <a:ext cx="3949443" cy="2221562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7065C0-5E9F-AB4C-8332-F9E60D16E427}"/>
                  </a:ext>
                </a:extLst>
              </p:cNvPr>
              <p:cNvSpPr txBox="1"/>
              <p:nvPr/>
            </p:nvSpPr>
            <p:spPr>
              <a:xfrm>
                <a:off x="3528725" y="1687184"/>
                <a:ext cx="112082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Stocks data</a:t>
                </a:r>
                <a:endParaRPr lang="en-TR" dirty="0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CED297-8E35-DB4B-AF39-59CDB93025CC}"/>
                </a:ext>
              </a:extLst>
            </p:cNvPr>
            <p:cNvSpPr txBox="1"/>
            <p:nvPr/>
          </p:nvSpPr>
          <p:spPr>
            <a:xfrm>
              <a:off x="697844" y="1391938"/>
              <a:ext cx="12442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R" dirty="0">
                  <a:latin typeface="Adelle Sans Devanagari Thin" panose="02000503000000020004" pitchFamily="2" charset="-78"/>
                  <a:cs typeface="Adelle Sans Devanagari Thin" panose="02000503000000020004" pitchFamily="2" charset="-78"/>
                </a:rPr>
                <a:t>environment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BCD8849-BB26-5744-AC6A-82C56613D5FF}"/>
              </a:ext>
            </a:extLst>
          </p:cNvPr>
          <p:cNvSpPr txBox="1"/>
          <p:nvPr/>
        </p:nvSpPr>
        <p:spPr>
          <a:xfrm>
            <a:off x="4970891" y="3854238"/>
            <a:ext cx="22124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e</a:t>
            </a:r>
            <a:r>
              <a:rPr lang="en-TR" dirty="0">
                <a:solidFill>
                  <a:srgbClr val="00B050"/>
                </a:solidFill>
              </a:rPr>
              <a:t>nv.reset() → (state, info)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CE525C-AEE2-7745-8515-A285DEE257AE}"/>
              </a:ext>
            </a:extLst>
          </p:cNvPr>
          <p:cNvSpPr txBox="1"/>
          <p:nvPr/>
        </p:nvSpPr>
        <p:spPr>
          <a:xfrm>
            <a:off x="4977028" y="4269449"/>
            <a:ext cx="37737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</a:t>
            </a:r>
            <a:r>
              <a:rPr lang="en-TR" dirty="0">
                <a:solidFill>
                  <a:srgbClr val="C00000"/>
                </a:solidFill>
              </a:rPr>
              <a:t>nv.step(action) → (state, reward, done, info)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4CA9D0-447A-604A-BBAD-E9D31F39B4CD}"/>
              </a:ext>
            </a:extLst>
          </p:cNvPr>
          <p:cNvSpPr txBox="1"/>
          <p:nvPr/>
        </p:nvSpPr>
        <p:spPr>
          <a:xfrm>
            <a:off x="4970891" y="2309827"/>
            <a:ext cx="416696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38150" algn="l"/>
              </a:tabLst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e</a:t>
            </a:r>
            <a:r>
              <a:rPr lang="en-TR" dirty="0">
                <a:solidFill>
                  <a:schemeClr val="accent1">
                    <a:lumMod val="50000"/>
                  </a:schemeClr>
                </a:solidFill>
              </a:rPr>
              <a:t>nv.</a:t>
            </a:r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observation_space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TR" dirty="0">
                <a:solidFill>
                  <a:schemeClr val="accent1">
                    <a:lumMod val="50000"/>
                  </a:schemeClr>
                </a:solidFill>
              </a:rPr>
              <a:t>→ </a:t>
            </a:r>
          </a:p>
          <a:p>
            <a:pPr>
              <a:tabLst>
                <a:tab pos="438150" algn="l"/>
              </a:tabLst>
            </a:pPr>
            <a:r>
              <a:rPr lang="en-TR" dirty="0">
                <a:solidFill>
                  <a:schemeClr val="accent1">
                    <a:lumMod val="50000"/>
                  </a:schemeClr>
                </a:solidFill>
              </a:rPr>
              <a:t>[’open’, ‘close’, ‘high’, ‘low’, ‘close’]</a:t>
            </a:r>
            <a:br>
              <a:rPr lang="en-TR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Box(	[0 0 0 0 0], </a:t>
            </a:r>
          </a:p>
          <a:p>
            <a:pPr>
              <a:tabLst>
                <a:tab pos="438150" algn="l"/>
              </a:tabLst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	[1e+6 1e+6 1e-6 1e+6 1e+10], </a:t>
            </a:r>
          </a:p>
          <a:p>
            <a:pPr>
              <a:tabLst>
                <a:tab pos="438150" algn="l"/>
              </a:tabLst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	(5,), </a:t>
            </a:r>
          </a:p>
          <a:p>
            <a:pPr>
              <a:tabLst>
                <a:tab pos="438150" algn="l"/>
              </a:tabLst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	float32. )</a:t>
            </a:r>
            <a:endParaRPr lang="en-TR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D8C6E7-49B4-554A-A7FD-1DBC005E3DBA}"/>
              </a:ext>
            </a:extLst>
          </p:cNvPr>
          <p:cNvSpPr txBox="1"/>
          <p:nvPr/>
        </p:nvSpPr>
        <p:spPr>
          <a:xfrm>
            <a:off x="4970891" y="1507984"/>
            <a:ext cx="218040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e</a:t>
            </a:r>
            <a:r>
              <a:rPr lang="en-TR" dirty="0">
                <a:solidFill>
                  <a:schemeClr val="accent1">
                    <a:lumMod val="50000"/>
                  </a:schemeClr>
                </a:solidFill>
              </a:rPr>
              <a:t>nv.</a:t>
            </a:r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action_space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TR" dirty="0">
                <a:solidFill>
                  <a:schemeClr val="accent1">
                    <a:lumMod val="50000"/>
                  </a:schemeClr>
                </a:solidFill>
              </a:rPr>
              <a:t>→ </a:t>
            </a:r>
          </a:p>
          <a:p>
            <a:r>
              <a:rPr lang="en-TR" dirty="0">
                <a:solidFill>
                  <a:schemeClr val="accent1">
                    <a:lumMod val="50000"/>
                  </a:schemeClr>
                </a:solidFill>
              </a:rPr>
              <a:t>[‘buy’, ‘do nothing’, ‘sell’]</a:t>
            </a:r>
          </a:p>
          <a:p>
            <a:r>
              <a:rPr lang="en-TR" dirty="0">
                <a:solidFill>
                  <a:schemeClr val="accent1">
                    <a:lumMod val="50000"/>
                  </a:schemeClr>
                </a:solidFill>
              </a:rPr>
              <a:t>Discrete(3) = [-1, 0, 1] 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DEB3246-0629-9747-902A-9B7D2A3A262D}"/>
              </a:ext>
            </a:extLst>
          </p:cNvPr>
          <p:cNvCxnSpPr>
            <a:cxnSpLocks/>
          </p:cNvCxnSpPr>
          <p:nvPr/>
        </p:nvCxnSpPr>
        <p:spPr>
          <a:xfrm>
            <a:off x="4461531" y="2490102"/>
            <a:ext cx="468000" cy="0"/>
          </a:xfrm>
          <a:prstGeom prst="straightConnector1">
            <a:avLst/>
          </a:prstGeom>
          <a:ln w="190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DC4CF95-B43C-3043-ADEA-FCC0BEC07EB4}"/>
              </a:ext>
            </a:extLst>
          </p:cNvPr>
          <p:cNvCxnSpPr>
            <a:cxnSpLocks/>
          </p:cNvCxnSpPr>
          <p:nvPr/>
        </p:nvCxnSpPr>
        <p:spPr>
          <a:xfrm>
            <a:off x="4461531" y="4029452"/>
            <a:ext cx="468000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3DE8CA8-EDF9-8944-8A0D-AAAAB5572E4E}"/>
              </a:ext>
            </a:extLst>
          </p:cNvPr>
          <p:cNvCxnSpPr>
            <a:cxnSpLocks/>
          </p:cNvCxnSpPr>
          <p:nvPr/>
        </p:nvCxnSpPr>
        <p:spPr>
          <a:xfrm>
            <a:off x="4461531" y="4445740"/>
            <a:ext cx="468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9084D92-F2DD-9D42-8CBC-0B916263B267}"/>
              </a:ext>
            </a:extLst>
          </p:cNvPr>
          <p:cNvSpPr txBox="1"/>
          <p:nvPr/>
        </p:nvSpPr>
        <p:spPr>
          <a:xfrm>
            <a:off x="1983455" y="1306430"/>
            <a:ext cx="2432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reset() </a:t>
            </a:r>
            <a:r>
              <a:rPr lang="en-TR" dirty="0"/>
              <a:t>→ </a:t>
            </a:r>
            <a:r>
              <a:rPr lang="en-US" dirty="0"/>
              <a:t>w</a:t>
            </a:r>
            <a:r>
              <a:rPr lang="en-TR" dirty="0"/>
              <a:t>e have 10 000 $</a:t>
            </a:r>
          </a:p>
        </p:txBody>
      </p:sp>
    </p:spTree>
    <p:extLst>
      <p:ext uri="{BB962C8B-B14F-4D97-AF65-F5344CB8AC3E}">
        <p14:creationId xmlns:p14="http://schemas.microsoft.com/office/powerpoint/2010/main" val="39509499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76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800" dirty="0">
                <a:latin typeface="Roboto"/>
                <a:ea typeface="Roboto"/>
                <a:cs typeface="Roboto"/>
                <a:sym typeface="Roboto"/>
              </a:rPr>
              <a:t>Торговый агент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07713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A1CD1D-A55C-3441-961B-9A977658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агента</a:t>
            </a:r>
            <a:endParaRPr lang="en-TR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CE2439-344B-844B-9867-EB4C6A5132A8}"/>
              </a:ext>
            </a:extLst>
          </p:cNvPr>
          <p:cNvSpPr/>
          <p:nvPr/>
        </p:nvSpPr>
        <p:spPr>
          <a:xfrm>
            <a:off x="1872452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Model-free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EF20AD9-97B3-6F43-B41A-BADC332B23D1}"/>
              </a:ext>
            </a:extLst>
          </p:cNvPr>
          <p:cNvSpPr/>
          <p:nvPr/>
        </p:nvSpPr>
        <p:spPr>
          <a:xfrm>
            <a:off x="1200458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Policy Optimization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A2D8CAF-78EF-454A-B4BE-AB77D861A731}"/>
              </a:ext>
            </a:extLst>
          </p:cNvPr>
          <p:cNvSpPr/>
          <p:nvPr/>
        </p:nvSpPr>
        <p:spPr>
          <a:xfrm>
            <a:off x="2438721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Q-Learning</a:t>
            </a:r>
          </a:p>
        </p:txBody>
      </p:sp>
      <p:cxnSp>
        <p:nvCxnSpPr>
          <p:cNvPr id="15" name="Elbow Connector 8">
            <a:extLst>
              <a:ext uri="{FF2B5EF4-FFF2-40B4-BE49-F238E27FC236}">
                <a16:creationId xmlns:a16="http://schemas.microsoft.com/office/drawing/2014/main" id="{7E9E6EFB-EB94-4440-B564-66C2386C179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5400000">
            <a:off x="1960245" y="1306836"/>
            <a:ext cx="226380" cy="67199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83736521-F6E9-BF45-B905-73B89A805F21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2579376" y="1359698"/>
            <a:ext cx="226380" cy="56626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FC80BF1-067B-C54B-ABF2-06C43862B832}"/>
              </a:ext>
            </a:extLst>
          </p:cNvPr>
          <p:cNvSpPr/>
          <p:nvPr/>
        </p:nvSpPr>
        <p:spPr>
          <a:xfrm>
            <a:off x="547297" y="2914110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A2C / A3C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52C766A-5AD8-FB4D-9B63-93A31BAA6E8E}"/>
              </a:ext>
            </a:extLst>
          </p:cNvPr>
          <p:cNvSpPr/>
          <p:nvPr/>
        </p:nvSpPr>
        <p:spPr>
          <a:xfrm>
            <a:off x="547297" y="3260880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PPO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D991E71-A838-5D49-ACE8-E69497F662F4}"/>
              </a:ext>
            </a:extLst>
          </p:cNvPr>
          <p:cNvSpPr/>
          <p:nvPr/>
        </p:nvSpPr>
        <p:spPr>
          <a:xfrm>
            <a:off x="547297" y="361035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9592"/>
            </a:schemeClr>
          </a:solidFill>
          <a:ln>
            <a:solidFill>
              <a:schemeClr val="accent1">
                <a:alpha val="30166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bg1">
                    <a:lumMod val="50000"/>
                  </a:schemeClr>
                </a:solidFill>
              </a:rPr>
              <a:t>TRPO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247219A-A6CB-3744-9730-7766985B2E8B}"/>
              </a:ext>
            </a:extLst>
          </p:cNvPr>
          <p:cNvSpPr/>
          <p:nvPr/>
        </p:nvSpPr>
        <p:spPr>
          <a:xfrm>
            <a:off x="547297" y="2543969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DDPG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26CE7CE8-E53F-914A-B91F-A39CAA5B306B}"/>
              </a:ext>
            </a:extLst>
          </p:cNvPr>
          <p:cNvSpPr/>
          <p:nvPr/>
        </p:nvSpPr>
        <p:spPr>
          <a:xfrm>
            <a:off x="1966738" y="311968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TD3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CA36081-543C-9D46-B5F7-B390ED9ACD31}"/>
              </a:ext>
            </a:extLst>
          </p:cNvPr>
          <p:cNvSpPr/>
          <p:nvPr/>
        </p:nvSpPr>
        <p:spPr>
          <a:xfrm>
            <a:off x="1966738" y="3468493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SAC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4F35B5B-7159-AD4D-B4A8-147B6E7A311E}"/>
              </a:ext>
            </a:extLst>
          </p:cNvPr>
          <p:cNvSpPr/>
          <p:nvPr/>
        </p:nvSpPr>
        <p:spPr>
          <a:xfrm>
            <a:off x="3264137" y="256906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9592"/>
            </a:schemeClr>
          </a:solidFill>
          <a:ln>
            <a:solidFill>
              <a:schemeClr val="accent1">
                <a:alpha val="30166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bg1">
                    <a:lumMod val="50000"/>
                  </a:schemeClr>
                </a:solidFill>
              </a:rPr>
              <a:t>DQN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7A9BB0D-89C5-5744-AC9F-3DDD6F10096F}"/>
              </a:ext>
            </a:extLst>
          </p:cNvPr>
          <p:cNvSpPr/>
          <p:nvPr/>
        </p:nvSpPr>
        <p:spPr>
          <a:xfrm>
            <a:off x="3264137" y="2914463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9592"/>
            </a:schemeClr>
          </a:solidFill>
          <a:ln>
            <a:solidFill>
              <a:schemeClr val="accent1">
                <a:alpha val="30166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bg1">
                    <a:lumMod val="50000"/>
                  </a:schemeClr>
                </a:solidFill>
              </a:rPr>
              <a:t>C51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B6F9911-FE1A-6943-9379-56F7C463169F}"/>
              </a:ext>
            </a:extLst>
          </p:cNvPr>
          <p:cNvSpPr/>
          <p:nvPr/>
        </p:nvSpPr>
        <p:spPr>
          <a:xfrm>
            <a:off x="3264137" y="3267445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9592"/>
            </a:schemeClr>
          </a:solidFill>
          <a:ln>
            <a:solidFill>
              <a:schemeClr val="accent1">
                <a:alpha val="30166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bg1">
                    <a:lumMod val="50000"/>
                  </a:schemeClr>
                </a:solidFill>
              </a:rPr>
              <a:t>QR-DQN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1F9E737-35EA-A749-A181-C6027FDC30F1}"/>
              </a:ext>
            </a:extLst>
          </p:cNvPr>
          <p:cNvSpPr/>
          <p:nvPr/>
        </p:nvSpPr>
        <p:spPr>
          <a:xfrm>
            <a:off x="3264137" y="361035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9592"/>
            </a:schemeClr>
          </a:solidFill>
          <a:ln>
            <a:solidFill>
              <a:schemeClr val="accent1">
                <a:alpha val="30166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bg1">
                    <a:lumMod val="50000"/>
                  </a:schemeClr>
                </a:solidFill>
              </a:rPr>
              <a:t>HER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06D0CAAB-142B-AA43-9ADA-3673608C55C5}"/>
              </a:ext>
            </a:extLst>
          </p:cNvPr>
          <p:cNvCxnSpPr>
            <a:cxnSpLocks/>
            <a:stCxn id="13" idx="2"/>
            <a:endCxn id="39" idx="3"/>
          </p:cNvCxnSpPr>
          <p:nvPr/>
        </p:nvCxnSpPr>
        <p:spPr>
          <a:xfrm rot="5400000">
            <a:off x="1351540" y="2299931"/>
            <a:ext cx="491593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6A1883F-97C0-8E42-B68C-4D8A3E690044}"/>
              </a:ext>
            </a:extLst>
          </p:cNvPr>
          <p:cNvCxnSpPr>
            <a:cxnSpLocks/>
            <a:stCxn id="13" idx="2"/>
            <a:endCxn id="36" idx="3"/>
          </p:cNvCxnSpPr>
          <p:nvPr/>
        </p:nvCxnSpPr>
        <p:spPr>
          <a:xfrm rot="5400000">
            <a:off x="1166469" y="2485002"/>
            <a:ext cx="861734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61ADBE9E-8E72-E643-90AD-D36F51ECA0E9}"/>
              </a:ext>
            </a:extLst>
          </p:cNvPr>
          <p:cNvCxnSpPr>
            <a:cxnSpLocks/>
            <a:stCxn id="13" idx="2"/>
            <a:endCxn id="37" idx="3"/>
          </p:cNvCxnSpPr>
          <p:nvPr/>
        </p:nvCxnSpPr>
        <p:spPr>
          <a:xfrm rot="5400000">
            <a:off x="993084" y="2658387"/>
            <a:ext cx="1208504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1C4CD73A-5DEA-9A44-A23D-425D3C792981}"/>
              </a:ext>
            </a:extLst>
          </p:cNvPr>
          <p:cNvCxnSpPr>
            <a:cxnSpLocks/>
            <a:stCxn id="13" idx="2"/>
            <a:endCxn id="38" idx="3"/>
          </p:cNvCxnSpPr>
          <p:nvPr/>
        </p:nvCxnSpPr>
        <p:spPr>
          <a:xfrm rot="5400000">
            <a:off x="818347" y="2833124"/>
            <a:ext cx="1557978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36D87B16-6B00-EF47-8335-9772CBB41760}"/>
              </a:ext>
            </a:extLst>
          </p:cNvPr>
          <p:cNvCxnSpPr>
            <a:stCxn id="13" idx="2"/>
            <a:endCxn id="40" idx="1"/>
          </p:cNvCxnSpPr>
          <p:nvPr/>
        </p:nvCxnSpPr>
        <p:spPr>
          <a:xfrm rot="16200000" flipH="1">
            <a:off x="1318434" y="2613241"/>
            <a:ext cx="1067308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53FEC617-80D5-BB43-A533-560D272D8A96}"/>
              </a:ext>
            </a:extLst>
          </p:cNvPr>
          <p:cNvCxnSpPr>
            <a:stCxn id="13" idx="2"/>
            <a:endCxn id="41" idx="1"/>
          </p:cNvCxnSpPr>
          <p:nvPr/>
        </p:nvCxnSpPr>
        <p:spPr>
          <a:xfrm rot="16200000" flipH="1">
            <a:off x="1144030" y="2787645"/>
            <a:ext cx="1416117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DB068682-EC9B-1240-808B-8A639F70CFE7}"/>
              </a:ext>
            </a:extLst>
          </p:cNvPr>
          <p:cNvCxnSpPr>
            <a:stCxn id="14" idx="2"/>
            <a:endCxn id="42" idx="1"/>
          </p:cNvCxnSpPr>
          <p:nvPr/>
        </p:nvCxnSpPr>
        <p:spPr>
          <a:xfrm rot="16200000" flipH="1">
            <a:off x="2861573" y="2308365"/>
            <a:ext cx="516692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4C7A7035-07BA-6E4F-84D4-C9E5321AB50F}"/>
              </a:ext>
            </a:extLst>
          </p:cNvPr>
          <p:cNvCxnSpPr>
            <a:stCxn id="14" idx="2"/>
            <a:endCxn id="43" idx="1"/>
          </p:cNvCxnSpPr>
          <p:nvPr/>
        </p:nvCxnSpPr>
        <p:spPr>
          <a:xfrm rot="16200000" flipH="1">
            <a:off x="2688876" y="2481062"/>
            <a:ext cx="862087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FAB7955E-6C36-C845-B987-C3FEAFE1E1A9}"/>
              </a:ext>
            </a:extLst>
          </p:cNvPr>
          <p:cNvCxnSpPr>
            <a:stCxn id="14" idx="2"/>
            <a:endCxn id="44" idx="1"/>
          </p:cNvCxnSpPr>
          <p:nvPr/>
        </p:nvCxnSpPr>
        <p:spPr>
          <a:xfrm rot="16200000" flipH="1">
            <a:off x="2512385" y="2657553"/>
            <a:ext cx="1215069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77EDEF00-1D52-C447-B334-0C89BEA91237}"/>
              </a:ext>
            </a:extLst>
          </p:cNvPr>
          <p:cNvCxnSpPr>
            <a:stCxn id="14" idx="2"/>
            <a:endCxn id="45" idx="1"/>
          </p:cNvCxnSpPr>
          <p:nvPr/>
        </p:nvCxnSpPr>
        <p:spPr>
          <a:xfrm rot="16200000" flipH="1">
            <a:off x="2340930" y="2829008"/>
            <a:ext cx="1557978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58561D39-0AD1-4D42-8E0D-409789498946}"/>
              </a:ext>
            </a:extLst>
          </p:cNvPr>
          <p:cNvSpPr/>
          <p:nvPr/>
        </p:nvSpPr>
        <p:spPr>
          <a:xfrm>
            <a:off x="547297" y="39467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9592"/>
            </a:schemeClr>
          </a:solidFill>
          <a:ln>
            <a:solidFill>
              <a:schemeClr val="accent1">
                <a:alpha val="30166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CMA-ES</a:t>
            </a:r>
            <a:endParaRPr lang="en-TR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1277E37A-6238-FB47-8AED-03256CD4A946}"/>
              </a:ext>
            </a:extLst>
          </p:cNvPr>
          <p:cNvSpPr/>
          <p:nvPr/>
        </p:nvSpPr>
        <p:spPr>
          <a:xfrm>
            <a:off x="1954463" y="3817302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9592"/>
            </a:schemeClr>
          </a:solidFill>
          <a:ln>
            <a:solidFill>
              <a:schemeClr val="accent1">
                <a:alpha val="30166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ACKTR</a:t>
            </a:r>
            <a:endParaRPr lang="en-TR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BF24DBD3-1262-F443-AC37-CAE0FC96FBC9}"/>
              </a:ext>
            </a:extLst>
          </p:cNvPr>
          <p:cNvCxnSpPr>
            <a:stCxn id="13" idx="2"/>
            <a:endCxn id="121" idx="3"/>
          </p:cNvCxnSpPr>
          <p:nvPr/>
        </p:nvCxnSpPr>
        <p:spPr>
          <a:xfrm rot="5400000">
            <a:off x="650166" y="3001305"/>
            <a:ext cx="1894340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FA2D3BA2-0FEB-2843-996E-8D051A0ECC19}"/>
              </a:ext>
            </a:extLst>
          </p:cNvPr>
          <p:cNvCxnSpPr>
            <a:stCxn id="13" idx="2"/>
            <a:endCxn id="122" idx="1"/>
          </p:cNvCxnSpPr>
          <p:nvPr/>
        </p:nvCxnSpPr>
        <p:spPr>
          <a:xfrm rot="16200000" flipH="1">
            <a:off x="963487" y="2968187"/>
            <a:ext cx="1764926" cy="2170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>
            <a:extLst>
              <a:ext uri="{FF2B5EF4-FFF2-40B4-BE49-F238E27FC236}">
                <a16:creationId xmlns:a16="http://schemas.microsoft.com/office/drawing/2014/main" id="{7517CFEB-0E17-1D4C-B530-75A8FCE0F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5083" y="796676"/>
            <a:ext cx="3928694" cy="1621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8E86B2-4164-F847-9EA7-FA814E52B76A}"/>
              </a:ext>
            </a:extLst>
          </p:cNvPr>
          <p:cNvSpPr txBox="1"/>
          <p:nvPr/>
        </p:nvSpPr>
        <p:spPr>
          <a:xfrm>
            <a:off x="4561536" y="2640858"/>
            <a:ext cx="4448654" cy="2123658"/>
          </a:xfrm>
          <a:prstGeom prst="rect">
            <a:avLst/>
          </a:prstGeom>
          <a:solidFill>
            <a:schemeClr val="tx1">
              <a:alpha val="77814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200" b="0" dirty="0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b="0" dirty="0" err="1">
                <a:solidFill>
                  <a:srgbClr val="4EC9B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DRLAgent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0" dirty="0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env_train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200" b="0" dirty="0">
              <a:solidFill>
                <a:srgbClr val="D4D4D4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0" dirty="0">
                <a:solidFill>
                  <a:srgbClr val="4FC1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PPO_PARAMS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</a:p>
          <a:p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n_steps</a:t>
            </a:r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200" b="0" dirty="0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2048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ent_coef</a:t>
            </a:r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200" b="0" dirty="0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0.01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learning_rate</a:t>
            </a:r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200" b="0" dirty="0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0.00025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batch_size</a:t>
            </a:r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200" b="0" dirty="0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128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200" b="0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model_ppo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agent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get_model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ppo</a:t>
            </a:r>
            <a:r>
              <a:rPr lang="en-US" sz="1200" b="0" dirty="0">
                <a:solidFill>
                  <a:srgbClr val="CE917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model_kwargs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b="0" dirty="0">
                <a:solidFill>
                  <a:srgbClr val="4FC1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PPO_PARAMS</a:t>
            </a:r>
            <a:r>
              <a:rPr lang="en-US" sz="1200" b="0" dirty="0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501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453418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8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Практическая реализация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466" name="Google Shape;466;p86"/>
          <p:cNvGraphicFramePr/>
          <p:nvPr>
            <p:extLst>
              <p:ext uri="{D42A27DB-BD31-4B8C-83A1-F6EECF244321}">
                <p14:modId xmlns:p14="http://schemas.microsoft.com/office/powerpoint/2010/main" val="3999344893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{9F59E00E-254B-42B5-9FED-D0DB1D54CBD8}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Подключим фреймворк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FinRL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загрузим данные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Создадим среду рынка</a:t>
                      </a:r>
                      <a:endParaRPr lang="en-US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Протестируем простых агентов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RL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316886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85"/>
          <p:cNvSpPr txBox="1">
            <a:spLocks noGrp="1"/>
          </p:cNvSpPr>
          <p:nvPr>
            <p:ph type="title"/>
          </p:nvPr>
        </p:nvSpPr>
        <p:spPr>
          <a:xfrm>
            <a:off x="956225" y="11064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Вопросы?</a:t>
            </a:r>
            <a:endParaRPr/>
          </a:p>
        </p:txBody>
      </p:sp>
      <p:pic>
        <p:nvPicPr>
          <p:cNvPr id="457" name="Google Shape;457;p8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2750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85"/>
          <p:cNvSpPr txBox="1"/>
          <p:nvPr/>
        </p:nvSpPr>
        <p:spPr>
          <a:xfrm>
            <a:off x="1750800" y="2887700"/>
            <a:ext cx="163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Задаем вопросы в чат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9" name="Google Shape;459;p8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5725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85"/>
          <p:cNvSpPr txBox="1"/>
          <p:nvPr/>
        </p:nvSpPr>
        <p:spPr>
          <a:xfrm>
            <a:off x="5119475" y="289230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93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Знакомство с </a:t>
            </a:r>
            <a:br>
              <a:rPr lang="ru" sz="4000" dirty="0"/>
            </a:br>
            <a:r>
              <a:rPr lang="ru" sz="4000" dirty="0"/>
              <a:t>программой курса</a:t>
            </a:r>
            <a:endParaRPr sz="40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193103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1.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Введение в финансовые рынки и машинное обучение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2.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Технический анализ финансовых рынков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074342" y="2505600"/>
            <a:ext cx="3229663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4.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Моделирование и стратегии на финансовых рынках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3.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Подготовка данных и признаковая инженерия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5.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Глубокое обучение и практические аспекты</a:t>
            </a: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1520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 flipV="1">
            <a:off x="3714006" y="2795249"/>
            <a:ext cx="1360337" cy="6137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6.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Сложные модели торгового агента и перенос обучения в </a:t>
            </a:r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production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7. </a:t>
            </a:r>
            <a:r>
              <a:rPr lang="ru-RU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Финальный проект и практическое применение</a:t>
            </a:r>
            <a:endParaRPr sz="1050" b="0" i="0" u="none" strike="noStrike" cap="none" dirty="0">
              <a:solidFill>
                <a:schemeClr val="dk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61508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16914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7457" y="343670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7457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5720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97908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44500"/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Введение в финансовые рынки и машинное обучение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Введение в финансовые рынки и основные понятия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39797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Основы машинного обучения и его применение </a:t>
            </a:r>
            <a:r>
              <a:rPr lang="ru-RU" sz="1200">
                <a:solidFill>
                  <a:srgbClr val="1F1F1F"/>
                </a:solidFill>
                <a:latin typeface="+mn-lt"/>
                <a:sym typeface="Roboto"/>
              </a:rPr>
              <a:t>в финансах</a:t>
            </a:r>
            <a:endParaRPr lang="ru-RU"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12321" y="29039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Основы статистики и временных рядов в анализе финансов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3" y="34098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Инструменты анализа финансовых данных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905257" y="1768551"/>
            <a:ext cx="406289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652276" y="2021532"/>
            <a:ext cx="912251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392099" y="2281709"/>
            <a:ext cx="1418213" cy="2222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1146314" y="2527494"/>
            <a:ext cx="1924175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702577"/>
              </p:ext>
            </p:extLst>
          </p:nvPr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318130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277746667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54781870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44284" y="3446039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603438" y="3389945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D77AA650-7B6A-2E4F-A234-07C44F1AF1CD}"/>
              </a:ext>
            </a:extLst>
          </p:cNvPr>
          <p:cNvSpPr/>
          <p:nvPr/>
        </p:nvSpPr>
        <p:spPr>
          <a:xfrm>
            <a:off x="2226713" y="39158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Практическое введение в </a:t>
            </a:r>
            <a:r>
              <a:rPr lang="en-US" sz="1200" dirty="0">
                <a:solidFill>
                  <a:srgbClr val="1F1F1F"/>
                </a:solidFill>
                <a:latin typeface="+mn-lt"/>
                <a:sym typeface="Roboto"/>
              </a:rPr>
              <a:t>Python </a:t>
            </a:r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для финансового анализа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4E4FCD50-FA53-BF4C-9AB8-F81862AA8721}"/>
              </a:ext>
            </a:extLst>
          </p:cNvPr>
          <p:cNvCxnSpPr>
            <a:cxnSpLocks/>
            <a:stCxn id="271" idx="2"/>
            <a:endCxn id="18" idx="1"/>
          </p:cNvCxnSpPr>
          <p:nvPr/>
        </p:nvCxnSpPr>
        <p:spPr>
          <a:xfrm rot="16200000" flipH="1">
            <a:off x="893333" y="2780475"/>
            <a:ext cx="2430137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Google Shape;225;p40">
            <a:extLst>
              <a:ext uri="{FF2B5EF4-FFF2-40B4-BE49-F238E27FC236}">
                <a16:creationId xmlns:a16="http://schemas.microsoft.com/office/drawing/2014/main" id="{81ED1289-B687-F04C-ACCE-E6C6681EFFC3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612428" y="1196068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60609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97908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44500"/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Технический анализ финансовых рынков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Введение в технический анализ: графики и индикаторы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39797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Паттерны и стратегии технического анализа</a:t>
            </a: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12321" y="29039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Интеграция технического анализа с методами машинного обучения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3" y="34098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Применение технического анализа к различным классам активов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905257" y="1768551"/>
            <a:ext cx="406289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652276" y="2021532"/>
            <a:ext cx="912251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392099" y="2281709"/>
            <a:ext cx="1418213" cy="2222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1146314" y="2527494"/>
            <a:ext cx="1924175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4726478"/>
              </p:ext>
            </p:extLst>
          </p:nvPr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318130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277746667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54781870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D77AA650-7B6A-2E4F-A234-07C44F1AF1CD}"/>
              </a:ext>
            </a:extLst>
          </p:cNvPr>
          <p:cNvSpPr/>
          <p:nvPr/>
        </p:nvSpPr>
        <p:spPr>
          <a:xfrm>
            <a:off x="2226713" y="39158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Оценка и сравнение эффективности технического анализа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4E4FCD50-FA53-BF4C-9AB8-F81862AA8721}"/>
              </a:ext>
            </a:extLst>
          </p:cNvPr>
          <p:cNvCxnSpPr>
            <a:cxnSpLocks/>
            <a:stCxn id="271" idx="2"/>
            <a:endCxn id="18" idx="1"/>
          </p:cNvCxnSpPr>
          <p:nvPr/>
        </p:nvCxnSpPr>
        <p:spPr>
          <a:xfrm rot="16200000" flipH="1">
            <a:off x="893333" y="2780475"/>
            <a:ext cx="2430137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Google Shape;225;p40">
            <a:extLst>
              <a:ext uri="{FF2B5EF4-FFF2-40B4-BE49-F238E27FC236}">
                <a16:creationId xmlns:a16="http://schemas.microsoft.com/office/drawing/2014/main" id="{459B96E0-370F-2F4D-9DE2-3AC8A96E4A9D}"/>
              </a:ext>
            </a:extLst>
          </p:cNvPr>
          <p:cNvPicPr preferRelativeResize="0"/>
          <p:nvPr/>
        </p:nvPicPr>
        <p:blipFill>
          <a:blip r:embed="rId3"/>
          <a:srcRect t="2849" b="2849"/>
          <a:stretch/>
        </p:blipFill>
        <p:spPr>
          <a:xfrm>
            <a:off x="625735" y="120517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44284" y="3951208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603438" y="3895114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93608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97908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44500"/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Подготовка данных и признаковая инженерия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Сбор и очистка финансовых данных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39797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Визуализация финансовых данных</a:t>
            </a: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12321" y="29039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Управление отсутствующими данными и аномалиями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3" y="34098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Работа с большими объемами данных в финансах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905257" y="1768551"/>
            <a:ext cx="406289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652276" y="2021532"/>
            <a:ext cx="912251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392099" y="2281709"/>
            <a:ext cx="1418213" cy="2222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1146314" y="2527494"/>
            <a:ext cx="1924175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0690647"/>
              </p:ext>
            </p:extLst>
          </p:nvPr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318130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277746667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54781870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D77AA650-7B6A-2E4F-A234-07C44F1AF1CD}"/>
              </a:ext>
            </a:extLst>
          </p:cNvPr>
          <p:cNvSpPr/>
          <p:nvPr/>
        </p:nvSpPr>
        <p:spPr>
          <a:xfrm>
            <a:off x="2226713" y="39158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Преобразование данных и создание признаков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4E4FCD50-FA53-BF4C-9AB8-F81862AA8721}"/>
              </a:ext>
            </a:extLst>
          </p:cNvPr>
          <p:cNvCxnSpPr>
            <a:cxnSpLocks/>
            <a:stCxn id="271" idx="2"/>
            <a:endCxn id="18" idx="1"/>
          </p:cNvCxnSpPr>
          <p:nvPr/>
        </p:nvCxnSpPr>
        <p:spPr>
          <a:xfrm rot="16200000" flipH="1">
            <a:off x="893333" y="2780475"/>
            <a:ext cx="2430137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44284" y="3951208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603438" y="3895114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29" name="Google Shape;225;p40">
            <a:extLst>
              <a:ext uri="{FF2B5EF4-FFF2-40B4-BE49-F238E27FC236}">
                <a16:creationId xmlns:a16="http://schemas.microsoft.com/office/drawing/2014/main" id="{D3188FC7-BF31-944E-B056-08D2A4A16B5A}"/>
              </a:ext>
            </a:extLst>
          </p:cNvPr>
          <p:cNvPicPr preferRelativeResize="0"/>
          <p:nvPr/>
        </p:nvPicPr>
        <p:blipFill>
          <a:blip r:embed="rId4"/>
          <a:srcRect t="2849" b="2849"/>
          <a:stretch/>
        </p:blipFill>
        <p:spPr>
          <a:xfrm>
            <a:off x="598455" y="1223612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740939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97908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44500"/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Моделирование и стратегии на финансовых рынках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Основы классификации и регрессии в финансовых приложениях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39797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Моделирование временных рядов в прогнозировании цен</a:t>
            </a: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12321" y="29039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Стратегии торговли и оптимизация портфеля с использованием </a:t>
            </a:r>
            <a:r>
              <a:rPr lang="en-US" sz="1200" dirty="0">
                <a:solidFill>
                  <a:srgbClr val="1F1F1F"/>
                </a:solidFill>
                <a:latin typeface="+mn-lt"/>
                <a:sym typeface="Roboto"/>
              </a:rPr>
              <a:t>ML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3" y="34098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Работа с высокочастотными данными в финансах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905257" y="1768551"/>
            <a:ext cx="406289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652276" y="2021532"/>
            <a:ext cx="912251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392099" y="2281709"/>
            <a:ext cx="1418213" cy="2222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1146314" y="2527494"/>
            <a:ext cx="1924175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552113"/>
              </p:ext>
            </p:extLst>
          </p:nvPr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318130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277746667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54781870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D77AA650-7B6A-2E4F-A234-07C44F1AF1CD}"/>
              </a:ext>
            </a:extLst>
          </p:cNvPr>
          <p:cNvSpPr/>
          <p:nvPr/>
        </p:nvSpPr>
        <p:spPr>
          <a:xfrm>
            <a:off x="2226713" y="39158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Применение регуляризации и оптимизации в финансовых моделях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4E4FCD50-FA53-BF4C-9AB8-F81862AA8721}"/>
              </a:ext>
            </a:extLst>
          </p:cNvPr>
          <p:cNvCxnSpPr>
            <a:cxnSpLocks/>
            <a:stCxn id="271" idx="2"/>
            <a:endCxn id="18" idx="1"/>
          </p:cNvCxnSpPr>
          <p:nvPr/>
        </p:nvCxnSpPr>
        <p:spPr>
          <a:xfrm rot="16200000" flipH="1">
            <a:off x="893333" y="2780475"/>
            <a:ext cx="2430137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44284" y="3951208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603438" y="3895114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29" name="Google Shape;225;p40">
            <a:extLst>
              <a:ext uri="{FF2B5EF4-FFF2-40B4-BE49-F238E27FC236}">
                <a16:creationId xmlns:a16="http://schemas.microsoft.com/office/drawing/2014/main" id="{D3188FC7-BF31-944E-B056-08D2A4A16B5A}"/>
              </a:ext>
            </a:extLst>
          </p:cNvPr>
          <p:cNvPicPr preferRelativeResize="0"/>
          <p:nvPr/>
        </p:nvPicPr>
        <p:blipFill>
          <a:blip r:embed="rId4"/>
          <a:srcRect t="2849" b="2849"/>
          <a:stretch/>
        </p:blipFill>
        <p:spPr>
          <a:xfrm>
            <a:off x="598455" y="1223612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57981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97908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44500"/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Глубокое обучение и практические аспекты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Введение в глубокое обучение и нейронные сети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39797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Применение нейронных сетей в анализе финансовых рынков</a:t>
            </a: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12321" y="29039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Этические и регуляторные аспекты применения </a:t>
            </a:r>
            <a:r>
              <a:rPr lang="en-US" sz="1200" dirty="0">
                <a:solidFill>
                  <a:srgbClr val="1F1F1F"/>
                </a:solidFill>
                <a:latin typeface="+mn-lt"/>
                <a:sym typeface="Roboto"/>
              </a:rPr>
              <a:t>ML </a:t>
            </a:r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в финансах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3" y="34098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Создание и обучение глубоких моделей в </a:t>
            </a:r>
            <a:r>
              <a:rPr lang="en-US" sz="1200" dirty="0">
                <a:solidFill>
                  <a:srgbClr val="1F1F1F"/>
                </a:solidFill>
                <a:latin typeface="+mn-lt"/>
                <a:sym typeface="Roboto"/>
              </a:rPr>
              <a:t>Python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905257" y="1768551"/>
            <a:ext cx="406289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652276" y="2021532"/>
            <a:ext cx="912251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392099" y="2281709"/>
            <a:ext cx="1418213" cy="2222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1146314" y="2527494"/>
            <a:ext cx="1924175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795113"/>
              </p:ext>
            </p:extLst>
          </p:nvPr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318130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277746667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54781870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D77AA650-7B6A-2E4F-A234-07C44F1AF1CD}"/>
              </a:ext>
            </a:extLst>
          </p:cNvPr>
          <p:cNvSpPr/>
          <p:nvPr/>
        </p:nvSpPr>
        <p:spPr>
          <a:xfrm>
            <a:off x="2226713" y="39158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Продвинутые методы глубокого обучения для анализа финансов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4E4FCD50-FA53-BF4C-9AB8-F81862AA8721}"/>
              </a:ext>
            </a:extLst>
          </p:cNvPr>
          <p:cNvCxnSpPr>
            <a:cxnSpLocks/>
            <a:stCxn id="271" idx="2"/>
            <a:endCxn id="18" idx="1"/>
          </p:cNvCxnSpPr>
          <p:nvPr/>
        </p:nvCxnSpPr>
        <p:spPr>
          <a:xfrm rot="16200000" flipH="1">
            <a:off x="893333" y="2780475"/>
            <a:ext cx="2430137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44284" y="3951208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603438" y="3895114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28" name="Google Shape;225;p40">
            <a:extLst>
              <a:ext uri="{FF2B5EF4-FFF2-40B4-BE49-F238E27FC236}">
                <a16:creationId xmlns:a16="http://schemas.microsoft.com/office/drawing/2014/main" id="{BEE14A57-FDBB-024C-84B5-C5C5EFF33A19}"/>
              </a:ext>
            </a:extLst>
          </p:cNvPr>
          <p:cNvPicPr preferRelativeResize="0"/>
          <p:nvPr/>
        </p:nvPicPr>
        <p:blipFill>
          <a:blip r:embed="rId4"/>
          <a:srcRect t="2849" b="2849"/>
          <a:stretch/>
        </p:blipFill>
        <p:spPr>
          <a:xfrm>
            <a:off x="595812" y="1196068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108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97908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44500"/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Сложные модели торгового агента и перенос обучения в </a:t>
            </a:r>
            <a:r>
              <a:rPr lang="en-US" sz="1200" dirty="0">
                <a:solidFill>
                  <a:srgbClr val="1F1F1F"/>
                </a:solidFill>
                <a:latin typeface="+mn-lt"/>
                <a:sym typeface="Roboto"/>
              </a:rPr>
              <a:t>production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200" dirty="0">
                <a:solidFill>
                  <a:srgbClr val="1F1F1F"/>
                </a:solidFill>
                <a:latin typeface="+mn-lt"/>
                <a:sym typeface="Roboto"/>
              </a:rPr>
              <a:t>LLM </a:t>
            </a:r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модели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39797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200" dirty="0">
                <a:solidFill>
                  <a:srgbClr val="1F1F1F"/>
                </a:solidFill>
                <a:latin typeface="+mn-lt"/>
                <a:sym typeface="Roboto"/>
              </a:rPr>
              <a:t>RL </a:t>
            </a:r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модели</a:t>
            </a: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12321" y="29039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Сборка финального ансамбля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3" y="34098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Перенос модели в облачную среду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905257" y="1768551"/>
            <a:ext cx="406289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652276" y="2021532"/>
            <a:ext cx="912251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392099" y="2281709"/>
            <a:ext cx="1418213" cy="2222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1146314" y="2527494"/>
            <a:ext cx="1924175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6393783"/>
              </p:ext>
            </p:extLst>
          </p:nvPr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318130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277746667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54781870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D77AA650-7B6A-2E4F-A234-07C44F1AF1CD}"/>
              </a:ext>
            </a:extLst>
          </p:cNvPr>
          <p:cNvSpPr/>
          <p:nvPr/>
        </p:nvSpPr>
        <p:spPr>
          <a:xfrm>
            <a:off x="2226713" y="39158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Метрики модели и регулярное переобучение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4E4FCD50-FA53-BF4C-9AB8-F81862AA8721}"/>
              </a:ext>
            </a:extLst>
          </p:cNvPr>
          <p:cNvCxnSpPr>
            <a:cxnSpLocks/>
            <a:stCxn id="271" idx="2"/>
            <a:endCxn id="18" idx="1"/>
          </p:cNvCxnSpPr>
          <p:nvPr/>
        </p:nvCxnSpPr>
        <p:spPr>
          <a:xfrm rot="16200000" flipH="1">
            <a:off x="893333" y="2780475"/>
            <a:ext cx="2430137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44284" y="3951208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603438" y="3895114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29" name="Google Shape;225;p40">
            <a:extLst>
              <a:ext uri="{FF2B5EF4-FFF2-40B4-BE49-F238E27FC236}">
                <a16:creationId xmlns:a16="http://schemas.microsoft.com/office/drawing/2014/main" id="{3535B8B9-56A4-1949-8A22-30C06BC53B7D}"/>
              </a:ext>
            </a:extLst>
          </p:cNvPr>
          <p:cNvPicPr preferRelativeResize="0"/>
          <p:nvPr/>
        </p:nvPicPr>
        <p:blipFill>
          <a:blip r:embed="rId4"/>
          <a:srcRect t="2849" b="2849"/>
          <a:stretch/>
        </p:blipFill>
        <p:spPr>
          <a:xfrm>
            <a:off x="597212" y="1196068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188621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97908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44500"/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Финальный проект и практическое применение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Планирование и разработка проекта по анализу финансового рынка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39797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Работа с реальными данными и создание </a:t>
            </a:r>
            <a:r>
              <a:rPr lang="en-US" sz="1200" dirty="0">
                <a:solidFill>
                  <a:srgbClr val="1F1F1F"/>
                </a:solidFill>
                <a:latin typeface="+mn-lt"/>
                <a:sym typeface="Roboto"/>
              </a:rPr>
              <a:t>ML-</a:t>
            </a:r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моделей для проекта</a:t>
            </a: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12321" y="29039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Оценка результатов и практическое внедрение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3" y="34098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Презентация и защита проекта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905257" y="1768551"/>
            <a:ext cx="406289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652276" y="2021532"/>
            <a:ext cx="912251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392099" y="2281709"/>
            <a:ext cx="1418213" cy="2222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1146314" y="2527494"/>
            <a:ext cx="1924175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31124"/>
              </p:ext>
            </p:extLst>
          </p:nvPr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318130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277746667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54781870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8130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D77AA650-7B6A-2E4F-A234-07C44F1AF1CD}"/>
              </a:ext>
            </a:extLst>
          </p:cNvPr>
          <p:cNvSpPr/>
          <p:nvPr/>
        </p:nvSpPr>
        <p:spPr>
          <a:xfrm>
            <a:off x="2226713" y="39158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+mn-lt"/>
                <a:sym typeface="Roboto"/>
              </a:rPr>
              <a:t>Заключение и обзор ключевых концепций курса</a:t>
            </a:r>
            <a:endParaRPr sz="120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4E4FCD50-FA53-BF4C-9AB8-F81862AA8721}"/>
              </a:ext>
            </a:extLst>
          </p:cNvPr>
          <p:cNvCxnSpPr>
            <a:cxnSpLocks/>
            <a:stCxn id="271" idx="2"/>
            <a:endCxn id="18" idx="1"/>
          </p:cNvCxnSpPr>
          <p:nvPr/>
        </p:nvCxnSpPr>
        <p:spPr>
          <a:xfrm rot="16200000" flipH="1">
            <a:off x="893333" y="2780475"/>
            <a:ext cx="2430137" cy="2366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Google Shape;225;p40">
            <a:extLst>
              <a:ext uri="{FF2B5EF4-FFF2-40B4-BE49-F238E27FC236}">
                <a16:creationId xmlns:a16="http://schemas.microsoft.com/office/drawing/2014/main" id="{7CE6CEA7-ECB7-B942-AF7F-04849C42950A}"/>
              </a:ext>
            </a:extLst>
          </p:cNvPr>
          <p:cNvPicPr preferRelativeResize="0"/>
          <p:nvPr/>
        </p:nvPicPr>
        <p:blipFill>
          <a:blip r:embed="rId3"/>
          <a:srcRect t="2849" b="2849"/>
          <a:stretch/>
        </p:blipFill>
        <p:spPr>
          <a:xfrm>
            <a:off x="551059" y="1196068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975584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3A5F98-F024-0E46-989B-34E1B0491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017"/>
            <a:ext cx="9143999" cy="5135483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6252229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4"/>
          <p:cNvSpPr/>
          <p:nvPr/>
        </p:nvSpPr>
        <p:spPr>
          <a:xfrm>
            <a:off x="1052550" y="1264075"/>
            <a:ext cx="3426900" cy="7791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94"/>
          <p:cNvSpPr/>
          <p:nvPr/>
        </p:nvSpPr>
        <p:spPr>
          <a:xfrm>
            <a:off x="1052550" y="2237575"/>
            <a:ext cx="3426900" cy="9933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94"/>
          <p:cNvSpPr/>
          <p:nvPr/>
        </p:nvSpPr>
        <p:spPr>
          <a:xfrm>
            <a:off x="1052550" y="3425275"/>
            <a:ext cx="3426900" cy="1135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94"/>
          <p:cNvSpPr/>
          <p:nvPr/>
        </p:nvSpPr>
        <p:spPr>
          <a:xfrm>
            <a:off x="4673550" y="1264075"/>
            <a:ext cx="3417900" cy="1135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94"/>
          <p:cNvSpPr/>
          <p:nvPr/>
        </p:nvSpPr>
        <p:spPr>
          <a:xfrm>
            <a:off x="4673550" y="2579575"/>
            <a:ext cx="3417900" cy="8481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94"/>
          <p:cNvSpPr/>
          <p:nvPr/>
        </p:nvSpPr>
        <p:spPr>
          <a:xfrm>
            <a:off x="4673550" y="3607675"/>
            <a:ext cx="3417900" cy="951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2" name="Google Shape;522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37900" y="1421375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94"/>
          <p:cNvSpPr txBox="1"/>
          <p:nvPr/>
        </p:nvSpPr>
        <p:spPr>
          <a:xfrm>
            <a:off x="1763275" y="1326125"/>
            <a:ext cx="2529600" cy="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Обучение выстроено в формате вебинаров (онлайн). Онлайн-вебинары проводятся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по вечерам или в выходные дни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24" name="Google Shape;524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7900" y="2440438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94"/>
          <p:cNvSpPr txBox="1"/>
          <p:nvPr/>
        </p:nvSpPr>
        <p:spPr>
          <a:xfrm>
            <a:off x="1763275" y="2305525"/>
            <a:ext cx="2626500" cy="9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Все записи занятий и материалы, предоставляемые преподавателями, сохраняются в личном кабинете и остаются доступны даже после окончания обучения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26" name="Google Shape;526;p9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37900" y="3632238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94"/>
          <p:cNvSpPr txBox="1"/>
          <p:nvPr/>
        </p:nvSpPr>
        <p:spPr>
          <a:xfrm>
            <a:off x="1763275" y="3495075"/>
            <a:ext cx="2493300" cy="10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 позволят Вам применить на практике полученные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 время вебинаров знания.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По каждому домашнему заданию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преподаватель дает развернутый фидбек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28" name="Google Shape;528;p9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853100" y="1421375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94"/>
          <p:cNvSpPr txBox="1"/>
          <p:nvPr/>
        </p:nvSpPr>
        <p:spPr>
          <a:xfrm>
            <a:off x="5378475" y="1326125"/>
            <a:ext cx="2493300" cy="9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процессе обучения Вы можете задавать преподавателю вопросы по материалам лекций и домашних заданий, уточнять моменты, которые были непонятны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на уроке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30" name="Google Shape;530;p9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853100" y="2743075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94"/>
          <p:cNvSpPr txBox="1"/>
          <p:nvPr/>
        </p:nvSpPr>
        <p:spPr>
          <a:xfrm>
            <a:off x="5378475" y="2647825"/>
            <a:ext cx="2626500" cy="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Время на обучение: от 4 ак. часов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на занятия и 4-8 часов на домашнюю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работу в неделю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32" name="Google Shape;532;p9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853100" y="3760075"/>
            <a:ext cx="460475" cy="460475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94"/>
          <p:cNvSpPr txBox="1"/>
          <p:nvPr/>
        </p:nvSpPr>
        <p:spPr>
          <a:xfrm>
            <a:off x="5378475" y="3664825"/>
            <a:ext cx="2529600" cy="8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54000" bIns="91425" anchor="t" anchorCtr="0">
            <a:normAutofit lnSpcReduction="10000"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Программа обучения на курсах обновляется каждый запуск в зависимости от актуальных запросов в сфере IТ-технологий</a:t>
            </a:r>
            <a:endParaRPr sz="9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94"/>
          <p:cNvSpPr txBox="1"/>
          <p:nvPr/>
        </p:nvSpPr>
        <p:spPr>
          <a:xfrm>
            <a:off x="500550" y="336745"/>
            <a:ext cx="8307600" cy="11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100" b="1" dirty="0">
                <a:latin typeface="Roboto"/>
                <a:ea typeface="Roboto"/>
                <a:cs typeface="Roboto"/>
                <a:sym typeface="Roboto"/>
              </a:rPr>
              <a:t>Процесс обучения</a:t>
            </a:r>
            <a:endParaRPr sz="3100" b="1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8"/>
          <p:cNvSpPr txBox="1">
            <a:spLocks noGrp="1"/>
          </p:cNvSpPr>
          <p:nvPr>
            <p:ph type="title"/>
          </p:nvPr>
        </p:nvSpPr>
        <p:spPr>
          <a:xfrm>
            <a:off x="956225" y="777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0"/>
              <a:t>Заполните, пожалуйста,</a:t>
            </a:r>
            <a:endParaRPr sz="3500" b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/>
              <a:t>опрос</a:t>
            </a:r>
            <a:r>
              <a:rPr lang="ru" sz="3500" b="0"/>
              <a:t> о занятии</a:t>
            </a:r>
            <a:endParaRPr sz="3500" b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i="1" u="sng">
                <a:solidFill>
                  <a:schemeClr val="accent6"/>
                </a:solidFill>
              </a:rPr>
              <a:t>Важно! Пройти опрос могут только залогиненные пользователи платформы OTUS</a:t>
            </a:r>
            <a:r>
              <a:rPr lang="ru" sz="1800" i="1" u="sng">
                <a:solidFill>
                  <a:srgbClr val="E06666"/>
                </a:solidFill>
              </a:rPr>
              <a:t> </a:t>
            </a: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u="sng">
              <a:solidFill>
                <a:srgbClr val="E0666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i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ru"/>
              <a:t>Спасибо за внимание!</a:t>
            </a:r>
            <a:endParaRPr/>
          </a:p>
        </p:txBody>
      </p:sp>
      <p:pic>
        <p:nvPicPr>
          <p:cNvPr id="643" name="Google Shape;643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68775" y="2131625"/>
            <a:ext cx="2392300" cy="239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12999</TotalTime>
  <Words>1786</Words>
  <Application>Microsoft Macintosh PowerPoint</Application>
  <PresentationFormat>On-screen Show (16:9)</PresentationFormat>
  <Paragraphs>404</Paragraphs>
  <Slides>41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3" baseType="lpstr">
      <vt:lpstr>AkayaTelivigala</vt:lpstr>
      <vt:lpstr>Bradley Hand</vt:lpstr>
      <vt:lpstr>Roboto</vt:lpstr>
      <vt:lpstr>Cambria Math</vt:lpstr>
      <vt:lpstr>Helvetica Neue</vt:lpstr>
      <vt:lpstr>Calibri</vt:lpstr>
      <vt:lpstr>Arial</vt:lpstr>
      <vt:lpstr>Courier New</vt:lpstr>
      <vt:lpstr>Adelle Sans Devanagari Thin</vt:lpstr>
      <vt:lpstr>Apple Chancery</vt:lpstr>
      <vt:lpstr>Светлая тема</vt:lpstr>
      <vt:lpstr>Светлая тема</vt:lpstr>
      <vt:lpstr>ML для финансового анализа Построение торгового агента на безе алгоритмов обучения с подкреплением</vt:lpstr>
      <vt:lpstr>PowerPoint Presentation</vt:lpstr>
      <vt:lpstr>ML для финансового анализа Построение торгового агента на безе алгоритмов обучения с подкреплением</vt:lpstr>
      <vt:lpstr>Правила вебинара</vt:lpstr>
      <vt:lpstr>Маршрут вебинара</vt:lpstr>
      <vt:lpstr>Расскажите о себе</vt:lpstr>
      <vt:lpstr>Об ОТУС</vt:lpstr>
      <vt:lpstr>PowerPoint Presentation</vt:lpstr>
      <vt:lpstr>Образование в ОТУС</vt:lpstr>
      <vt:lpstr>Напишите, пожалуйста, в чат подходящую цифру</vt:lpstr>
      <vt:lpstr>Что такое Reinforcement Learning</vt:lpstr>
      <vt:lpstr>Reinforcement Learning</vt:lpstr>
      <vt:lpstr>PowerPoint Presentation</vt:lpstr>
      <vt:lpstr>PowerPoint Presentation</vt:lpstr>
      <vt:lpstr>RL policy – детерминированная политика</vt:lpstr>
      <vt:lpstr>Функция ценности состояния</vt:lpstr>
      <vt:lpstr>Функция ценности состояния-действия</vt:lpstr>
      <vt:lpstr>Размерность пространства состояний</vt:lpstr>
      <vt:lpstr>Q-learning update for NN</vt:lpstr>
      <vt:lpstr>Q-learning update for NN</vt:lpstr>
      <vt:lpstr>Обзор алгоритмов RL</vt:lpstr>
      <vt:lpstr>Environment – финансовый рынок</vt:lpstr>
      <vt:lpstr>Задача</vt:lpstr>
      <vt:lpstr>Модель рынка</vt:lpstr>
      <vt:lpstr>Торговый агент</vt:lpstr>
      <vt:lpstr>Реализация агента</vt:lpstr>
      <vt:lpstr>Практика</vt:lpstr>
      <vt:lpstr>Практическая реализация </vt:lpstr>
      <vt:lpstr>Вопросы?</vt:lpstr>
      <vt:lpstr>Знакомство с  программой курса</vt:lpstr>
      <vt:lpstr>Карта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PowerPoint Presentation</vt:lpstr>
      <vt:lpstr>PowerPoint Presentation</vt:lpstr>
      <vt:lpstr>Заполните, пожалуйста, опрос о занятии Важно! Пройти опрос могут только залогиненные пользователи платформы OTUS       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Информация для преподавателя (маршрут демо-занятия)</dc:title>
  <cp:lastModifiedBy>Стурейко Игорь Олегович</cp:lastModifiedBy>
  <cp:revision>118</cp:revision>
  <dcterms:modified xsi:type="dcterms:W3CDTF">2024-10-27T15:37:37Z</dcterms:modified>
</cp:coreProperties>
</file>