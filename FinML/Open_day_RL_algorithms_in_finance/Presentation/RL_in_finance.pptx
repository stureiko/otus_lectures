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37"/>
  </p:notesMasterIdLst>
  <p:sldIdLst>
    <p:sldId id="257" r:id="rId3"/>
    <p:sldId id="258" r:id="rId4"/>
    <p:sldId id="312" r:id="rId5"/>
    <p:sldId id="262" r:id="rId6"/>
    <p:sldId id="260" r:id="rId7"/>
    <p:sldId id="261" r:id="rId8"/>
    <p:sldId id="263" r:id="rId9"/>
    <p:sldId id="264" r:id="rId10"/>
    <p:sldId id="265" r:id="rId11"/>
    <p:sldId id="268" r:id="rId12"/>
    <p:sldId id="271" r:id="rId13"/>
    <p:sldId id="359" r:id="rId14"/>
    <p:sldId id="277" r:id="rId15"/>
    <p:sldId id="334" r:id="rId16"/>
    <p:sldId id="346" r:id="rId17"/>
    <p:sldId id="396" r:id="rId18"/>
    <p:sldId id="397" r:id="rId19"/>
    <p:sldId id="487" r:id="rId20"/>
    <p:sldId id="333" r:id="rId21"/>
    <p:sldId id="343" r:id="rId22"/>
    <p:sldId id="488" r:id="rId23"/>
    <p:sldId id="360" r:id="rId24"/>
    <p:sldId id="376" r:id="rId25"/>
    <p:sldId id="369" r:id="rId26"/>
    <p:sldId id="368" r:id="rId27"/>
    <p:sldId id="490" r:id="rId28"/>
    <p:sldId id="418" r:id="rId29"/>
    <p:sldId id="281" r:id="rId30"/>
    <p:sldId id="280" r:id="rId31"/>
    <p:sldId id="288" r:id="rId32"/>
    <p:sldId id="474" r:id="rId33"/>
    <p:sldId id="401" r:id="rId34"/>
    <p:sldId id="289" r:id="rId35"/>
    <p:sldId id="303" r:id="rId36"/>
  </p:sldIdLst>
  <p:sldSz cx="9144000" cy="5143500" type="screen16x9"/>
  <p:notesSz cx="6858000" cy="9144000"/>
  <p:embeddedFontLst>
    <p:embeddedFont>
      <p:font typeface="Adelle Sans Devanagari Thin" panose="020F0502020204030204" pitchFamily="34" charset="0"/>
      <p:regular r:id="rId38"/>
      <p:bold r:id="rId39"/>
      <p:italic r:id="rId40"/>
      <p:bold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08"/>
    <p:restoredTop sz="97146"/>
  </p:normalViewPr>
  <p:slideViewPr>
    <p:cSldViewPr snapToGrid="0">
      <p:cViewPr varScale="1">
        <p:scale>
          <a:sx n="359" d="100"/>
          <a:sy n="359" d="100"/>
        </p:scale>
        <p:origin x="536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агент экспериментирует, выбирая различные действия, и учитывает полученную обратную связь в виде наград или штрафов, чтобы улучшить свою стратегию.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beb2bd22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beb2bd227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beb2bd227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beb2bd227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921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536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36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711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9119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598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8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1" r:id="rId11"/>
    <p:sldLayoutId id="2147483702" r:id="rId12"/>
    <p:sldLayoutId id="214748370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0.jpg"/><Relationship Id="rId7" Type="http://schemas.openxmlformats.org/officeDocument/2006/relationships/image" Target="../media/image4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530.png"/><Relationship Id="rId12" Type="http://schemas.openxmlformats.org/officeDocument/2006/relationships/image" Target="../media/image5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0.png"/><Relationship Id="rId11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49.png"/><Relationship Id="rId4" Type="http://schemas.openxmlformats.org/officeDocument/2006/relationships/image" Target="../media/image50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jp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/>
              <a:t>Построение торгового агента на безе алгоритмов обучения с подкреплением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ru-RU" sz="3200" dirty="0"/>
              <a:t>для финансового анализа</a:t>
            </a:r>
            <a:br>
              <a:rPr lang="en-US" sz="3200" dirty="0"/>
            </a:br>
            <a:r>
              <a:rPr lang="ru-RU" sz="2400" dirty="0"/>
              <a:t>Построение торгового агента на безе алгоритмов обучения с подкреплением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868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5256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78397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Базовые алгоритмы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34968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  <p:sp>
        <p:nvSpPr>
          <p:cNvPr id="9" name="Google Shape;287;p65">
            <a:extLst>
              <a:ext uri="{FF2B5EF4-FFF2-40B4-BE49-F238E27FC236}">
                <a16:creationId xmlns:a16="http://schemas.microsoft.com/office/drawing/2014/main" id="{5360C118-8286-E149-A863-1862DECD6B75}"/>
              </a:ext>
            </a:extLst>
          </p:cNvPr>
          <p:cNvSpPr/>
          <p:nvPr/>
        </p:nvSpPr>
        <p:spPr>
          <a:xfrm>
            <a:off x="680150" y="321827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Создание среды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Что такое </a:t>
            </a:r>
            <a:r>
              <a:rPr lang="en-US" dirty="0"/>
              <a:t>Reinforcement Learning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58A245-2071-484B-8B77-BEA3358E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5D672-3E20-9B43-98BC-4823A95C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94" y="978013"/>
            <a:ext cx="6244479" cy="389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16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/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Место обучения с подкреплением</a:t>
            </a:r>
            <a:endParaRPr sz="31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5393D-EB32-2B47-8D65-8F555D280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10" y="898940"/>
            <a:ext cx="7505444" cy="37527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7D25A3-4BD6-034C-94F6-F4C82E543FCF}"/>
              </a:ext>
            </a:extLst>
          </p:cNvPr>
          <p:cNvSpPr txBox="1"/>
          <p:nvPr/>
        </p:nvSpPr>
        <p:spPr>
          <a:xfrm>
            <a:off x="6100091" y="4307218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Andrew Ng, NIPS</a:t>
            </a:r>
            <a:endParaRPr lang="en-TR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/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такое Обучение с Подкреплением?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500550" y="1369325"/>
            <a:ext cx="3413400" cy="3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это направление машинного обучения, где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агент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(искусственный интеллект) обучается,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принимая решения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и действуя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некоторой среде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с целью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максимизировать некую награду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Этот метод обучения схож с тем, как люди и животные учатся на основе положительного и отрицательного подкрепления.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A0FFB3-E94B-F545-9F02-E9DB54CD5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363" y="1684521"/>
            <a:ext cx="4835887" cy="214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RL policy</a:t>
            </a:r>
            <a:r>
              <a:rPr lang="ru-RU" dirty="0"/>
              <a:t> – детерминированная политика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1C28CC-7CAD-A643-9727-E92C32E50AEE}"/>
              </a:ext>
            </a:extLst>
          </p:cNvPr>
          <p:cNvGraphicFramePr>
            <a:graphicFrameLocks noGrp="1"/>
          </p:cNvGraphicFramePr>
          <p:nvPr/>
        </p:nvGraphicFramePr>
        <p:xfrm>
          <a:off x="576039" y="1348419"/>
          <a:ext cx="3524755" cy="3416300"/>
        </p:xfrm>
        <a:graphic>
          <a:graphicData uri="http://schemas.openxmlformats.org/drawingml/2006/table">
            <a:tbl>
              <a:tblPr>
                <a:tableStyleId>{9F59E00E-254B-42B5-9FED-D0DB1D54CBD8}</a:tableStyleId>
              </a:tblPr>
              <a:tblGrid>
                <a:gridCol w="704951">
                  <a:extLst>
                    <a:ext uri="{9D8B030D-6E8A-4147-A177-3AD203B41FA5}">
                      <a16:colId xmlns:a16="http://schemas.microsoft.com/office/drawing/2014/main" val="1845468549"/>
                    </a:ext>
                  </a:extLst>
                </a:gridCol>
                <a:gridCol w="704951">
                  <a:extLst>
                    <a:ext uri="{9D8B030D-6E8A-4147-A177-3AD203B41FA5}">
                      <a16:colId xmlns:a16="http://schemas.microsoft.com/office/drawing/2014/main" val="1339863877"/>
                    </a:ext>
                  </a:extLst>
                </a:gridCol>
                <a:gridCol w="704951">
                  <a:extLst>
                    <a:ext uri="{9D8B030D-6E8A-4147-A177-3AD203B41FA5}">
                      <a16:colId xmlns:a16="http://schemas.microsoft.com/office/drawing/2014/main" val="43082244"/>
                    </a:ext>
                  </a:extLst>
                </a:gridCol>
                <a:gridCol w="704951">
                  <a:extLst>
                    <a:ext uri="{9D8B030D-6E8A-4147-A177-3AD203B41FA5}">
                      <a16:colId xmlns:a16="http://schemas.microsoft.com/office/drawing/2014/main" val="1785429814"/>
                    </a:ext>
                  </a:extLst>
                </a:gridCol>
                <a:gridCol w="704951">
                  <a:extLst>
                    <a:ext uri="{9D8B030D-6E8A-4147-A177-3AD203B41FA5}">
                      <a16:colId xmlns:a16="http://schemas.microsoft.com/office/drawing/2014/main" val="1084434534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start</a:t>
                      </a:r>
                      <a:endParaRPr lang="en-US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→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↓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↓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324059508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→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↑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→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→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↓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87245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←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↑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4100" u="none" strike="noStrike" dirty="0">
                          <a:effectLst/>
                        </a:rPr>
                        <a:t>↓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54260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←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↓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 dirty="0">
                          <a:effectLst/>
                        </a:rPr>
                        <a:t>↓</a:t>
                      </a:r>
                      <a:endParaRPr lang="en-TR" sz="4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10724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↑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→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4100" u="none" strike="noStrike">
                          <a:effectLst/>
                        </a:rPr>
                        <a:t>↑</a:t>
                      </a:r>
                      <a:endParaRPr lang="en-TR" sz="4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finish</a:t>
                      </a: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569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ECB4B6-CDB6-DA4C-8C87-58469EF3150C}"/>
              </a:ext>
            </a:extLst>
          </p:cNvPr>
          <p:cNvSpPr txBox="1"/>
          <p:nvPr/>
        </p:nvSpPr>
        <p:spPr>
          <a:xfrm>
            <a:off x="576039" y="1040642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Политика 1</a:t>
            </a:r>
            <a:endParaRPr lang="en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91F2A6CB-5969-F549-A860-59132516A3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314250" y="1307283"/>
                <a:ext cx="4706900" cy="350549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 algn="l">
                  <a:buNone/>
                </a:pPr>
                <a:r>
                  <a:rPr lang="ru-RU" sz="11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Политикой называется отображение из пространства состояний в пространство действий</a:t>
                </a: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⟼</m:t>
                      </m:r>
                      <m:r>
                        <a:rPr lang="en-US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11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endParaRPr lang="ru-RU" sz="11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 algn="l">
                  <a:buNone/>
                </a:pPr>
                <a:r>
                  <a:rPr lang="ru-RU" sz="11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Результатом действия политики на среду является </a:t>
                </a:r>
                <a:r>
                  <a:rPr lang="ru-RU" sz="1100" b="1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траектория</a:t>
                </a:r>
                <a:r>
                  <a:rPr lang="ru-RU" sz="11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агента, которая определяет его конечную награду</a:t>
                </a:r>
                <a:r>
                  <a:rPr lang="en-US" sz="11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:</a:t>
                </a: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 →      </m:t>
                      </m:r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1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1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1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Цель агента - максимизировать суммарное вознаграждение (выработать политику)</a:t>
                </a:r>
                <a:r>
                  <a:rPr lang="en-US" sz="11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  <a:endParaRPr lang="ru-RU" sz="11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1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</m:e>
                      </m:d>
                      <m:r>
                        <a:rPr lang="en-US" sz="11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1000" dirty="0"/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91F2A6CB-5969-F549-A860-59132516A3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14250" y="1307283"/>
                <a:ext cx="4706900" cy="3505493"/>
              </a:xfrm>
              <a:prstGeom prst="rect">
                <a:avLst/>
              </a:prstGeom>
              <a:blipFill>
                <a:blip r:embed="rId3"/>
                <a:stretch>
                  <a:fillRect b="-21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BD8E7FE-42E8-FD47-A0AA-3660C41EA058}"/>
              </a:ext>
            </a:extLst>
          </p:cNvPr>
          <p:cNvSpPr/>
          <p:nvPr/>
        </p:nvSpPr>
        <p:spPr>
          <a:xfrm>
            <a:off x="6071931" y="4206259"/>
            <a:ext cx="1276477" cy="5584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6D2427-9507-ED4B-A0D2-1C3322DA090D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100794" y="4485489"/>
            <a:ext cx="1971137" cy="0"/>
          </a:xfrm>
          <a:prstGeom prst="straightConnector1">
            <a:avLst/>
          </a:prstGeom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182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DA70-3E39-6C4A-80F5-DC4C8CB3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ценности состояния</a:t>
            </a:r>
            <a:endParaRPr lang="en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F32F17-3BEB-7149-AEEA-8B95D8D70DF3}"/>
              </a:ext>
            </a:extLst>
          </p:cNvPr>
          <p:cNvGraphicFramePr>
            <a:graphicFrameLocks noGrp="1"/>
          </p:cNvGraphicFramePr>
          <p:nvPr/>
        </p:nvGraphicFramePr>
        <p:xfrm>
          <a:off x="534345" y="1128093"/>
          <a:ext cx="2820835" cy="2400975"/>
        </p:xfrm>
        <a:graphic>
          <a:graphicData uri="http://schemas.openxmlformats.org/drawingml/2006/table">
            <a:tbl>
              <a:tblPr firstRow="1" bandRow="1"/>
              <a:tblGrid>
                <a:gridCol w="564167">
                  <a:extLst>
                    <a:ext uri="{9D8B030D-6E8A-4147-A177-3AD203B41FA5}">
                      <a16:colId xmlns:a16="http://schemas.microsoft.com/office/drawing/2014/main" val="3722595887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408206748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1642578470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77006586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2039500422"/>
                    </a:ext>
                  </a:extLst>
                </a:gridCol>
              </a:tblGrid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3291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6625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23752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370690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450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EC241C-0460-DE40-B9A1-BBAADF9C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52" y="1495698"/>
            <a:ext cx="282457" cy="39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F3B6E-FCD0-9042-B7EF-FEDA8CA0D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540" y="2644810"/>
            <a:ext cx="387010" cy="387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63E209-F122-2542-8685-8C44F51E41CB}"/>
                  </a:ext>
                </a:extLst>
              </p:cNvPr>
              <p:cNvSpPr txBox="1"/>
              <p:nvPr/>
            </p:nvSpPr>
            <p:spPr>
              <a:xfrm>
                <a:off x="4164605" y="1581451"/>
                <a:ext cx="23394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63E209-F122-2542-8685-8C44F51E4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605" y="1581451"/>
                <a:ext cx="2339487" cy="307777"/>
              </a:xfrm>
              <a:prstGeom prst="rect">
                <a:avLst/>
              </a:prstGeom>
              <a:blipFill>
                <a:blip r:embed="rId4"/>
                <a:stretch>
                  <a:fillRect l="-538" r="-268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651493-AB53-AA48-A307-08D9A14D1120}"/>
              </a:ext>
            </a:extLst>
          </p:cNvPr>
          <p:cNvCxnSpPr>
            <a:cxnSpLocks/>
          </p:cNvCxnSpPr>
          <p:nvPr/>
        </p:nvCxnSpPr>
        <p:spPr>
          <a:xfrm>
            <a:off x="4164605" y="1979870"/>
            <a:ext cx="671992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305670-DC05-D24B-9793-0B8D013791A7}"/>
                  </a:ext>
                </a:extLst>
              </p:cNvPr>
              <p:cNvSpPr txBox="1"/>
              <p:nvPr/>
            </p:nvSpPr>
            <p:spPr>
              <a:xfrm>
                <a:off x="3704859" y="2010287"/>
                <a:ext cx="1398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305670-DC05-D24B-9793-0B8D01379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859" y="2010287"/>
                <a:ext cx="1398909" cy="230832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4F84A0-39FB-8A44-A991-1988C95F77B0}"/>
              </a:ext>
            </a:extLst>
          </p:cNvPr>
          <p:cNvCxnSpPr>
            <a:cxnSpLocks/>
          </p:cNvCxnSpPr>
          <p:nvPr/>
        </p:nvCxnSpPr>
        <p:spPr>
          <a:xfrm>
            <a:off x="5120940" y="1979870"/>
            <a:ext cx="568688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1A62BA9-17FA-984D-8F7C-6CA8BD0A87FA}"/>
              </a:ext>
            </a:extLst>
          </p:cNvPr>
          <p:cNvSpPr txBox="1"/>
          <p:nvPr/>
        </p:nvSpPr>
        <p:spPr>
          <a:xfrm>
            <a:off x="4538690" y="2222461"/>
            <a:ext cx="1781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00B050"/>
                </a:solidFill>
              </a:rPr>
              <a:t>Ожидаемая будущая награда</a:t>
            </a:r>
            <a:endParaRPr lang="en-TR" sz="900" dirty="0">
              <a:solidFill>
                <a:srgbClr val="00B05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3AA5E1-2D34-FB47-98D2-255AEC0E394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429319" y="1961461"/>
            <a:ext cx="15343" cy="261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8F0156-2F93-A645-89FB-9443B49D2CA7}"/>
              </a:ext>
            </a:extLst>
          </p:cNvPr>
          <p:cNvCxnSpPr>
            <a:cxnSpLocks/>
          </p:cNvCxnSpPr>
          <p:nvPr/>
        </p:nvCxnSpPr>
        <p:spPr>
          <a:xfrm>
            <a:off x="5764293" y="1978848"/>
            <a:ext cx="649490" cy="102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734B7-3E57-7C42-8C11-0E3D9CDE282B}"/>
                  </a:ext>
                </a:extLst>
              </p:cNvPr>
              <p:cNvSpPr txBox="1"/>
              <p:nvPr/>
            </p:nvSpPr>
            <p:spPr>
              <a:xfrm>
                <a:off x="6015269" y="1958098"/>
                <a:ext cx="1955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условии начала действия из</a:t>
                </a:r>
              </a:p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734B7-3E57-7C42-8C11-0E3D9CDE2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269" y="1958098"/>
                <a:ext cx="195598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0D76812-8683-9E4D-91B4-776AC77CB42A}"/>
              </a:ext>
            </a:extLst>
          </p:cNvPr>
          <p:cNvSpPr/>
          <p:nvPr/>
        </p:nvSpPr>
        <p:spPr>
          <a:xfrm>
            <a:off x="5268147" y="1759887"/>
            <a:ext cx="158104" cy="153889"/>
          </a:xfrm>
          <a:prstGeom prst="rect">
            <a:avLst/>
          </a:prstGeom>
          <a:noFill/>
          <a:ln w="12700"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C5847F-66B3-5343-B20E-65468601B468}"/>
                  </a:ext>
                </a:extLst>
              </p:cNvPr>
              <p:cNvSpPr txBox="1"/>
              <p:nvPr/>
            </p:nvSpPr>
            <p:spPr>
              <a:xfrm>
                <a:off x="5092748" y="1073981"/>
                <a:ext cx="2226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rgbClr val="C00000"/>
                    </a:solidFill>
                  </a:rPr>
                  <a:t>В условиях, что действие выбирается</a:t>
                </a:r>
                <a:br>
                  <a:rPr lang="ru-RU" sz="900" dirty="0">
                    <a:solidFill>
                      <a:srgbClr val="C00000"/>
                    </a:solidFill>
                  </a:rPr>
                </a:br>
                <a:r>
                  <a:rPr lang="ru-RU" sz="900" dirty="0">
                    <a:solidFill>
                      <a:srgbClr val="C00000"/>
                    </a:solidFill>
                  </a:rPr>
                  <a:t>исходя из политики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C5847F-66B3-5343-B20E-65468601B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748" y="1073981"/>
                <a:ext cx="222689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9E5CF7-BF8C-6D4F-8914-0231537EE5A3}"/>
              </a:ext>
            </a:extLst>
          </p:cNvPr>
          <p:cNvCxnSpPr>
            <a:cxnSpLocks/>
          </p:cNvCxnSpPr>
          <p:nvPr/>
        </p:nvCxnSpPr>
        <p:spPr>
          <a:xfrm flipV="1">
            <a:off x="5358234" y="1439821"/>
            <a:ext cx="0" cy="312151"/>
          </a:xfrm>
          <a:prstGeom prst="line">
            <a:avLst/>
          </a:prstGeom>
          <a:ln w="12700">
            <a:solidFill>
              <a:srgbClr val="C0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11FA37-18C0-AA48-9DF5-477BFF562C5C}"/>
                  </a:ext>
                </a:extLst>
              </p:cNvPr>
              <p:cNvSpPr txBox="1"/>
              <p:nvPr/>
            </p:nvSpPr>
            <p:spPr>
              <a:xfrm>
                <a:off x="4101111" y="3080665"/>
                <a:ext cx="41262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11FA37-18C0-AA48-9DF5-477BFF562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111" y="3080665"/>
                <a:ext cx="4126258" cy="307777"/>
              </a:xfrm>
              <a:prstGeom prst="rect">
                <a:avLst/>
              </a:prstGeom>
              <a:blipFill>
                <a:blip r:embed="rId8"/>
                <a:stretch>
                  <a:fillRect l="-308" r="-1538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6F1CC8-1228-D94B-B5C9-99CC4D57071C}"/>
              </a:ext>
            </a:extLst>
          </p:cNvPr>
          <p:cNvCxnSpPr>
            <a:cxnSpLocks/>
          </p:cNvCxnSpPr>
          <p:nvPr/>
        </p:nvCxnSpPr>
        <p:spPr>
          <a:xfrm>
            <a:off x="4164605" y="3434261"/>
            <a:ext cx="671992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1F33842-9BF2-8B40-8330-66E9113AA66A}"/>
                  </a:ext>
                </a:extLst>
              </p:cNvPr>
              <p:cNvSpPr txBox="1"/>
              <p:nvPr/>
            </p:nvSpPr>
            <p:spPr>
              <a:xfrm>
                <a:off x="3708982" y="3563541"/>
                <a:ext cx="1398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1F33842-9BF2-8B40-8330-66E9113AA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982" y="3563541"/>
                <a:ext cx="1398909" cy="230832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4B0874-D532-4D45-AA40-542F9655C5E6}"/>
              </a:ext>
            </a:extLst>
          </p:cNvPr>
          <p:cNvCxnSpPr>
            <a:cxnSpLocks/>
          </p:cNvCxnSpPr>
          <p:nvPr/>
        </p:nvCxnSpPr>
        <p:spPr>
          <a:xfrm flipV="1">
            <a:off x="4418651" y="3434262"/>
            <a:ext cx="81950" cy="196939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993C92-81C7-6F41-9ACE-E8E41E231473}"/>
              </a:ext>
            </a:extLst>
          </p:cNvPr>
          <p:cNvCxnSpPr>
            <a:cxnSpLocks/>
          </p:cNvCxnSpPr>
          <p:nvPr/>
        </p:nvCxnSpPr>
        <p:spPr>
          <a:xfrm flipV="1">
            <a:off x="5160398" y="3574094"/>
            <a:ext cx="2202129" cy="24786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5A72E-E55A-C745-BE27-316E5DC0EAE0}"/>
              </a:ext>
            </a:extLst>
          </p:cNvPr>
          <p:cNvSpPr txBox="1"/>
          <p:nvPr/>
        </p:nvSpPr>
        <p:spPr>
          <a:xfrm>
            <a:off x="5344645" y="4416516"/>
            <a:ext cx="2048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rgbClr val="00B050"/>
                </a:solidFill>
              </a:rPr>
              <a:t>Ожидаемая будущая награда</a:t>
            </a:r>
            <a:endParaRPr lang="en-TR" sz="900" dirty="0">
              <a:solidFill>
                <a:srgbClr val="00B05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F42E0BE-E048-2748-8352-72EFEB31C3C1}"/>
              </a:ext>
            </a:extLst>
          </p:cNvPr>
          <p:cNvCxnSpPr>
            <a:cxnSpLocks/>
          </p:cNvCxnSpPr>
          <p:nvPr/>
        </p:nvCxnSpPr>
        <p:spPr>
          <a:xfrm flipV="1">
            <a:off x="5496394" y="3598880"/>
            <a:ext cx="0" cy="772992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2B7A86-09B2-E547-846D-05AD54321A8B}"/>
              </a:ext>
            </a:extLst>
          </p:cNvPr>
          <p:cNvCxnSpPr>
            <a:cxnSpLocks/>
          </p:cNvCxnSpPr>
          <p:nvPr/>
        </p:nvCxnSpPr>
        <p:spPr>
          <a:xfrm>
            <a:off x="5496394" y="3449476"/>
            <a:ext cx="495910" cy="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6F76E7-DB77-3346-97ED-DF93BEEBFBE2}"/>
              </a:ext>
            </a:extLst>
          </p:cNvPr>
          <p:cNvCxnSpPr>
            <a:cxnSpLocks/>
          </p:cNvCxnSpPr>
          <p:nvPr/>
        </p:nvCxnSpPr>
        <p:spPr>
          <a:xfrm flipV="1">
            <a:off x="6323528" y="3434261"/>
            <a:ext cx="1038999" cy="15215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3E71738-6413-6C40-8976-5C79378E23E7}"/>
              </a:ext>
            </a:extLst>
          </p:cNvPr>
          <p:cNvSpPr txBox="1"/>
          <p:nvPr/>
        </p:nvSpPr>
        <p:spPr>
          <a:xfrm>
            <a:off x="5496395" y="3659649"/>
            <a:ext cx="1054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chemeClr val="accent6">
                    <a:lumMod val="50000"/>
                  </a:schemeClr>
                </a:solidFill>
              </a:rPr>
              <a:t>Немедленная награда</a:t>
            </a:r>
            <a:endParaRPr lang="en-TR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E1EC9D-304C-4449-A9D3-187835653CD2}"/>
              </a:ext>
            </a:extLst>
          </p:cNvPr>
          <p:cNvCxnSpPr>
            <a:cxnSpLocks/>
          </p:cNvCxnSpPr>
          <p:nvPr/>
        </p:nvCxnSpPr>
        <p:spPr>
          <a:xfrm flipV="1">
            <a:off x="5715709" y="3449477"/>
            <a:ext cx="0" cy="210172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5C87E1-F384-8E4F-8274-7C6EAE351793}"/>
              </a:ext>
            </a:extLst>
          </p:cNvPr>
          <p:cNvCxnSpPr>
            <a:cxnSpLocks/>
          </p:cNvCxnSpPr>
          <p:nvPr/>
        </p:nvCxnSpPr>
        <p:spPr>
          <a:xfrm flipV="1">
            <a:off x="6734051" y="3449477"/>
            <a:ext cx="0" cy="373583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F2B9457-E3B6-6B44-B871-273B169C6666}"/>
              </a:ext>
            </a:extLst>
          </p:cNvPr>
          <p:cNvSpPr txBox="1"/>
          <p:nvPr/>
        </p:nvSpPr>
        <p:spPr>
          <a:xfrm>
            <a:off x="6406255" y="3819898"/>
            <a:ext cx="135961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chemeClr val="accent5">
                    <a:lumMod val="75000"/>
                  </a:schemeClr>
                </a:solidFill>
              </a:rPr>
              <a:t>Дисконтированная ценность</a:t>
            </a:r>
            <a:br>
              <a:rPr lang="ru-RU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ru-RU" sz="900" dirty="0">
                <a:solidFill>
                  <a:schemeClr val="accent5">
                    <a:lumMod val="75000"/>
                  </a:schemeClr>
                </a:solidFill>
              </a:rPr>
              <a:t>будущего состояния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6F541DE-DCA9-BB42-B742-4531DD8CDDE6}"/>
              </a:ext>
            </a:extLst>
          </p:cNvPr>
          <p:cNvCxnSpPr>
            <a:cxnSpLocks/>
          </p:cNvCxnSpPr>
          <p:nvPr/>
        </p:nvCxnSpPr>
        <p:spPr>
          <a:xfrm>
            <a:off x="7496452" y="3429622"/>
            <a:ext cx="649490" cy="102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252E0E-D682-DF4B-8E3B-E79D05F4149F}"/>
                  </a:ext>
                </a:extLst>
              </p:cNvPr>
              <p:cNvSpPr txBox="1"/>
              <p:nvPr/>
            </p:nvSpPr>
            <p:spPr>
              <a:xfrm>
                <a:off x="7707970" y="3574094"/>
                <a:ext cx="1313180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условии начала </a:t>
                </a:r>
                <a:b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</a:br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действия из</a:t>
                </a:r>
              </a:p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252E0E-D682-DF4B-8E3B-E79D05F41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970" y="3574094"/>
                <a:ext cx="1313180" cy="507831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F4CAD02-95DC-D545-B3A5-55397EC565B8}"/>
              </a:ext>
            </a:extLst>
          </p:cNvPr>
          <p:cNvCxnSpPr>
            <a:cxnSpLocks/>
          </p:cNvCxnSpPr>
          <p:nvPr/>
        </p:nvCxnSpPr>
        <p:spPr>
          <a:xfrm flipV="1">
            <a:off x="7833982" y="3429623"/>
            <a:ext cx="0" cy="17304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DFD3B56-0602-1F4F-94C8-FB1BC8C1A661}"/>
              </a:ext>
            </a:extLst>
          </p:cNvPr>
          <p:cNvSpPr/>
          <p:nvPr/>
        </p:nvSpPr>
        <p:spPr>
          <a:xfrm>
            <a:off x="5234087" y="3256929"/>
            <a:ext cx="158104" cy="153889"/>
          </a:xfrm>
          <a:prstGeom prst="rect">
            <a:avLst/>
          </a:prstGeom>
          <a:noFill/>
          <a:ln w="12700">
            <a:solidFill>
              <a:srgbClr val="C00000">
                <a:alpha val="44563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9F924-E4F0-9B4E-8C65-04CA4724285E}"/>
                  </a:ext>
                </a:extLst>
              </p:cNvPr>
              <p:cNvSpPr txBox="1"/>
              <p:nvPr/>
            </p:nvSpPr>
            <p:spPr>
              <a:xfrm>
                <a:off x="5101647" y="2699900"/>
                <a:ext cx="2226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rgbClr val="C00000"/>
                    </a:solidFill>
                  </a:rPr>
                  <a:t>В условиях, что действие выбирается</a:t>
                </a:r>
                <a:br>
                  <a:rPr lang="ru-RU" sz="900" dirty="0">
                    <a:solidFill>
                      <a:srgbClr val="C00000"/>
                    </a:solidFill>
                  </a:rPr>
                </a:br>
                <a:r>
                  <a:rPr lang="ru-RU" sz="900" dirty="0">
                    <a:solidFill>
                      <a:srgbClr val="C00000"/>
                    </a:solidFill>
                  </a:rPr>
                  <a:t>исходя из политики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9F924-E4F0-9B4E-8C65-04CA47242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47" y="2699900"/>
                <a:ext cx="2226892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87FC44C-94A1-FA48-AEA1-467DD7C85591}"/>
              </a:ext>
            </a:extLst>
          </p:cNvPr>
          <p:cNvCxnSpPr>
            <a:cxnSpLocks/>
          </p:cNvCxnSpPr>
          <p:nvPr/>
        </p:nvCxnSpPr>
        <p:spPr>
          <a:xfrm flipV="1">
            <a:off x="5305763" y="3080665"/>
            <a:ext cx="0" cy="168350"/>
          </a:xfrm>
          <a:prstGeom prst="line">
            <a:avLst/>
          </a:prstGeom>
          <a:ln w="12700">
            <a:solidFill>
              <a:srgbClr val="C00000">
                <a:alpha val="44563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B367DB-CD5B-8B41-AB78-43C11BD49BB8}"/>
              </a:ext>
            </a:extLst>
          </p:cNvPr>
          <p:cNvCxnSpPr>
            <a:cxnSpLocks/>
          </p:cNvCxnSpPr>
          <p:nvPr/>
        </p:nvCxnSpPr>
        <p:spPr>
          <a:xfrm>
            <a:off x="625965" y="1913776"/>
            <a:ext cx="1785842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FA4BD9-6A4F-224D-A4F8-64E9276F68C9}"/>
              </a:ext>
            </a:extLst>
          </p:cNvPr>
          <p:cNvCxnSpPr>
            <a:cxnSpLocks/>
          </p:cNvCxnSpPr>
          <p:nvPr/>
        </p:nvCxnSpPr>
        <p:spPr>
          <a:xfrm>
            <a:off x="2411807" y="2882385"/>
            <a:ext cx="943373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D2B751-7698-394D-A696-CB4010A7BA2D}"/>
              </a:ext>
            </a:extLst>
          </p:cNvPr>
          <p:cNvCxnSpPr>
            <a:cxnSpLocks/>
          </p:cNvCxnSpPr>
          <p:nvPr/>
        </p:nvCxnSpPr>
        <p:spPr>
          <a:xfrm>
            <a:off x="2411807" y="1913776"/>
            <a:ext cx="0" cy="968609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487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DA70-3E39-6C4A-80F5-DC4C8CB3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ценности состояния-действия</a:t>
            </a:r>
            <a:endParaRPr lang="en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F32F17-3BEB-7149-AEEA-8B95D8D70DF3}"/>
              </a:ext>
            </a:extLst>
          </p:cNvPr>
          <p:cNvGraphicFramePr>
            <a:graphicFrameLocks noGrp="1"/>
          </p:cNvGraphicFramePr>
          <p:nvPr/>
        </p:nvGraphicFramePr>
        <p:xfrm>
          <a:off x="683241" y="1436644"/>
          <a:ext cx="2109055" cy="1854200"/>
        </p:xfrm>
        <a:graphic>
          <a:graphicData uri="http://schemas.openxmlformats.org/drawingml/2006/table">
            <a:tbl>
              <a:tblPr firstRow="1" bandRow="1"/>
              <a:tblGrid>
                <a:gridCol w="421811">
                  <a:extLst>
                    <a:ext uri="{9D8B030D-6E8A-4147-A177-3AD203B41FA5}">
                      <a16:colId xmlns:a16="http://schemas.microsoft.com/office/drawing/2014/main" val="3722595887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408206748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1642578470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77006586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2039500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TR" sz="800" b="1" dirty="0"/>
                        <a:t>-7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TR" sz="800" b="1" dirty="0"/>
                        <a:t>-6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TR" sz="800" b="1" dirty="0"/>
                        <a:t>-5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-4</a:t>
                      </a:r>
                    </a:p>
                  </a:txBody>
                  <a:tcPr marB="0" anchor="b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-7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-3</a:t>
                      </a:r>
                    </a:p>
                  </a:txBody>
                  <a:tcPr marB="0" anchor="b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2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-8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800" b="1" dirty="0"/>
                        <a:t>-2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800" b="1" dirty="0"/>
                        <a:t>-1</a:t>
                      </a:r>
                    </a:p>
                  </a:txBody>
                  <a:tcPr marR="36000" anchor="ctr"/>
                </a:tc>
                <a:extLst>
                  <a:ext uri="{0D108BD9-81ED-4DB2-BD59-A6C34878D82A}">
                    <a16:rowId xmlns:a16="http://schemas.microsoft.com/office/drawing/2014/main" val="275837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-9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450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EC241C-0460-DE40-B9A1-BBAADF9C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48" y="1804249"/>
            <a:ext cx="282457" cy="39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F3B6E-FCD0-9042-B7EF-FEDA8CA0D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433" y="2547198"/>
            <a:ext cx="387010" cy="38701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2445E7-A0E5-F04E-847C-6658174244BA}"/>
              </a:ext>
            </a:extLst>
          </p:cNvPr>
          <p:cNvCxnSpPr>
            <a:cxnSpLocks/>
          </p:cNvCxnSpPr>
          <p:nvPr/>
        </p:nvCxnSpPr>
        <p:spPr>
          <a:xfrm flipV="1">
            <a:off x="1110781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D96A57-FA5C-814D-A264-5A0542D84C0C}"/>
              </a:ext>
            </a:extLst>
          </p:cNvPr>
          <p:cNvCxnSpPr>
            <a:cxnSpLocks/>
          </p:cNvCxnSpPr>
          <p:nvPr/>
        </p:nvCxnSpPr>
        <p:spPr>
          <a:xfrm flipV="1">
            <a:off x="688250" y="1807424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C27F89B-7B97-7544-B5B5-D48F9FFC0306}"/>
              </a:ext>
            </a:extLst>
          </p:cNvPr>
          <p:cNvCxnSpPr>
            <a:cxnSpLocks/>
          </p:cNvCxnSpPr>
          <p:nvPr/>
        </p:nvCxnSpPr>
        <p:spPr>
          <a:xfrm flipV="1">
            <a:off x="1104644" y="217487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BF715B1-EA11-8E44-BA0E-80753C64622F}"/>
              </a:ext>
            </a:extLst>
          </p:cNvPr>
          <p:cNvCxnSpPr>
            <a:cxnSpLocks/>
          </p:cNvCxnSpPr>
          <p:nvPr/>
        </p:nvCxnSpPr>
        <p:spPr>
          <a:xfrm flipV="1">
            <a:off x="1107819" y="2550721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E7E6CBE-AC04-F049-A1F0-0A05B0BBB8D2}"/>
              </a:ext>
            </a:extLst>
          </p:cNvPr>
          <p:cNvCxnSpPr>
            <a:cxnSpLocks/>
          </p:cNvCxnSpPr>
          <p:nvPr/>
        </p:nvCxnSpPr>
        <p:spPr>
          <a:xfrm flipV="1">
            <a:off x="1104644" y="2920981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8B7D798-AD9D-D546-97B5-EF03C015119C}"/>
              </a:ext>
            </a:extLst>
          </p:cNvPr>
          <p:cNvCxnSpPr>
            <a:cxnSpLocks/>
          </p:cNvCxnSpPr>
          <p:nvPr/>
        </p:nvCxnSpPr>
        <p:spPr>
          <a:xfrm flipV="1">
            <a:off x="1532746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7BC47FA-AB7E-C348-888C-E92B9B1DB9C8}"/>
              </a:ext>
            </a:extLst>
          </p:cNvPr>
          <p:cNvCxnSpPr>
            <a:cxnSpLocks/>
          </p:cNvCxnSpPr>
          <p:nvPr/>
        </p:nvCxnSpPr>
        <p:spPr>
          <a:xfrm flipV="1">
            <a:off x="1954711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4E39537-E51F-EA40-85F9-26AEF1DF0352}"/>
              </a:ext>
            </a:extLst>
          </p:cNvPr>
          <p:cNvCxnSpPr>
            <a:cxnSpLocks/>
          </p:cNvCxnSpPr>
          <p:nvPr/>
        </p:nvCxnSpPr>
        <p:spPr>
          <a:xfrm flipV="1">
            <a:off x="1951536" y="218137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BBDD51-685E-F54D-A0B0-2244EDAA0F48}"/>
              </a:ext>
            </a:extLst>
          </p:cNvPr>
          <p:cNvCxnSpPr>
            <a:cxnSpLocks/>
          </p:cNvCxnSpPr>
          <p:nvPr/>
        </p:nvCxnSpPr>
        <p:spPr>
          <a:xfrm flipV="1">
            <a:off x="1954711" y="255035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84669A8-9D41-D74B-B8A3-1227416EF206}"/>
              </a:ext>
            </a:extLst>
          </p:cNvPr>
          <p:cNvCxnSpPr>
            <a:cxnSpLocks/>
          </p:cNvCxnSpPr>
          <p:nvPr/>
        </p:nvCxnSpPr>
        <p:spPr>
          <a:xfrm flipV="1">
            <a:off x="2379289" y="2548676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8F154E5-56E0-C549-A4BD-89A5C45CC708}"/>
              </a:ext>
            </a:extLst>
          </p:cNvPr>
          <p:cNvCxnSpPr>
            <a:cxnSpLocks/>
          </p:cNvCxnSpPr>
          <p:nvPr/>
        </p:nvCxnSpPr>
        <p:spPr>
          <a:xfrm flipH="1" flipV="1">
            <a:off x="1951536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9211530-F381-FE42-AE24-D560B2EB2344}"/>
              </a:ext>
            </a:extLst>
          </p:cNvPr>
          <p:cNvCxnSpPr>
            <a:cxnSpLocks/>
          </p:cNvCxnSpPr>
          <p:nvPr/>
        </p:nvCxnSpPr>
        <p:spPr>
          <a:xfrm flipH="1" flipV="1">
            <a:off x="1532184" y="1810753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64196BD-686D-7E44-9A2D-549FE126B00D}"/>
              </a:ext>
            </a:extLst>
          </p:cNvPr>
          <p:cNvCxnSpPr>
            <a:cxnSpLocks/>
          </p:cNvCxnSpPr>
          <p:nvPr/>
        </p:nvCxnSpPr>
        <p:spPr>
          <a:xfrm flipH="1" flipV="1">
            <a:off x="1107606" y="1804403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07B6FFB-4D9C-B244-B36E-2EA1B48346C7}"/>
              </a:ext>
            </a:extLst>
          </p:cNvPr>
          <p:cNvCxnSpPr>
            <a:cxnSpLocks/>
          </p:cNvCxnSpPr>
          <p:nvPr/>
        </p:nvCxnSpPr>
        <p:spPr>
          <a:xfrm flipH="1" flipV="1">
            <a:off x="1957886" y="218137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D95390C-BA2C-A54D-851B-7619444FE31C}"/>
              </a:ext>
            </a:extLst>
          </p:cNvPr>
          <p:cNvCxnSpPr>
            <a:cxnSpLocks/>
          </p:cNvCxnSpPr>
          <p:nvPr/>
        </p:nvCxnSpPr>
        <p:spPr>
          <a:xfrm flipH="1" flipV="1">
            <a:off x="1951536" y="2549592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FEB36F6-AF08-4A43-8C4B-FDFBA1CB61EC}"/>
              </a:ext>
            </a:extLst>
          </p:cNvPr>
          <p:cNvCxnSpPr>
            <a:cxnSpLocks/>
          </p:cNvCxnSpPr>
          <p:nvPr/>
        </p:nvCxnSpPr>
        <p:spPr>
          <a:xfrm flipH="1" flipV="1">
            <a:off x="2372939" y="255200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E3BF28B-D587-8F4C-9C62-20407AE975FE}"/>
              </a:ext>
            </a:extLst>
          </p:cNvPr>
          <p:cNvCxnSpPr>
            <a:cxnSpLocks/>
          </p:cNvCxnSpPr>
          <p:nvPr/>
        </p:nvCxnSpPr>
        <p:spPr>
          <a:xfrm flipH="1" flipV="1">
            <a:off x="1110994" y="2178966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320BDFF-A13A-8B4E-A50A-30545A33ECE2}"/>
              </a:ext>
            </a:extLst>
          </p:cNvPr>
          <p:cNvCxnSpPr>
            <a:cxnSpLocks/>
          </p:cNvCxnSpPr>
          <p:nvPr/>
        </p:nvCxnSpPr>
        <p:spPr>
          <a:xfrm flipH="1" flipV="1">
            <a:off x="1099848" y="255200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4A80424-551C-EF4F-B8F8-ED6AD4E84C27}"/>
              </a:ext>
            </a:extLst>
          </p:cNvPr>
          <p:cNvCxnSpPr>
            <a:cxnSpLocks/>
          </p:cNvCxnSpPr>
          <p:nvPr/>
        </p:nvCxnSpPr>
        <p:spPr>
          <a:xfrm flipH="1" flipV="1">
            <a:off x="686918" y="1807424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A4553E3-8698-984F-8098-7D781401B40E}"/>
              </a:ext>
            </a:extLst>
          </p:cNvPr>
          <p:cNvCxnSpPr>
            <a:cxnSpLocks/>
          </p:cNvCxnSpPr>
          <p:nvPr/>
        </p:nvCxnSpPr>
        <p:spPr>
          <a:xfrm flipH="1" flipV="1">
            <a:off x="1109926" y="292029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5EEA12-B54C-3C43-A336-017532E3786D}"/>
                  </a:ext>
                </a:extLst>
              </p:cNvPr>
              <p:cNvSpPr txBox="1"/>
              <p:nvPr/>
            </p:nvSpPr>
            <p:spPr>
              <a:xfrm>
                <a:off x="3947375" y="1804249"/>
                <a:ext cx="3809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TR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5EEA12-B54C-3C43-A336-017532E37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375" y="1804249"/>
                <a:ext cx="3809056" cy="40011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C762BA6-52F6-2E4B-B3C9-FF5A6AF9D2E6}"/>
              </a:ext>
            </a:extLst>
          </p:cNvPr>
          <p:cNvCxnSpPr>
            <a:cxnSpLocks/>
          </p:cNvCxnSpPr>
          <p:nvPr/>
        </p:nvCxnSpPr>
        <p:spPr>
          <a:xfrm>
            <a:off x="4190690" y="2211630"/>
            <a:ext cx="671992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002C2B7-5A16-E041-901E-60132DA60B1B}"/>
                  </a:ext>
                </a:extLst>
              </p:cNvPr>
              <p:cNvSpPr txBox="1"/>
              <p:nvPr/>
            </p:nvSpPr>
            <p:spPr>
              <a:xfrm>
                <a:off x="3730944" y="2242047"/>
                <a:ext cx="1366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при действии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002C2B7-5A16-E041-901E-60132DA60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944" y="2242047"/>
                <a:ext cx="1366849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433BD58-E104-914D-891F-ED237A6FB990}"/>
              </a:ext>
            </a:extLst>
          </p:cNvPr>
          <p:cNvCxnSpPr>
            <a:cxnSpLocks/>
          </p:cNvCxnSpPr>
          <p:nvPr/>
        </p:nvCxnSpPr>
        <p:spPr>
          <a:xfrm flipV="1">
            <a:off x="5243615" y="2204359"/>
            <a:ext cx="704878" cy="7272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18931A52-EF28-CC42-AD2B-424CE35BBAB9}"/>
              </a:ext>
            </a:extLst>
          </p:cNvPr>
          <p:cNvSpPr txBox="1"/>
          <p:nvPr/>
        </p:nvSpPr>
        <p:spPr>
          <a:xfrm>
            <a:off x="4703373" y="2444196"/>
            <a:ext cx="1781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00B050"/>
                </a:solidFill>
              </a:rPr>
              <a:t>Ожидаемая будущая награда</a:t>
            </a:r>
            <a:endParaRPr lang="en-TR" sz="900" dirty="0">
              <a:solidFill>
                <a:srgbClr val="00B050"/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EF6B89A-244E-F24F-BF0A-9CC11B3D1682}"/>
              </a:ext>
            </a:extLst>
          </p:cNvPr>
          <p:cNvCxnSpPr>
            <a:cxnSpLocks/>
          </p:cNvCxnSpPr>
          <p:nvPr/>
        </p:nvCxnSpPr>
        <p:spPr>
          <a:xfrm flipV="1">
            <a:off x="5423697" y="2210798"/>
            <a:ext cx="15343" cy="261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E0CE2A8-84EA-7346-9BBA-07C298467E58}"/>
              </a:ext>
            </a:extLst>
          </p:cNvPr>
          <p:cNvCxnSpPr>
            <a:cxnSpLocks/>
          </p:cNvCxnSpPr>
          <p:nvPr/>
        </p:nvCxnSpPr>
        <p:spPr>
          <a:xfrm flipV="1">
            <a:off x="6004681" y="2204359"/>
            <a:ext cx="1617472" cy="535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F9B183-4FCB-CC4E-BD6D-4EC1861E1EEC}"/>
                  </a:ext>
                </a:extLst>
              </p:cNvPr>
              <p:cNvSpPr txBox="1"/>
              <p:nvPr/>
            </p:nvSpPr>
            <p:spPr>
              <a:xfrm>
                <a:off x="6644160" y="2243847"/>
                <a:ext cx="1977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условии начала из</a:t>
                </a:r>
              </a:p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TR" sz="9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и выбора действия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F9B183-4FCB-CC4E-BD6D-4EC1861E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160" y="2243847"/>
                <a:ext cx="197720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ectangle 102">
            <a:extLst>
              <a:ext uri="{FF2B5EF4-FFF2-40B4-BE49-F238E27FC236}">
                <a16:creationId xmlns:a16="http://schemas.microsoft.com/office/drawing/2014/main" id="{14D3B35D-6E45-5C45-B9E2-9F4F17B1BF3D}"/>
              </a:ext>
            </a:extLst>
          </p:cNvPr>
          <p:cNvSpPr/>
          <p:nvPr/>
        </p:nvSpPr>
        <p:spPr>
          <a:xfrm>
            <a:off x="5435898" y="2017403"/>
            <a:ext cx="158104" cy="153889"/>
          </a:xfrm>
          <a:prstGeom prst="rect">
            <a:avLst/>
          </a:prstGeom>
          <a:noFill/>
          <a:ln w="12700"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C808900-0413-E74A-86BF-A28357305A8A}"/>
                  </a:ext>
                </a:extLst>
              </p:cNvPr>
              <p:cNvSpPr txBox="1"/>
              <p:nvPr/>
            </p:nvSpPr>
            <p:spPr>
              <a:xfrm>
                <a:off x="5118833" y="1305741"/>
                <a:ext cx="2226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rgbClr val="C00000"/>
                    </a:solidFill>
                  </a:rPr>
                  <a:t>В условиях, что действие выбирается</a:t>
                </a:r>
                <a:br>
                  <a:rPr lang="ru-RU" sz="900" dirty="0">
                    <a:solidFill>
                      <a:srgbClr val="C00000"/>
                    </a:solidFill>
                  </a:rPr>
                </a:br>
                <a:r>
                  <a:rPr lang="ru-RU" sz="900" dirty="0">
                    <a:solidFill>
                      <a:srgbClr val="C00000"/>
                    </a:solidFill>
                  </a:rPr>
                  <a:t>исходя из политики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C808900-0413-E74A-86BF-A2835730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833" y="1305741"/>
                <a:ext cx="222689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2EF188D-7626-6E46-94C5-587DF7F4479F}"/>
              </a:ext>
            </a:extLst>
          </p:cNvPr>
          <p:cNvCxnSpPr>
            <a:cxnSpLocks/>
          </p:cNvCxnSpPr>
          <p:nvPr/>
        </p:nvCxnSpPr>
        <p:spPr>
          <a:xfrm flipV="1">
            <a:off x="5525985" y="1697337"/>
            <a:ext cx="0" cy="312151"/>
          </a:xfrm>
          <a:prstGeom prst="line">
            <a:avLst/>
          </a:prstGeom>
          <a:ln w="12700">
            <a:solidFill>
              <a:srgbClr val="C0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99B195-B404-6944-92DE-B5CAA2CCB45D}"/>
                  </a:ext>
                </a:extLst>
              </p:cNvPr>
              <p:cNvSpPr txBox="1"/>
              <p:nvPr/>
            </p:nvSpPr>
            <p:spPr>
              <a:xfrm>
                <a:off x="4018814" y="3790002"/>
                <a:ext cx="29580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99B195-B404-6944-92DE-B5CAA2CC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814" y="3790002"/>
                <a:ext cx="2958034" cy="369332"/>
              </a:xfrm>
              <a:prstGeom prst="rect">
                <a:avLst/>
              </a:prstGeom>
              <a:blipFill>
                <a:blip r:embed="rId8"/>
                <a:stretch>
                  <a:fillRect t="-110000" b="-17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D3FDC3-384E-D04F-ACA9-C0D40C1DF03F}"/>
                  </a:ext>
                </a:extLst>
              </p:cNvPr>
              <p:cNvSpPr txBox="1"/>
              <p:nvPr/>
            </p:nvSpPr>
            <p:spPr>
              <a:xfrm>
                <a:off x="3184431" y="3398449"/>
                <a:ext cx="4572000" cy="357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ru-RU" sz="1600" b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Связь между 𝑣-функцией и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ru-RU" sz="1600" b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-функцией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D3FDC3-384E-D04F-ACA9-C0D40C1DF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431" y="3398449"/>
                <a:ext cx="4572000" cy="357277"/>
              </a:xfrm>
              <a:prstGeom prst="rect">
                <a:avLst/>
              </a:prstGeom>
              <a:blipFill>
                <a:blip r:embed="rId9"/>
                <a:stretch>
                  <a:fillRect l="-55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A4C2FD-68F0-EF4A-984B-25DCA7F94683}"/>
              </a:ext>
            </a:extLst>
          </p:cNvPr>
          <p:cNvCxnSpPr/>
          <p:nvPr/>
        </p:nvCxnSpPr>
        <p:spPr>
          <a:xfrm>
            <a:off x="4124005" y="4179939"/>
            <a:ext cx="44799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1CA486-7583-D74D-A5DC-84AF1BAF6478}"/>
                  </a:ext>
                </a:extLst>
              </p:cNvPr>
              <p:cNvSpPr txBox="1"/>
              <p:nvPr/>
            </p:nvSpPr>
            <p:spPr>
              <a:xfrm>
                <a:off x="3814988" y="4233800"/>
                <a:ext cx="880182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-</a:t>
                </a:r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функция – 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1CA486-7583-D74D-A5DC-84AF1BAF6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988" y="4233800"/>
                <a:ext cx="880182" cy="507831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99B40F-1B99-9B43-A535-A0FF6722FB6A}"/>
              </a:ext>
            </a:extLst>
          </p:cNvPr>
          <p:cNvCxnSpPr>
            <a:cxnSpLocks/>
          </p:cNvCxnSpPr>
          <p:nvPr/>
        </p:nvCxnSpPr>
        <p:spPr>
          <a:xfrm>
            <a:off x="4795620" y="4179939"/>
            <a:ext cx="105628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AE8584-7A43-9A44-B3DB-0BF35B3B8CDC}"/>
                  </a:ext>
                </a:extLst>
              </p:cNvPr>
              <p:cNvSpPr txBox="1"/>
              <p:nvPr/>
            </p:nvSpPr>
            <p:spPr>
              <a:xfrm>
                <a:off x="4760850" y="4233800"/>
                <a:ext cx="1056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900" dirty="0">
                    <a:solidFill>
                      <a:srgbClr val="00B050"/>
                    </a:solidFill>
                  </a:rPr>
                  <a:t>Сумма по всем возможным действиям из 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TR" sz="9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AE8584-7A43-9A44-B3DB-0BF35B3B8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4233800"/>
                <a:ext cx="1056283" cy="646331"/>
              </a:xfrm>
              <a:prstGeom prst="rect">
                <a:avLst/>
              </a:prstGeom>
              <a:blipFill>
                <a:blip r:embed="rId11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2867F03-9AA0-2043-AF6F-A3B78603A6D1}"/>
                  </a:ext>
                </a:extLst>
              </p:cNvPr>
              <p:cNvSpPr txBox="1"/>
              <p:nvPr/>
            </p:nvSpPr>
            <p:spPr>
              <a:xfrm>
                <a:off x="5948493" y="4233800"/>
                <a:ext cx="136747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-функция - ценность состояния</a:t>
                </a:r>
                <a:r>
                  <a:rPr lang="en-US" sz="9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</a:br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действии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2867F03-9AA0-2043-AF6F-A3B78603A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493" y="4233800"/>
                <a:ext cx="1367475" cy="507831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028019-7D78-1547-AF62-CD9232788122}"/>
              </a:ext>
            </a:extLst>
          </p:cNvPr>
          <p:cNvCxnSpPr>
            <a:cxnSpLocks/>
          </p:cNvCxnSpPr>
          <p:nvPr/>
        </p:nvCxnSpPr>
        <p:spPr>
          <a:xfrm>
            <a:off x="6004681" y="4179939"/>
            <a:ext cx="739786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01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A287-7B36-6340-9E9D-5D9CEE58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Размерность пространства состояний</a:t>
            </a:r>
            <a:endParaRPr lang="en-US" dirty="0"/>
          </a:p>
        </p:txBody>
      </p:sp>
      <p:pic>
        <p:nvPicPr>
          <p:cNvPr id="1026" name="Picture 2" descr="Tank Games for the Atari 2600… | Retro Game Guy">
            <a:extLst>
              <a:ext uri="{FF2B5EF4-FFF2-40B4-BE49-F238E27FC236}">
                <a16:creationId xmlns:a16="http://schemas.microsoft.com/office/drawing/2014/main" id="{717532D9-9BC5-264C-858A-616E129A2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564" y="1450034"/>
            <a:ext cx="4909586" cy="336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1964B8-CE81-2B43-B334-21C90043E3E2}"/>
              </a:ext>
            </a:extLst>
          </p:cNvPr>
          <p:cNvSpPr txBox="1"/>
          <p:nvPr/>
        </p:nvSpPr>
        <p:spPr>
          <a:xfrm>
            <a:off x="595281" y="1534228"/>
            <a:ext cx="3381438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3350" indent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Экран игры 210х160 с 8-битной графикой и 3 действиями дает нам пространство состояний </a:t>
            </a:r>
            <a:br>
              <a:rPr lang="ru-RU" sz="1400" dirty="0">
                <a:solidFill>
                  <a:srgbClr val="000000"/>
                </a:solidFill>
                <a:latin typeface="Helvetica Neue" panose="02000503000000020004" pitchFamily="2" charset="0"/>
              </a:rPr>
            </a:br>
            <a:r>
              <a:rPr lang="en-US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2</a:t>
            </a:r>
            <a:r>
              <a:rPr lang="en-US" sz="1400" baseline="30000" dirty="0">
                <a:solidFill>
                  <a:srgbClr val="000000"/>
                </a:solidFill>
                <a:latin typeface="Helvetica Neue" panose="02000503000000020004" pitchFamily="2" charset="0"/>
              </a:rPr>
              <a:t>160*210*8*3</a:t>
            </a:r>
            <a:r>
              <a:rPr lang="en-US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 = 2</a:t>
            </a:r>
            <a:r>
              <a:rPr lang="en-US" sz="1400" baseline="30000" dirty="0">
                <a:solidFill>
                  <a:srgbClr val="000000"/>
                </a:solidFill>
                <a:latin typeface="Helvetica Neue" panose="02000503000000020004" pitchFamily="2" charset="0"/>
              </a:rPr>
              <a:t>806400</a:t>
            </a:r>
            <a:r>
              <a:rPr lang="en-US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 – </a:t>
            </a:r>
            <a:r>
              <a:rPr lang="ru-RU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сопоставимо с числом атомов во вселенной, точнее говоря много больше </a:t>
            </a:r>
            <a:r>
              <a:rPr lang="ru-RU" sz="1400" dirty="0">
                <a:solidFill>
                  <a:srgbClr val="000000"/>
                </a:solidFill>
                <a:latin typeface="Helvetica Neue" panose="02000503000000020004" pitchFamily="2" charset="0"/>
                <a:sym typeface="Wingdings" pitchFamily="2" charset="2"/>
              </a:rPr>
              <a:t>😱</a:t>
            </a:r>
            <a:endParaRPr lang="en-US" sz="1400" baseline="30000" dirty="0">
              <a:solidFill>
                <a:srgbClr val="000000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989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59E22-D405-3746-8366-A60CC80B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41222"/>
            <a:ext cx="4660173" cy="3920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/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Будем приближать функцию </a:t>
                </a:r>
                <a:r>
                  <a:rPr lang="en-US" dirty="0"/>
                  <a:t>Q </a:t>
                </a:r>
                <a:r>
                  <a:rPr lang="ru-RU" dirty="0" err="1"/>
                  <a:t>нейросетью</a:t>
                </a:r>
                <a:r>
                  <a:rPr lang="ru-RU" dirty="0"/>
                  <a:t> и на выходе получим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/>
                  <a:t> то есть действие, которые принесет нам максимальное мате ожидание финальной награды.</a:t>
                </a:r>
                <a:endParaRPr lang="en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blipFill>
                <a:blip r:embed="rId4"/>
                <a:stretch>
                  <a:fillRect l="-392" t="-862" b="-2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440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Loss: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≈−2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909EFE9-8AF8-534F-AFCA-B36C86C8D18F}"/>
              </a:ext>
            </a:extLst>
          </p:cNvPr>
          <p:cNvSpPr/>
          <p:nvPr/>
        </p:nvSpPr>
        <p:spPr>
          <a:xfrm>
            <a:off x="3970751" y="1426624"/>
            <a:ext cx="3288082" cy="56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2712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/>
              <a:t>Environment</a:t>
            </a:r>
            <a:r>
              <a:rPr lang="ru-RU" sz="4800" dirty="0"/>
              <a:t> – финансовый рынок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746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ru-RU" dirty="0"/>
              <a:t>Задача</a:t>
            </a:r>
            <a:endParaRPr lang="en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A239BE-63D2-A246-8709-2E2084F6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89128" y="1712550"/>
            <a:ext cx="2168471" cy="1627568"/>
          </a:xfrm>
          <a:prstGeom prst="rect">
            <a:avLst/>
          </a:prstGeom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1560508-5756-8A49-B8D7-7C1CC9D7578F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4387250" y="1526230"/>
            <a:ext cx="12700" cy="3627775"/>
          </a:xfrm>
          <a:prstGeom prst="bentConnector3">
            <a:avLst>
              <a:gd name="adj1" fmla="val 3523945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FCD8C5-80A3-5C4E-95D8-B13EA242A694}"/>
                  </a:ext>
                </a:extLst>
              </p:cNvPr>
              <p:cNvSpPr txBox="1"/>
              <p:nvPr/>
            </p:nvSpPr>
            <p:spPr>
              <a:xfrm>
                <a:off x="4169582" y="3760631"/>
                <a:ext cx="4085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FCD8C5-80A3-5C4E-95D8-B13EA242A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2" y="3760631"/>
                <a:ext cx="40850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542A48A3-B3D1-B04D-9CA9-C333C6217740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V="1">
            <a:off x="4387251" y="-101338"/>
            <a:ext cx="12700" cy="3627775"/>
          </a:xfrm>
          <a:prstGeom prst="bentConnector3">
            <a:avLst>
              <a:gd name="adj1" fmla="val 2509858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34ACFA-26A7-9D4E-901C-37FEB1D95865}"/>
                  </a:ext>
                </a:extLst>
              </p:cNvPr>
              <p:cNvSpPr txBox="1"/>
              <p:nvPr/>
            </p:nvSpPr>
            <p:spPr>
              <a:xfrm>
                <a:off x="3985091" y="1363729"/>
                <a:ext cx="3860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34ACFA-26A7-9D4E-901C-37FEB1D95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091" y="1363729"/>
                <a:ext cx="38606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73F5BC-64FC-8044-B052-87F745C8D468}"/>
              </a:ext>
            </a:extLst>
          </p:cNvPr>
          <p:cNvCxnSpPr>
            <a:cxnSpLocks/>
          </p:cNvCxnSpPr>
          <p:nvPr/>
        </p:nvCxnSpPr>
        <p:spPr>
          <a:xfrm flipV="1">
            <a:off x="6375042" y="1252175"/>
            <a:ext cx="0" cy="45402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2C3C54-991A-5047-841B-81619EF107D6}"/>
              </a:ext>
            </a:extLst>
          </p:cNvPr>
          <p:cNvCxnSpPr>
            <a:cxnSpLocks/>
          </p:cNvCxnSpPr>
          <p:nvPr/>
        </p:nvCxnSpPr>
        <p:spPr>
          <a:xfrm flipH="1">
            <a:off x="2421228" y="1255343"/>
            <a:ext cx="395381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ED3AF5-5EF2-914D-BA13-9B1F54E0C9CB}"/>
              </a:ext>
            </a:extLst>
          </p:cNvPr>
          <p:cNvCxnSpPr>
            <a:cxnSpLocks/>
          </p:cNvCxnSpPr>
          <p:nvPr/>
        </p:nvCxnSpPr>
        <p:spPr>
          <a:xfrm flipH="1" flipV="1">
            <a:off x="2419081" y="1252175"/>
            <a:ext cx="2147" cy="419331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C4A248-0711-754F-ADD5-27D01B8B3E1D}"/>
                  </a:ext>
                </a:extLst>
              </p:cNvPr>
              <p:cNvSpPr txBox="1"/>
              <p:nvPr/>
            </p:nvSpPr>
            <p:spPr>
              <a:xfrm>
                <a:off x="3792057" y="944398"/>
                <a:ext cx="3924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C4A248-0711-754F-ADD5-27D01B8B3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057" y="944398"/>
                <a:ext cx="39248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8E52E3DD-E3B1-8A4A-9040-2EB2EEFA2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086" y="1671506"/>
            <a:ext cx="2666803" cy="166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26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1054D-A558-F34C-8B1C-C6D389E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рынка</a:t>
            </a:r>
            <a:endParaRPr lang="en-T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2425A-5E2E-9542-919E-9C4C489DDD44}"/>
              </a:ext>
            </a:extLst>
          </p:cNvPr>
          <p:cNvCxnSpPr>
            <a:cxnSpLocks/>
          </p:cNvCxnSpPr>
          <p:nvPr/>
        </p:nvCxnSpPr>
        <p:spPr>
          <a:xfrm>
            <a:off x="4461531" y="1674910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83EA30-9921-7C44-8FBB-D346EF5B3911}"/>
              </a:ext>
            </a:extLst>
          </p:cNvPr>
          <p:cNvGrpSpPr/>
          <p:nvPr/>
        </p:nvGrpSpPr>
        <p:grpSpPr>
          <a:xfrm>
            <a:off x="0" y="1056470"/>
            <a:ext cx="4464954" cy="3577099"/>
            <a:chOff x="0" y="1056470"/>
            <a:chExt cx="4464954" cy="35770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F3D83E7-19DE-CA4C-B33A-EACDB7C6153E}"/>
                </a:ext>
              </a:extLst>
            </p:cNvPr>
            <p:cNvGrpSpPr/>
            <p:nvPr/>
          </p:nvGrpSpPr>
          <p:grpSpPr>
            <a:xfrm>
              <a:off x="0" y="1056470"/>
              <a:ext cx="4464954" cy="3577099"/>
              <a:chOff x="278879" y="829204"/>
              <a:chExt cx="4464954" cy="35770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5ABD48-4EA7-674D-9BE8-D311C54725FB}"/>
                  </a:ext>
                </a:extLst>
              </p:cNvPr>
              <p:cNvSpPr/>
              <p:nvPr/>
            </p:nvSpPr>
            <p:spPr>
              <a:xfrm>
                <a:off x="576869" y="1104643"/>
                <a:ext cx="4166964" cy="33016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 dirty="0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13F6755-4350-734F-83B2-6D622EF48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8879" y="829204"/>
                <a:ext cx="2065421" cy="550877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FE9E3B7-4DA0-8B49-A2F8-93364B112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420" y="2012907"/>
                <a:ext cx="3949443" cy="2221562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7065C0-5E9F-AB4C-8332-F9E60D16E427}"/>
                  </a:ext>
                </a:extLst>
              </p:cNvPr>
              <p:cNvSpPr txBox="1"/>
              <p:nvPr/>
            </p:nvSpPr>
            <p:spPr>
              <a:xfrm>
                <a:off x="3528725" y="1687184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Stocks data</a:t>
                </a:r>
                <a:endParaRPr lang="en-TR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CED297-8E35-DB4B-AF39-59CDB93025CC}"/>
                </a:ext>
              </a:extLst>
            </p:cNvPr>
            <p:cNvSpPr txBox="1"/>
            <p:nvPr/>
          </p:nvSpPr>
          <p:spPr>
            <a:xfrm>
              <a:off x="697844" y="1391938"/>
              <a:ext cx="1244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>
                  <a:latin typeface="Adelle Sans Devanagari Thin" panose="02000503000000020004" pitchFamily="2" charset="-78"/>
                  <a:cs typeface="Adelle Sans Devanagari Thin" panose="02000503000000020004" pitchFamily="2" charset="-78"/>
                </a:rPr>
                <a:t>environment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BCD8849-BB26-5744-AC6A-82C56613D5FF}"/>
              </a:ext>
            </a:extLst>
          </p:cNvPr>
          <p:cNvSpPr txBox="1"/>
          <p:nvPr/>
        </p:nvSpPr>
        <p:spPr>
          <a:xfrm>
            <a:off x="4970891" y="3854238"/>
            <a:ext cx="221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TR" dirty="0">
                <a:solidFill>
                  <a:srgbClr val="00B050"/>
                </a:solidFill>
              </a:rPr>
              <a:t>nv.reset() → (state, info)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E525C-AEE2-7745-8515-A285DEE257AE}"/>
              </a:ext>
            </a:extLst>
          </p:cNvPr>
          <p:cNvSpPr txBox="1"/>
          <p:nvPr/>
        </p:nvSpPr>
        <p:spPr>
          <a:xfrm>
            <a:off x="4977028" y="4269449"/>
            <a:ext cx="3773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TR" dirty="0">
                <a:solidFill>
                  <a:srgbClr val="C00000"/>
                </a:solidFill>
              </a:rPr>
              <a:t>nv.step(action) → (state, reward, done, info)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CA9D0-447A-604A-BBAD-E9D31F39B4CD}"/>
              </a:ext>
            </a:extLst>
          </p:cNvPr>
          <p:cNvSpPr txBox="1"/>
          <p:nvPr/>
        </p:nvSpPr>
        <p:spPr>
          <a:xfrm>
            <a:off x="4970891" y="2309827"/>
            <a:ext cx="41669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observation_space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pPr>
              <a:tabLst>
                <a:tab pos="438150" algn="l"/>
              </a:tabLst>
            </a:pP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[’open’, ‘close’, ‘high’, ‘low’, ‘close’]</a:t>
            </a:r>
            <a:br>
              <a:rPr lang="en-TR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Box(	[0 0 0 0 0],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[1e+6 1e+6 1e-6 1e+6 1e+10],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(5,),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float32. )</a:t>
            </a:r>
            <a:endParaRPr lang="en-T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8C6E7-49B4-554A-A7FD-1DBC005E3DBA}"/>
              </a:ext>
            </a:extLst>
          </p:cNvPr>
          <p:cNvSpPr txBox="1"/>
          <p:nvPr/>
        </p:nvSpPr>
        <p:spPr>
          <a:xfrm>
            <a:off x="4970891" y="1507984"/>
            <a:ext cx="21804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[‘buy’, ‘do nothing’, ‘sell’]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Discrete(3) = [-1, 0, 1]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B3246-0629-9747-902A-9B7D2A3A262D}"/>
              </a:ext>
            </a:extLst>
          </p:cNvPr>
          <p:cNvCxnSpPr>
            <a:cxnSpLocks/>
          </p:cNvCxnSpPr>
          <p:nvPr/>
        </p:nvCxnSpPr>
        <p:spPr>
          <a:xfrm>
            <a:off x="4461531" y="2490102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C4CF95-B43C-3043-ADEA-FCC0BEC07EB4}"/>
              </a:ext>
            </a:extLst>
          </p:cNvPr>
          <p:cNvCxnSpPr>
            <a:cxnSpLocks/>
          </p:cNvCxnSpPr>
          <p:nvPr/>
        </p:nvCxnSpPr>
        <p:spPr>
          <a:xfrm>
            <a:off x="4461531" y="4029452"/>
            <a:ext cx="46800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DE8CA8-EDF9-8944-8A0D-AAAAB5572E4E}"/>
              </a:ext>
            </a:extLst>
          </p:cNvPr>
          <p:cNvCxnSpPr>
            <a:cxnSpLocks/>
          </p:cNvCxnSpPr>
          <p:nvPr/>
        </p:nvCxnSpPr>
        <p:spPr>
          <a:xfrm>
            <a:off x="4461531" y="4445740"/>
            <a:ext cx="4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084D92-F2DD-9D42-8CBC-0B916263B267}"/>
              </a:ext>
            </a:extLst>
          </p:cNvPr>
          <p:cNvSpPr txBox="1"/>
          <p:nvPr/>
        </p:nvSpPr>
        <p:spPr>
          <a:xfrm>
            <a:off x="1983455" y="1306430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reset() </a:t>
            </a:r>
            <a:r>
              <a:rPr lang="en-TR" dirty="0"/>
              <a:t>→ </a:t>
            </a:r>
            <a:r>
              <a:rPr lang="en-US" dirty="0"/>
              <a:t>w</a:t>
            </a:r>
            <a:r>
              <a:rPr lang="en-TR" dirty="0"/>
              <a:t>e have 10 000 $</a:t>
            </a:r>
          </a:p>
        </p:txBody>
      </p:sp>
    </p:spTree>
    <p:extLst>
      <p:ext uri="{BB962C8B-B14F-4D97-AF65-F5344CB8AC3E}">
        <p14:creationId xmlns:p14="http://schemas.microsoft.com/office/powerpoint/2010/main" val="3950949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Торговый агент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0771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агента</a:t>
            </a:r>
            <a:endParaRPr lang="en-TR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bg1">
                    <a:lumMod val="50000"/>
                  </a:schemeClr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bg1">
                    <a:lumMod val="50000"/>
                  </a:schemeClr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bg1">
                    <a:lumMod val="50000"/>
                  </a:schemeClr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bg1">
                    <a:lumMod val="50000"/>
                  </a:schemeClr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bg1">
                    <a:lumMod val="50000"/>
                  </a:schemeClr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CMA-ES</a:t>
            </a:r>
            <a:endParaRPr lang="en-TR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9592"/>
            </a:schemeClr>
          </a:solidFill>
          <a:ln>
            <a:solidFill>
              <a:schemeClr val="accent1">
                <a:alpha val="3016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ACKTR</a:t>
            </a:r>
            <a:endParaRPr lang="en-TR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7517CFEB-0E17-1D4C-B530-75A8FCE0F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83" y="796676"/>
            <a:ext cx="3928694" cy="1621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8E86B2-4164-F847-9EA7-FA814E52B76A}"/>
              </a:ext>
            </a:extLst>
          </p:cNvPr>
          <p:cNvSpPr txBox="1"/>
          <p:nvPr/>
        </p:nvSpPr>
        <p:spPr>
          <a:xfrm>
            <a:off x="4561536" y="2640858"/>
            <a:ext cx="4448654" cy="2123658"/>
          </a:xfrm>
          <a:prstGeom prst="rect">
            <a:avLst/>
          </a:prstGeom>
          <a:solidFill>
            <a:schemeClr val="tx1">
              <a:alpha val="77814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DRLAgent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env_train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0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0" dirty="0">
                <a:solidFill>
                  <a:srgbClr val="4FC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PPO_PARAMS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n_steps</a:t>
            </a:r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2048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ent_coef</a:t>
            </a:r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0.01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0.00025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batch_size</a:t>
            </a:r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model_ppo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agent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get_model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ppo</a:t>
            </a:r>
            <a:r>
              <a:rPr lang="en-US" sz="12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model_kwargs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>
                <a:solidFill>
                  <a:srgbClr val="4FC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PPO_PARAMS</a:t>
            </a:r>
            <a:r>
              <a:rPr lang="en-US" sz="12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501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5341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399934489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Подключим фреймворк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FinRL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загрузим данные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Создадим среду рынка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Протестируем простых агентов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RL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1688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Знакомство с </a:t>
            </a:r>
            <a:br>
              <a:rPr lang="ru" sz="4000" dirty="0"/>
            </a:br>
            <a:r>
              <a:rPr lang="ru" sz="4000" dirty="0"/>
              <a:t>программой курса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машинное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805231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879957"/>
            <a:ext cx="322966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805231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19"/>
            <a:ext cx="857995" cy="74561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886094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продакшн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2094881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2094881"/>
            <a:ext cx="12700" cy="107472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3169606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6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5" idx="2"/>
          </p:cNvCxnSpPr>
          <p:nvPr/>
        </p:nvCxnSpPr>
        <p:spPr>
          <a:xfrm rot="16200000" flipV="1">
            <a:off x="2993318" y="2656082"/>
            <a:ext cx="769371" cy="238799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37938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37938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373331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373332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46539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46539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46539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46539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5380104" y="190958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181353" y="2971605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773716" y="3008782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191184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7"/>
            <a:ext cx="9143999" cy="5135483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12999</TotalTime>
  <Words>1441</Words>
  <Application>Microsoft Macintosh PowerPoint</Application>
  <PresentationFormat>On-screen Show (16:9)</PresentationFormat>
  <Paragraphs>298</Paragraphs>
  <Slides>34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Courier New</vt:lpstr>
      <vt:lpstr>Apple Chancery</vt:lpstr>
      <vt:lpstr>Helvetica Neue</vt:lpstr>
      <vt:lpstr>Calibri</vt:lpstr>
      <vt:lpstr>Adelle Sans Devanagari Thin</vt:lpstr>
      <vt:lpstr>Cambria Math</vt:lpstr>
      <vt:lpstr>Roboto</vt:lpstr>
      <vt:lpstr>Arial</vt:lpstr>
      <vt:lpstr>Светлая тема</vt:lpstr>
      <vt:lpstr>Светлая тема</vt:lpstr>
      <vt:lpstr>ML для финансового анализа Построение торгового агента на безе алгоритмов обучения с подкреплением</vt:lpstr>
      <vt:lpstr>PowerPoint Presentation</vt:lpstr>
      <vt:lpstr>ML для финансового анализа Построение торгового агента на безе алгоритмов обучения с подкреплением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Что такое Reinforcement Learning</vt:lpstr>
      <vt:lpstr>Reinforcement Learning</vt:lpstr>
      <vt:lpstr>PowerPoint Presentation</vt:lpstr>
      <vt:lpstr>PowerPoint Presentation</vt:lpstr>
      <vt:lpstr>RL policy – детерминированная политика</vt:lpstr>
      <vt:lpstr>Функция ценности состояния</vt:lpstr>
      <vt:lpstr>Функция ценности состояния-действия</vt:lpstr>
      <vt:lpstr>Размерность пространства состояний</vt:lpstr>
      <vt:lpstr>Q-learning update for NN</vt:lpstr>
      <vt:lpstr>Q-learning update for NN</vt:lpstr>
      <vt:lpstr>Обзор алгоритмов RL</vt:lpstr>
      <vt:lpstr>Environment – финансовый рынок</vt:lpstr>
      <vt:lpstr>Задача</vt:lpstr>
      <vt:lpstr>Модель рынка</vt:lpstr>
      <vt:lpstr>Торговый агент</vt:lpstr>
      <vt:lpstr>Реализация агента</vt:lpstr>
      <vt:lpstr>Практика</vt:lpstr>
      <vt:lpstr>Практическая реализация </vt:lpstr>
      <vt:lpstr>Вопросы?</vt:lpstr>
      <vt:lpstr>Знакомство с  программой курса</vt:lpstr>
      <vt:lpstr>Карта курса</vt:lpstr>
      <vt:lpstr>PowerPoint Presentation</vt:lpstr>
      <vt:lpstr>PowerPoint Presentation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119</cp:revision>
  <dcterms:modified xsi:type="dcterms:W3CDTF">2025-05-21T15:10:38Z</dcterms:modified>
</cp:coreProperties>
</file>